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9" r:id="rId3"/>
    <p:sldId id="338" r:id="rId4"/>
    <p:sldId id="339" r:id="rId5"/>
    <p:sldId id="258" r:id="rId6"/>
    <p:sldId id="340" r:id="rId7"/>
    <p:sldId id="260" r:id="rId8"/>
    <p:sldId id="261" r:id="rId9"/>
    <p:sldId id="341" r:id="rId10"/>
    <p:sldId id="352" r:id="rId11"/>
    <p:sldId id="354" r:id="rId12"/>
    <p:sldId id="355" r:id="rId13"/>
    <p:sldId id="347" r:id="rId14"/>
    <p:sldId id="348" r:id="rId15"/>
    <p:sldId id="353" r:id="rId16"/>
    <p:sldId id="349" r:id="rId17"/>
    <p:sldId id="350" r:id="rId18"/>
    <p:sldId id="35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6" autoAdjust="0"/>
    <p:restoredTop sz="94660"/>
  </p:normalViewPr>
  <p:slideViewPr>
    <p:cSldViewPr snapToGrid="0">
      <p:cViewPr varScale="1">
        <p:scale>
          <a:sx n="68" d="100"/>
          <a:sy n="68" d="100"/>
        </p:scale>
        <p:origin x="1973" y="-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F2F84-778D-4AF9-BE15-A61479A3F9E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761A76-40E7-4DA5-9F38-D1DF8580F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7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190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9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66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753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0E62-ABCE-6363-A62E-5818DC63D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42D7C-FE46-E7FD-1126-0F09B0249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5B2DD-CB76-5469-9A74-78304A983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D35FA-ACA5-39B3-B93A-A234B4AD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2238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0D685-977B-2351-9139-F57156D7E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497A54-A4A3-43A4-43C7-63C5A18B0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56DA8-4135-47EB-7522-CA14FB17F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D85E4-4633-9D03-6498-2F3A7392B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015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B93D9-9E1E-85D0-A70E-F84648F54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EA27D-0E22-BAD4-2137-2B4AD8141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3009D-7EF3-F447-1898-C3FBE7E3A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8172D-DCD3-FDA5-2660-A2B4CA547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351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0339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7486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D8638-0E48-E4B8-3C0F-84BBCAE76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EDA3D-A2BC-A46D-3200-0F97222BA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2D271-854D-324C-718A-4AA338992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886A0-4C34-30B2-0DAB-D32080210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691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5852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514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61A76-40E7-4DA5-9F38-D1DF8580F66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294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AD9D-485A-2531-C375-55FA6CF8F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CAAD0-9C0F-5AF0-CC6B-61969DBC1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7760-2910-313C-D673-A8962654B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5854D-5F2E-6B94-208E-B412F828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54D17-6C97-BD1E-8D53-C772A1BD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430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740A-4F11-6C72-03A4-7B90017A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06108-94B3-FF8C-F31B-FBA0F36DC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C7FC9-DB40-74EA-BA4B-A42D431D1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C4473-BFC8-92DB-C563-B8530521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61F72-AECC-4D31-0EDE-5CD0A7213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385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7411-CD2D-534A-613E-6016F8AEF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B3D5C-9AE5-5839-2189-C4DF39111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CDB89-42B6-9A52-AD82-2F871CEC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339F5-E15A-1B0E-E384-25ACF34F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2ECFC-9909-5D9F-ABC6-0850300A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560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57FE-1001-283E-8B00-1C58C6D0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B264F-777D-9EB8-7B8D-97C718C2A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91A86-6B1E-45EF-F243-2C16C8A64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B4D2C-F0BA-3C56-0B81-86D48AF5A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FA429-862A-1C94-234F-167EA424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43A6A-E4A7-73AF-F613-C5213494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904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B20A1-6A4D-BE21-D8DC-01A2EFF40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F13C8-CA37-A779-248F-06185A658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F8A60-F877-D2C7-8963-FA73D6869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EC55D5-3D86-C2E7-6FD6-7BF77651D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1BD28B-F50A-DF80-7944-EF09B99A8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82751C-54C1-2F59-2DB0-E0C5C157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C50212-82C0-4B7A-6ACB-4A8455D37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684A8-FA53-9DEC-BA51-3BACD15F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458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208C-815E-6D0C-3175-2147449F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84678-999A-294B-BE18-B074B5F1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E7012-02C0-4702-D025-6C39F1D0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DBF00-FE44-8A06-75D0-03226CD5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733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B8EAE-3A2A-7841-07C0-034750FE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53EBCA-A7CC-A34A-C96F-7E571756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B5E94-D16F-D525-5010-8B08E79D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474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4670-A583-9DBA-742B-9DDB22AC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B4BF5-8680-0BCA-D6A2-8DFF18DD5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62386-999C-7331-26C3-6246FB46E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D0016-2FCC-3A5D-9614-DAF95B8D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90AB1-60F8-524C-1503-7C20D534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4B6E8-02C9-C861-0AFD-B8F86DA2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832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44762-3005-98F7-6295-3424F2282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6F8F88-CBAB-B8C6-1E0B-725701EB8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9FC87-66DF-8528-E881-A0C71016A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4C692-5FC4-B9D4-A77E-0FD4A3CF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702F4-271C-E84F-E171-895AB9F1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11036-518B-E91F-DE83-94C3335A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465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6AA1-CE90-92C9-C861-8A4C8290A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44EA7-7EF5-0879-A104-95FC82187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EA609-5D4B-F3B7-8CD8-D38BF62C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F2E71-08CC-C493-D9B1-64B852DE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46CA0-F3D4-8839-CDC2-0488A94C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566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D9472-0526-1008-3BC7-40CD3935E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3CB33-6679-F08D-33FC-95EB151BF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09807-9BC0-59E0-9A59-9CFCE75B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BBA4F-4451-BA43-C79F-054779BC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2EB08-8DBF-E30E-E6AC-F9FCB4BB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496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49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11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12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85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18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82272-DF27-07A5-B7E8-7FEDD465F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524A2-E354-299B-C7A8-600C733C4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C121B-BA13-1F5A-C15B-6882C4556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71C6F-9047-46E6-B1A1-64637943D277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E61FA-C2DA-AE53-AD7A-4012E2D8D3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AC44B-5615-5B04-6A7C-7F382D836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73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4">
            <a:extLst>
              <a:ext uri="{FF2B5EF4-FFF2-40B4-BE49-F238E27FC236}">
                <a16:creationId xmlns:a16="http://schemas.microsoft.com/office/drawing/2014/main" id="{13CE1CC7-867D-E6FE-3054-95A763140FAE}"/>
              </a:ext>
            </a:extLst>
          </p:cNvPr>
          <p:cNvSpPr/>
          <p:nvPr/>
        </p:nvSpPr>
        <p:spPr>
          <a:xfrm>
            <a:off x="5607049" y="2947960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EFA188F4-894F-8718-2818-377C6E4B82CC}"/>
              </a:ext>
            </a:extLst>
          </p:cNvPr>
          <p:cNvSpPr/>
          <p:nvPr/>
        </p:nvSpPr>
        <p:spPr>
          <a:xfrm>
            <a:off x="5607049" y="2947960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8AE5D635-EE64-4A4F-175F-24CCB5F866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118" t="-35308" r="-7118"/>
            </a:stretch>
          </a:blipFill>
        </p:spPr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8E29A96A-5DC4-0D05-37A0-B5982756D2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l="-27690" t="-22497" b="-28744"/>
            </a:stretch>
          </a:blipFill>
        </p:spPr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C26102D-ACC1-12AB-3F76-37B92C87EE45}"/>
              </a:ext>
            </a:extLst>
          </p:cNvPr>
          <p:cNvSpPr/>
          <p:nvPr/>
        </p:nvSpPr>
        <p:spPr>
          <a:xfrm>
            <a:off x="3856524" y="1767773"/>
            <a:ext cx="4478948" cy="3501181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064" b="-3034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4A6B57-7147-EACB-0322-83D6F772F59F}"/>
              </a:ext>
            </a:extLst>
          </p:cNvPr>
          <p:cNvSpPr txBox="1">
            <a:spLocks/>
          </p:cNvSpPr>
          <p:nvPr/>
        </p:nvSpPr>
        <p:spPr>
          <a:xfrm>
            <a:off x="4332665" y="829032"/>
            <a:ext cx="3526669" cy="62450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spc="3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WELCOME TO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054152AE-15B7-9640-5B9C-3A84438EEEE7}"/>
              </a:ext>
            </a:extLst>
          </p:cNvPr>
          <p:cNvSpPr txBox="1">
            <a:spLocks/>
          </p:cNvSpPr>
          <p:nvPr/>
        </p:nvSpPr>
        <p:spPr>
          <a:xfrm>
            <a:off x="2917466" y="5583186"/>
            <a:ext cx="6357063" cy="1011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</p:spTree>
    <p:extLst>
      <p:ext uri="{BB962C8B-B14F-4D97-AF65-F5344CB8AC3E}">
        <p14:creationId xmlns:p14="http://schemas.microsoft.com/office/powerpoint/2010/main" val="3935047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D901CE-7C08-BD2F-C9AB-196A3C91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>
            <a:extLst>
              <a:ext uri="{FF2B5EF4-FFF2-40B4-BE49-F238E27FC236}">
                <a16:creationId xmlns:a16="http://schemas.microsoft.com/office/drawing/2014/main" id="{9A21C806-7FEE-838E-C8CD-6AFEF9472E9C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75F9943-CD3B-F163-CD4F-873133C7F1B7}"/>
              </a:ext>
            </a:extLst>
          </p:cNvPr>
          <p:cNvSpPr/>
          <p:nvPr/>
        </p:nvSpPr>
        <p:spPr>
          <a:xfrm>
            <a:off x="1036042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677E3FB-7198-C45D-5EF9-73F6C8279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360" y="2971800"/>
            <a:ext cx="529336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MUN WORKSHOP SERIES</a:t>
            </a:r>
            <a:b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DAY </a:t>
            </a:r>
            <a:r>
              <a:rPr lang="en-IN" sz="8000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4A99B66B-5D45-8CEC-C362-0EF6DDACC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6655"/>
            <a:ext cx="9144000" cy="437886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SECMUN CLUB | September 25</a:t>
            </a:r>
            <a:r>
              <a:rPr lang="en-IN" b="1" baseline="300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th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 2025</a:t>
            </a:r>
          </a:p>
        </p:txBody>
      </p:sp>
      <p:pic>
        <p:nvPicPr>
          <p:cNvPr id="15" name="Picture Placeholder 1">
            <a:extLst>
              <a:ext uri="{FF2B5EF4-FFF2-40B4-BE49-F238E27FC236}">
                <a16:creationId xmlns:a16="http://schemas.microsoft.com/office/drawing/2014/main" id="{723874A2-E3EA-3AA0-E5D7-C5FBA09593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t="24378" b="24378"/>
          <a:stretch>
            <a:fillRect/>
          </a:stretch>
        </p:blipFill>
        <p:spPr>
          <a:xfrm>
            <a:off x="5479877" y="1665424"/>
            <a:ext cx="5513243" cy="3766961"/>
          </a:xfrm>
          <a:prstGeom prst="roundRect">
            <a:avLst>
              <a:gd name="adj" fmla="val 35547"/>
            </a:avLst>
          </a:prstGeom>
        </p:spPr>
      </p:pic>
    </p:spTree>
    <p:extLst>
      <p:ext uri="{BB962C8B-B14F-4D97-AF65-F5344CB8AC3E}">
        <p14:creationId xmlns:p14="http://schemas.microsoft.com/office/powerpoint/2010/main" val="1573250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923744-9A3E-6C45-CFB3-C05B9D5A8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3363"/>
            <a:ext cx="9144000" cy="23876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</a:t>
            </a:r>
            <a:b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STRATEGIC RESEARCH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9BFF4E0-70CD-A50B-2218-2BEDD548E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3038"/>
            <a:ext cx="9144000" cy="1655762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8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Inter Light" pitchFamily="34" charset="-122"/>
                <a:cs typeface="Inter Light" pitchFamily="34" charset="-120"/>
              </a:rPr>
              <a:t>A methodical pathway from foundational strategy to advanced analysis and content advocacy.</a:t>
            </a:r>
            <a:endParaRPr kumimoji="0" lang="en-US" sz="1458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entury Gothic" panose="020B0502020202020204" pitchFamily="34" charset="0"/>
            </a:endParaRP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54DA5D0-E52A-CCED-86CC-DC371017645D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04747047-4C42-10C5-001A-4568A879C341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BB0A8B87-1980-8E46-1CC7-CCB21E7578F9}"/>
              </a:ext>
            </a:extLst>
          </p:cNvPr>
          <p:cNvSpPr txBox="1">
            <a:spLocks/>
          </p:cNvSpPr>
          <p:nvPr/>
        </p:nvSpPr>
        <p:spPr>
          <a:xfrm>
            <a:off x="1524000" y="3251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BASICS</a:t>
            </a:r>
          </a:p>
        </p:txBody>
      </p:sp>
    </p:spTree>
    <p:extLst>
      <p:ext uri="{BB962C8B-B14F-4D97-AF65-F5344CB8AC3E}">
        <p14:creationId xmlns:p14="http://schemas.microsoft.com/office/powerpoint/2010/main" val="1565098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0229" y="600961"/>
            <a:ext cx="740777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1: Foundational Strategy</a:t>
            </a:r>
            <a:endParaRPr lang="en-US" sz="2958" dirty="0"/>
          </a:p>
        </p:txBody>
      </p:sp>
      <p:sp>
        <p:nvSpPr>
          <p:cNvPr id="3" name="Shape 1"/>
          <p:cNvSpPr/>
          <p:nvPr/>
        </p:nvSpPr>
        <p:spPr>
          <a:xfrm>
            <a:off x="661492" y="1499394"/>
            <a:ext cx="3496965" cy="4709617"/>
          </a:xfrm>
          <a:prstGeom prst="roundRect">
            <a:avLst>
              <a:gd name="adj" fmla="val 227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53" y="1694756"/>
            <a:ext cx="3106242" cy="141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"Why": Defining Your Research Purpose</a:t>
            </a:r>
            <a:endParaRPr lang="en-US" sz="2208" dirty="0"/>
          </a:p>
        </p:txBody>
      </p:sp>
      <p:sp>
        <p:nvSpPr>
          <p:cNvPr id="5" name="Text 3"/>
          <p:cNvSpPr/>
          <p:nvPr/>
        </p:nvSpPr>
        <p:spPr>
          <a:xfrm>
            <a:off x="856853" y="3225801"/>
            <a:ext cx="31062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Committees: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Represent national interests, aligned with international law. Focus on your country's economic, security, and social well-being.</a:t>
            </a:r>
            <a:endParaRPr lang="en-US" sz="1458" dirty="0"/>
          </a:p>
        </p:txBody>
      </p:sp>
      <p:sp>
        <p:nvSpPr>
          <p:cNvPr id="6" name="Text 4"/>
          <p:cNvSpPr/>
          <p:nvPr/>
        </p:nvSpPr>
        <p:spPr>
          <a:xfrm>
            <a:off x="856853" y="4803973"/>
            <a:ext cx="31062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Indian Committees: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Act as a partisan advocate. Champion the party's official stance and historical ideology.</a:t>
            </a:r>
            <a:endParaRPr lang="en-US" sz="1458" dirty="0"/>
          </a:p>
        </p:txBody>
      </p:sp>
      <p:sp>
        <p:nvSpPr>
          <p:cNvPr id="7" name="Shape 5"/>
          <p:cNvSpPr/>
          <p:nvPr/>
        </p:nvSpPr>
        <p:spPr>
          <a:xfrm>
            <a:off x="4347468" y="1499394"/>
            <a:ext cx="3496965" cy="4709617"/>
          </a:xfrm>
          <a:prstGeom prst="roundRect">
            <a:avLst>
              <a:gd name="adj" fmla="val 227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830" y="1694756"/>
            <a:ext cx="3106242" cy="1772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Keyword Mapping: Building a Research Roadmap</a:t>
            </a:r>
            <a:endParaRPr lang="en-US" sz="2208" dirty="0"/>
          </a:p>
        </p:txBody>
      </p:sp>
      <p:sp>
        <p:nvSpPr>
          <p:cNvPr id="9" name="Text 7"/>
          <p:cNvSpPr/>
          <p:nvPr/>
        </p:nvSpPr>
        <p:spPr>
          <a:xfrm>
            <a:off x="4542830" y="3580209"/>
            <a:ext cx="31062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core terms, key actors, and historical context.</a:t>
            </a:r>
            <a:endParaRPr lang="en-US" sz="1458" dirty="0"/>
          </a:p>
        </p:txBody>
      </p:sp>
      <p:sp>
        <p:nvSpPr>
          <p:cNvPr id="10" name="Text 8"/>
          <p:cNvSpPr/>
          <p:nvPr/>
        </p:nvSpPr>
        <p:spPr>
          <a:xfrm>
            <a:off x="4542830" y="4251127"/>
            <a:ext cx="31062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"Climate Change," search UNFCCC, Paris Agreement, Green Climate Fund, and [Your Country] + climate policy.</a:t>
            </a:r>
            <a:endParaRPr lang="en-US" sz="1458" dirty="0"/>
          </a:p>
        </p:txBody>
      </p:sp>
      <p:sp>
        <p:nvSpPr>
          <p:cNvPr id="11" name="Shape 9"/>
          <p:cNvSpPr/>
          <p:nvPr/>
        </p:nvSpPr>
        <p:spPr>
          <a:xfrm>
            <a:off x="8033444" y="1499394"/>
            <a:ext cx="3496965" cy="4709617"/>
          </a:xfrm>
          <a:prstGeom prst="roundRect">
            <a:avLst>
              <a:gd name="adj" fmla="val 227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8807" y="1694756"/>
            <a:ext cx="3106242" cy="141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Connected Research: Synthesizing Information</a:t>
            </a:r>
            <a:endParaRPr lang="en-US" sz="2208" dirty="0"/>
          </a:p>
        </p:txBody>
      </p:sp>
      <p:sp>
        <p:nvSpPr>
          <p:cNvPr id="13" name="Text 11"/>
          <p:cNvSpPr/>
          <p:nvPr/>
        </p:nvSpPr>
        <p:spPr>
          <a:xfrm>
            <a:off x="8228807" y="3225800"/>
            <a:ext cx="31062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Treat each keyword as an individual topic, but ensure all research points connect to form a cohesive, compelling narrative.</a:t>
            </a:r>
            <a:endParaRPr lang="en-US" sz="1458" dirty="0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4316A599-F361-F17B-7C0B-EBBF90076245}"/>
              </a:ext>
            </a:extLst>
          </p:cNvPr>
          <p:cNvSpPr/>
          <p:nvPr/>
        </p:nvSpPr>
        <p:spPr>
          <a:xfrm>
            <a:off x="947730" y="40952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385418DD-ED23-CC41-A7CD-F48FB0E8EA85}"/>
              </a:ext>
            </a:extLst>
          </p:cNvPr>
          <p:cNvSpPr/>
          <p:nvPr/>
        </p:nvSpPr>
        <p:spPr>
          <a:xfrm>
            <a:off x="10035309" y="40952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9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22677" y="511275"/>
            <a:ext cx="5854502" cy="395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83"/>
              </a:lnSpc>
            </a:pPr>
            <a:r>
              <a:rPr lang="en-US" sz="245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2: Deep Dive &amp; Analysis</a:t>
            </a:r>
            <a:endParaRPr lang="en-US" sz="2458" dirty="0"/>
          </a:p>
        </p:txBody>
      </p:sp>
      <p:sp>
        <p:nvSpPr>
          <p:cNvPr id="4" name="Text 1"/>
          <p:cNvSpPr/>
          <p:nvPr/>
        </p:nvSpPr>
        <p:spPr>
          <a:xfrm>
            <a:off x="5222677" y="1084065"/>
            <a:ext cx="157957" cy="197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208" dirty="0"/>
          </a:p>
        </p:txBody>
      </p:sp>
      <p:sp>
        <p:nvSpPr>
          <p:cNvPr id="5" name="Shape 2"/>
          <p:cNvSpPr/>
          <p:nvPr/>
        </p:nvSpPr>
        <p:spPr>
          <a:xfrm>
            <a:off x="5222677" y="1333599"/>
            <a:ext cx="3080345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6" name="Text 3"/>
          <p:cNvSpPr/>
          <p:nvPr/>
        </p:nvSpPr>
        <p:spPr>
          <a:xfrm>
            <a:off x="5222677" y="1450678"/>
            <a:ext cx="3080345" cy="59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Source Evaluation: Beyond the URL</a:t>
            </a:r>
            <a:endParaRPr lang="en-US" sz="1833" dirty="0"/>
          </a:p>
        </p:txBody>
      </p:sp>
      <p:sp>
        <p:nvSpPr>
          <p:cNvPr id="7" name="Text 4"/>
          <p:cNvSpPr/>
          <p:nvPr/>
        </p:nvSpPr>
        <p:spPr>
          <a:xfrm>
            <a:off x="5222677" y="2137966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Credibility: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Verify author expertise and institutional reputation.</a:t>
            </a:r>
            <a:endParaRPr lang="en-US" sz="1208" dirty="0"/>
          </a:p>
        </p:txBody>
      </p:sp>
      <p:sp>
        <p:nvSpPr>
          <p:cNvPr id="8" name="Text 5"/>
          <p:cNvSpPr/>
          <p:nvPr/>
        </p:nvSpPr>
        <p:spPr>
          <a:xfrm>
            <a:off x="5222677" y="2698850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Bias: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Identify political, financial, or ideological agendas.</a:t>
            </a:r>
            <a:endParaRPr lang="en-US" sz="1208" dirty="0"/>
          </a:p>
        </p:txBody>
      </p:sp>
      <p:sp>
        <p:nvSpPr>
          <p:cNvPr id="9" name="Text 6"/>
          <p:cNvSpPr/>
          <p:nvPr/>
        </p:nvSpPr>
        <p:spPr>
          <a:xfrm>
            <a:off x="5222677" y="3259733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Recency: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Check if the information is current and relevant to the topic.</a:t>
            </a:r>
            <a:endParaRPr lang="en-US" sz="1208" dirty="0"/>
          </a:p>
        </p:txBody>
      </p:sp>
      <p:sp>
        <p:nvSpPr>
          <p:cNvPr id="10" name="Text 7"/>
          <p:cNvSpPr/>
          <p:nvPr/>
        </p:nvSpPr>
        <p:spPr>
          <a:xfrm>
            <a:off x="8460978" y="1084065"/>
            <a:ext cx="157957" cy="197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208" dirty="0"/>
          </a:p>
        </p:txBody>
      </p:sp>
      <p:sp>
        <p:nvSpPr>
          <p:cNvPr id="11" name="Shape 8"/>
          <p:cNvSpPr/>
          <p:nvPr/>
        </p:nvSpPr>
        <p:spPr>
          <a:xfrm>
            <a:off x="8460978" y="1333599"/>
            <a:ext cx="3080345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2" name="Text 9"/>
          <p:cNvSpPr/>
          <p:nvPr/>
        </p:nvSpPr>
        <p:spPr>
          <a:xfrm>
            <a:off x="8460978" y="1450678"/>
            <a:ext cx="3080345" cy="59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Mastering Google Scholar</a:t>
            </a:r>
            <a:endParaRPr lang="en-US" sz="1833" dirty="0"/>
          </a:p>
        </p:txBody>
      </p:sp>
      <p:sp>
        <p:nvSpPr>
          <p:cNvPr id="13" name="Text 10"/>
          <p:cNvSpPr/>
          <p:nvPr/>
        </p:nvSpPr>
        <p:spPr>
          <a:xfrm>
            <a:off x="8460978" y="2137966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advanced features for in-depth, peer-reviewed articles.</a:t>
            </a:r>
            <a:endParaRPr lang="en-US" sz="1208" dirty="0"/>
          </a:p>
        </p:txBody>
      </p:sp>
      <p:sp>
        <p:nvSpPr>
          <p:cNvPr id="14" name="Text 11"/>
          <p:cNvSpPr/>
          <p:nvPr/>
        </p:nvSpPr>
        <p:spPr>
          <a:xfrm>
            <a:off x="8460978" y="2698850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</a:t>
            </a: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"Cited by"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find newer research.</a:t>
            </a:r>
            <a:endParaRPr lang="en-US" sz="1208" dirty="0"/>
          </a:p>
        </p:txBody>
      </p:sp>
      <p:sp>
        <p:nvSpPr>
          <p:cNvPr id="15" name="Text 12"/>
          <p:cNvSpPr/>
          <p:nvPr/>
        </p:nvSpPr>
        <p:spPr>
          <a:xfrm>
            <a:off x="8460978" y="3259733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</a:t>
            </a: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"Related articles"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similar papers.</a:t>
            </a:r>
            <a:endParaRPr lang="en-US" sz="1208" dirty="0"/>
          </a:p>
        </p:txBody>
      </p:sp>
      <p:sp>
        <p:nvSpPr>
          <p:cNvPr id="16" name="Text 13"/>
          <p:cNvSpPr/>
          <p:nvPr/>
        </p:nvSpPr>
        <p:spPr>
          <a:xfrm>
            <a:off x="8460978" y="3820617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the </a:t>
            </a: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[PDF]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link for direct access to full text.</a:t>
            </a:r>
            <a:endParaRPr lang="en-US" sz="1208" dirty="0"/>
          </a:p>
        </p:txBody>
      </p:sp>
      <p:sp>
        <p:nvSpPr>
          <p:cNvPr id="17" name="Text 14"/>
          <p:cNvSpPr/>
          <p:nvPr/>
        </p:nvSpPr>
        <p:spPr>
          <a:xfrm>
            <a:off x="5222677" y="4602659"/>
            <a:ext cx="157957" cy="197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208" dirty="0"/>
          </a:p>
        </p:txBody>
      </p:sp>
      <p:sp>
        <p:nvSpPr>
          <p:cNvPr id="18" name="Shape 15"/>
          <p:cNvSpPr/>
          <p:nvPr/>
        </p:nvSpPr>
        <p:spPr>
          <a:xfrm>
            <a:off x="5222677" y="4852194"/>
            <a:ext cx="6318647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9" name="Text 16"/>
          <p:cNvSpPr/>
          <p:nvPr/>
        </p:nvSpPr>
        <p:spPr>
          <a:xfrm>
            <a:off x="5222677" y="4969272"/>
            <a:ext cx="6052939" cy="296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Active Learning: Internalizing Knowledge</a:t>
            </a:r>
            <a:endParaRPr lang="en-US" sz="1833" dirty="0"/>
          </a:p>
        </p:txBody>
      </p:sp>
      <p:sp>
        <p:nvSpPr>
          <p:cNvPr id="20" name="Text 17"/>
          <p:cNvSpPr/>
          <p:nvPr/>
        </p:nvSpPr>
        <p:spPr>
          <a:xfrm>
            <a:off x="5222677" y="5360294"/>
            <a:ext cx="6318647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Summarize: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Condense key takeaways after reading.</a:t>
            </a:r>
            <a:endParaRPr lang="en-US" sz="1208" dirty="0"/>
          </a:p>
        </p:txBody>
      </p:sp>
      <p:sp>
        <p:nvSpPr>
          <p:cNvPr id="21" name="Text 18"/>
          <p:cNvSpPr/>
          <p:nvPr/>
        </p:nvSpPr>
        <p:spPr>
          <a:xfrm>
            <a:off x="5222677" y="5668368"/>
            <a:ext cx="6318647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Mind Map: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Visually connect keywords and concepts.</a:t>
            </a:r>
            <a:endParaRPr lang="en-US" sz="1208" dirty="0"/>
          </a:p>
        </p:txBody>
      </p:sp>
      <p:sp>
        <p:nvSpPr>
          <p:cNvPr id="22" name="Text 19"/>
          <p:cNvSpPr/>
          <p:nvPr/>
        </p:nvSpPr>
        <p:spPr>
          <a:xfrm>
            <a:off x="5222677" y="5976442"/>
            <a:ext cx="6318647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Teach it: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Explain the topic aloud to solidify understanding.</a:t>
            </a:r>
            <a:endParaRPr lang="en-US" sz="1208" dirty="0"/>
          </a:p>
        </p:txBody>
      </p:sp>
      <p:sp>
        <p:nvSpPr>
          <p:cNvPr id="23" name="Freeform 4">
            <a:extLst>
              <a:ext uri="{FF2B5EF4-FFF2-40B4-BE49-F238E27FC236}">
                <a16:creationId xmlns:a16="http://schemas.microsoft.com/office/drawing/2014/main" id="{BDBE6C6D-66EB-1CC1-0008-0792399068C5}"/>
              </a:ext>
            </a:extLst>
          </p:cNvPr>
          <p:cNvSpPr/>
          <p:nvPr/>
        </p:nvSpPr>
        <p:spPr>
          <a:xfrm>
            <a:off x="947730" y="40952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8853DA17-5BF3-7A99-BC39-AFD9ECC06474}"/>
              </a:ext>
            </a:extLst>
          </p:cNvPr>
          <p:cNvSpPr/>
          <p:nvPr/>
        </p:nvSpPr>
        <p:spPr>
          <a:xfrm>
            <a:off x="10035309" y="40952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4572000" cy="68612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39232" y="431800"/>
            <a:ext cx="6304161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5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3: Competitive Strategy</a:t>
            </a:r>
            <a:endParaRPr lang="en-US" sz="2958" dirty="0"/>
          </a:p>
        </p:txBody>
      </p:sp>
      <p:sp>
        <p:nvSpPr>
          <p:cNvPr id="4" name="Text 1"/>
          <p:cNvSpPr/>
          <p:nvPr/>
        </p:nvSpPr>
        <p:spPr>
          <a:xfrm>
            <a:off x="5229920" y="1856085"/>
            <a:ext cx="2922786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FF954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Anticipation: Identifying Your Own Weaknesses</a:t>
            </a:r>
            <a:endParaRPr lang="en-US" sz="2208" dirty="0"/>
          </a:p>
        </p:txBody>
      </p:sp>
      <p:sp>
        <p:nvSpPr>
          <p:cNvPr id="5" name="Text 2"/>
          <p:cNvSpPr/>
          <p:nvPr/>
        </p:nvSpPr>
        <p:spPr>
          <a:xfrm>
            <a:off x="5229920" y="3453706"/>
            <a:ext cx="2922786" cy="90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33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Proactively find potential vulnerabilities in your position.</a:t>
            </a:r>
            <a:endParaRPr lang="en-US" sz="1458" dirty="0"/>
          </a:p>
        </p:txBody>
      </p:sp>
      <p:sp>
        <p:nvSpPr>
          <p:cNvPr id="6" name="Text 3"/>
          <p:cNvSpPr/>
          <p:nvPr/>
        </p:nvSpPr>
        <p:spPr>
          <a:xfrm>
            <a:off x="5229920" y="4421982"/>
            <a:ext cx="2922786" cy="90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33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counterarguments and solutions to preemptively defend your stance.</a:t>
            </a:r>
            <a:endParaRPr lang="en-US" sz="1458" dirty="0"/>
          </a:p>
        </p:txBody>
      </p:sp>
      <p:sp>
        <p:nvSpPr>
          <p:cNvPr id="7" name="Text 4"/>
          <p:cNvSpPr/>
          <p:nvPr/>
        </p:nvSpPr>
        <p:spPr>
          <a:xfrm>
            <a:off x="8617645" y="1856085"/>
            <a:ext cx="2922786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FF954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Strategic Strike: Uncovering Opponent Loopholes</a:t>
            </a:r>
            <a:endParaRPr lang="en-US" sz="2208" dirty="0"/>
          </a:p>
        </p:txBody>
      </p:sp>
      <p:sp>
        <p:nvSpPr>
          <p:cNvPr id="8" name="Text 5"/>
          <p:cNvSpPr/>
          <p:nvPr/>
        </p:nvSpPr>
        <p:spPr>
          <a:xfrm>
            <a:off x="8617645" y="3806131"/>
            <a:ext cx="2922786" cy="90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33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Look for inconsistencies and hypocrisy in opponents' arguments.</a:t>
            </a:r>
            <a:endParaRPr lang="en-US" sz="1458" dirty="0"/>
          </a:p>
        </p:txBody>
      </p:sp>
      <p:sp>
        <p:nvSpPr>
          <p:cNvPr id="9" name="Text 6"/>
          <p:cNvSpPr/>
          <p:nvPr/>
        </p:nvSpPr>
        <p:spPr>
          <a:xfrm>
            <a:off x="8617645" y="4774407"/>
            <a:ext cx="2922786" cy="1504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33"/>
              </a:lnSpc>
              <a:buSzPct val="100000"/>
              <a:buChar char="•"/>
            </a:pPr>
            <a:r>
              <a:rPr lang="en-US" sz="145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to Ask: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their policy </a:t>
            </a:r>
            <a:r>
              <a:rPr lang="en-US" sz="145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financially viable?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their solution </a:t>
            </a:r>
            <a:r>
              <a:rPr lang="en-US" sz="145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historically effective?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their actions align with their stated stance?</a:t>
            </a:r>
            <a:endParaRPr lang="en-US" sz="1458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22688E71-D571-1C47-360C-32A274D71277}"/>
              </a:ext>
            </a:extLst>
          </p:cNvPr>
          <p:cNvSpPr/>
          <p:nvPr/>
        </p:nvSpPr>
        <p:spPr>
          <a:xfrm>
            <a:off x="947730" y="40952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270E391-DE29-65CD-C2F6-D2B454990AF1}"/>
              </a:ext>
            </a:extLst>
          </p:cNvPr>
          <p:cNvSpPr/>
          <p:nvPr/>
        </p:nvSpPr>
        <p:spPr>
          <a:xfrm>
            <a:off x="10035309" y="40952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15025" y="429763"/>
            <a:ext cx="716195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4: Performance &amp; Role-Playing</a:t>
            </a:r>
            <a:endParaRPr lang="en-US" sz="2958" dirty="0"/>
          </a:p>
        </p:txBody>
      </p:sp>
      <p:sp>
        <p:nvSpPr>
          <p:cNvPr id="4" name="Shape 1"/>
          <p:cNvSpPr/>
          <p:nvPr/>
        </p:nvSpPr>
        <p:spPr>
          <a:xfrm>
            <a:off x="5233492" y="1714897"/>
            <a:ext cx="6297018" cy="2172394"/>
          </a:xfrm>
          <a:prstGeom prst="roundRect">
            <a:avLst>
              <a:gd name="adj" fmla="val 365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47903" y="1929309"/>
            <a:ext cx="5349082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FF954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 Committees: The Diplomat</a:t>
            </a:r>
            <a:endParaRPr lang="en-US" sz="2208" dirty="0"/>
          </a:p>
        </p:txBody>
      </p:sp>
      <p:sp>
        <p:nvSpPr>
          <p:cNvPr id="6" name="Text 3"/>
          <p:cNvSpPr/>
          <p:nvPr/>
        </p:nvSpPr>
        <p:spPr>
          <a:xfrm>
            <a:off x="5447904" y="2397125"/>
            <a:ext cx="586819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 professionalism, decorum, and carefully chosen language.</a:t>
            </a:r>
            <a:endParaRPr lang="en-US" sz="1458" dirty="0"/>
          </a:p>
        </p:txBody>
      </p:sp>
      <p:sp>
        <p:nvSpPr>
          <p:cNvPr id="7" name="Text 4"/>
          <p:cNvSpPr/>
          <p:nvPr/>
        </p:nvSpPr>
        <p:spPr>
          <a:xfrm>
            <a:off x="5447904" y="3068043"/>
            <a:ext cx="586819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 your country's interests with seriousness and respect.</a:t>
            </a:r>
            <a:endParaRPr lang="en-US" sz="1458" dirty="0"/>
          </a:p>
        </p:txBody>
      </p:sp>
      <p:sp>
        <p:nvSpPr>
          <p:cNvPr id="8" name="Shape 5"/>
          <p:cNvSpPr/>
          <p:nvPr/>
        </p:nvSpPr>
        <p:spPr>
          <a:xfrm>
            <a:off x="5233492" y="4076303"/>
            <a:ext cx="6297018" cy="2224385"/>
          </a:xfrm>
          <a:prstGeom prst="roundRect">
            <a:avLst>
              <a:gd name="adj" fmla="val 3569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7904" y="4290716"/>
            <a:ext cx="5868193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FF954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Indian Committees: The Partisan Leader</a:t>
            </a:r>
            <a:endParaRPr lang="en-US" sz="2208" dirty="0"/>
          </a:p>
        </p:txBody>
      </p:sp>
      <p:sp>
        <p:nvSpPr>
          <p:cNvPr id="10" name="Text 7"/>
          <p:cNvSpPr/>
          <p:nvPr/>
        </p:nvSpPr>
        <p:spPr>
          <a:xfrm>
            <a:off x="5447904" y="5112941"/>
            <a:ext cx="58681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Embody your political party's core ideology.</a:t>
            </a:r>
            <a:endParaRPr lang="en-US" sz="1458" dirty="0"/>
          </a:p>
        </p:txBody>
      </p:sp>
      <p:sp>
        <p:nvSpPr>
          <p:cNvPr id="11" name="Text 8"/>
          <p:cNvSpPr/>
          <p:nvPr/>
        </p:nvSpPr>
        <p:spPr>
          <a:xfrm>
            <a:off x="5447904" y="5481439"/>
            <a:ext cx="586819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Respond to challenges with confidence and assertiveness, referencing your research.</a:t>
            </a:r>
            <a:endParaRPr lang="en-US" sz="1458" dirty="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AEDD63AA-C9CD-9AFD-8005-428BD1822DE5}"/>
              </a:ext>
            </a:extLst>
          </p:cNvPr>
          <p:cNvSpPr/>
          <p:nvPr/>
        </p:nvSpPr>
        <p:spPr>
          <a:xfrm>
            <a:off x="947730" y="40952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8C6B272-7CC8-6E8F-A1DE-386DE136CDE7}"/>
              </a:ext>
            </a:extLst>
          </p:cNvPr>
          <p:cNvSpPr/>
          <p:nvPr/>
        </p:nvSpPr>
        <p:spPr>
          <a:xfrm>
            <a:off x="10035309" y="40952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2" y="1275656"/>
            <a:ext cx="6297018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5: The Modern Toolkit</a:t>
            </a:r>
            <a:endParaRPr lang="en-US" sz="2958" dirty="0"/>
          </a:p>
        </p:txBody>
      </p:sp>
      <p:sp>
        <p:nvSpPr>
          <p:cNvPr id="4" name="Text 1"/>
          <p:cNvSpPr/>
          <p:nvPr/>
        </p:nvSpPr>
        <p:spPr>
          <a:xfrm>
            <a:off x="5233492" y="2409627"/>
            <a:ext cx="3676650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FF954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Using AI Responsibly</a:t>
            </a:r>
            <a:endParaRPr lang="en-US" sz="2208" dirty="0"/>
          </a:p>
        </p:txBody>
      </p:sp>
      <p:sp>
        <p:nvSpPr>
          <p:cNvPr id="5" name="Shape 2"/>
          <p:cNvSpPr/>
          <p:nvPr/>
        </p:nvSpPr>
        <p:spPr>
          <a:xfrm>
            <a:off x="5233492" y="3047504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47755" y="311239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53241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Do:</a:t>
            </a:r>
            <a:endParaRPr lang="en-US" sz="1833" dirty="0"/>
          </a:p>
        </p:txBody>
      </p:sp>
      <p:sp>
        <p:nvSpPr>
          <p:cNvPr id="7" name="Text 4"/>
          <p:cNvSpPr/>
          <p:nvPr/>
        </p:nvSpPr>
        <p:spPr>
          <a:xfrm>
            <a:off x="5847756" y="3521075"/>
            <a:ext cx="568275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AI for brainstorming keywords, summarizing long papers, and exploring different perspectives.</a:t>
            </a:r>
            <a:endParaRPr lang="en-US" sz="1458" dirty="0"/>
          </a:p>
        </p:txBody>
      </p:sp>
      <p:sp>
        <p:nvSpPr>
          <p:cNvPr id="8" name="Shape 5"/>
          <p:cNvSpPr/>
          <p:nvPr/>
        </p:nvSpPr>
        <p:spPr>
          <a:xfrm>
            <a:off x="5233492" y="4503936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47755" y="456882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CC52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Don't:</a:t>
            </a:r>
            <a:endParaRPr lang="en-US" sz="1833" dirty="0"/>
          </a:p>
        </p:txBody>
      </p:sp>
      <p:sp>
        <p:nvSpPr>
          <p:cNvPr id="10" name="Text 7"/>
          <p:cNvSpPr/>
          <p:nvPr/>
        </p:nvSpPr>
        <p:spPr>
          <a:xfrm>
            <a:off x="5847756" y="4977507"/>
            <a:ext cx="568275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AI to write your speeches or final content. Always verify information and cross-reference with cited sources.</a:t>
            </a:r>
            <a:endParaRPr lang="en-US" sz="1458" dirty="0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12291BD4-DF7B-B96F-4A91-5B4AD79E3381}"/>
              </a:ext>
            </a:extLst>
          </p:cNvPr>
          <p:cNvSpPr/>
          <p:nvPr/>
        </p:nvSpPr>
        <p:spPr>
          <a:xfrm>
            <a:off x="947730" y="40952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666246C3-9849-A2ED-C502-B171EB86EC26}"/>
              </a:ext>
            </a:extLst>
          </p:cNvPr>
          <p:cNvSpPr/>
          <p:nvPr/>
        </p:nvSpPr>
        <p:spPr>
          <a:xfrm>
            <a:off x="10035309" y="40952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8052A9-32E8-5727-A685-04507F176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1D0901-CF2B-341F-1C36-ED40512B4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3363"/>
            <a:ext cx="9144000" cy="23876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</a:t>
            </a:r>
            <a:b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STRATEGIC RESEARCH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8A6F8BD-1105-7690-D6E3-FF9D2A986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3038"/>
            <a:ext cx="9144000" cy="1655762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8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Inter Light" pitchFamily="34" charset="-122"/>
                <a:cs typeface="Inter Light" pitchFamily="34" charset="-120"/>
              </a:rPr>
              <a:t>A methodical pathway from foundational strategy to advanced analysis and content advocacy.</a:t>
            </a:r>
            <a:endParaRPr kumimoji="0" lang="en-US" sz="1458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entury Gothic" panose="020B0502020202020204" pitchFamily="34" charset="0"/>
            </a:endParaRP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3CB826C-2643-9078-CE50-651E3A7191A2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825D14A2-8FD5-2B6F-3F08-750FDCA6DD43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02056CCF-1220-2153-094B-E492C5A036CB}"/>
              </a:ext>
            </a:extLst>
          </p:cNvPr>
          <p:cNvSpPr txBox="1">
            <a:spLocks/>
          </p:cNvSpPr>
          <p:nvPr/>
        </p:nvSpPr>
        <p:spPr>
          <a:xfrm>
            <a:off x="1524000" y="3251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ADVANCED</a:t>
            </a:r>
          </a:p>
        </p:txBody>
      </p:sp>
    </p:spTree>
    <p:extLst>
      <p:ext uri="{BB962C8B-B14F-4D97-AF65-F5344CB8AC3E}">
        <p14:creationId xmlns:p14="http://schemas.microsoft.com/office/powerpoint/2010/main" val="2180362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BBB712-D103-619B-0A8E-ED25F8019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80195A-530B-745F-2182-30F15694D519}"/>
              </a:ext>
            </a:extLst>
          </p:cNvPr>
          <p:cNvSpPr/>
          <p:nvPr/>
        </p:nvSpPr>
        <p:spPr>
          <a:xfrm>
            <a:off x="3493597" y="2888673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102FB1-E63E-9352-5AEC-2990994FF4C2}"/>
              </a:ext>
            </a:extLst>
          </p:cNvPr>
          <p:cNvSpPr/>
          <p:nvPr/>
        </p:nvSpPr>
        <p:spPr>
          <a:xfrm>
            <a:off x="549509" y="9251324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DB9790-2AC5-AFF1-C1A0-74B552F63F15}"/>
              </a:ext>
            </a:extLst>
          </p:cNvPr>
          <p:cNvSpPr/>
          <p:nvPr/>
        </p:nvSpPr>
        <p:spPr>
          <a:xfrm>
            <a:off x="8652920" y="9251323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0E84061-EA0E-3720-C92F-7435B4A6D9F3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5671848" y="4750407"/>
            <a:ext cx="5281996" cy="37198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8184FC1-EB11-C22E-8DAA-2468760B1686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1620143" y="4418538"/>
            <a:ext cx="5281997" cy="43835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23CAED7-4839-EB97-5056-DE52E49C2626}"/>
              </a:ext>
            </a:extLst>
          </p:cNvPr>
          <p:cNvSpPr/>
          <p:nvPr/>
        </p:nvSpPr>
        <p:spPr>
          <a:xfrm>
            <a:off x="2300115" y="10544614"/>
            <a:ext cx="1805477" cy="481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Political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79C682-4698-D214-CE0B-4DCF768EB195}"/>
              </a:ext>
            </a:extLst>
          </p:cNvPr>
          <p:cNvSpPr/>
          <p:nvPr/>
        </p:nvSpPr>
        <p:spPr>
          <a:xfrm>
            <a:off x="2300115" y="11018989"/>
            <a:ext cx="1805478" cy="481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Economic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E838F5-6D78-646D-0A1E-F17231FADF87}"/>
              </a:ext>
            </a:extLst>
          </p:cNvPr>
          <p:cNvSpPr/>
          <p:nvPr/>
        </p:nvSpPr>
        <p:spPr>
          <a:xfrm>
            <a:off x="2300114" y="11432963"/>
            <a:ext cx="1805477" cy="481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Social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9C6E8C-CB2C-A43D-F6EE-008E8E363ED1}"/>
              </a:ext>
            </a:extLst>
          </p:cNvPr>
          <p:cNvSpPr/>
          <p:nvPr/>
        </p:nvSpPr>
        <p:spPr>
          <a:xfrm>
            <a:off x="2300114" y="11868655"/>
            <a:ext cx="1805477" cy="45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Technological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0B1281-338D-B3BF-C223-C655F07ACC91}"/>
              </a:ext>
            </a:extLst>
          </p:cNvPr>
          <p:cNvSpPr/>
          <p:nvPr/>
        </p:nvSpPr>
        <p:spPr>
          <a:xfrm>
            <a:off x="2300114" y="12312470"/>
            <a:ext cx="1805477" cy="45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Legal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B8B13C-2293-EFC0-FAF4-2DDBFF8DEA61}"/>
              </a:ext>
            </a:extLst>
          </p:cNvPr>
          <p:cNvSpPr/>
          <p:nvPr/>
        </p:nvSpPr>
        <p:spPr>
          <a:xfrm>
            <a:off x="2300114" y="12777080"/>
            <a:ext cx="1805477" cy="5651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C9EFD3-D60D-A7A7-12FF-EB6BA69E08AC}"/>
              </a:ext>
            </a:extLst>
          </p:cNvPr>
          <p:cNvSpPr/>
          <p:nvPr/>
        </p:nvSpPr>
        <p:spPr>
          <a:xfrm>
            <a:off x="8186162" y="10527373"/>
            <a:ext cx="1805478" cy="515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Strength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0A2B95-B5C5-17E3-BEFA-BA2FFF8576B7}"/>
              </a:ext>
            </a:extLst>
          </p:cNvPr>
          <p:cNvSpPr/>
          <p:nvPr/>
        </p:nvSpPr>
        <p:spPr>
          <a:xfrm>
            <a:off x="8186162" y="11042894"/>
            <a:ext cx="1767554" cy="526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Weakness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63B165-E73A-0B4A-A4EB-6F13210A030F}"/>
              </a:ext>
            </a:extLst>
          </p:cNvPr>
          <p:cNvSpPr/>
          <p:nvPr/>
        </p:nvSpPr>
        <p:spPr>
          <a:xfrm>
            <a:off x="8186161" y="11530098"/>
            <a:ext cx="1767554" cy="526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Opportunities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325D4E-23E7-71CE-60B7-D39D666EBFA6}"/>
              </a:ext>
            </a:extLst>
          </p:cNvPr>
          <p:cNvSpPr/>
          <p:nvPr/>
        </p:nvSpPr>
        <p:spPr>
          <a:xfrm>
            <a:off x="8186162" y="11930203"/>
            <a:ext cx="1767554" cy="45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9F643F8-9032-DE17-AE41-4A5136B38725}"/>
              </a:ext>
            </a:extLst>
          </p:cNvPr>
          <p:cNvCxnSpPr>
            <a:cxnSpLocks/>
            <a:stCxn id="7" idx="2"/>
            <a:endCxn id="14" idx="1"/>
          </p:cNvCxnSpPr>
          <p:nvPr/>
        </p:nvCxnSpPr>
        <p:spPr>
          <a:xfrm rot="16200000" flipH="1">
            <a:off x="1958156" y="10443175"/>
            <a:ext cx="453156" cy="2307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B12CAB81-8C15-563D-FAA8-540C029B5BBF}"/>
              </a:ext>
            </a:extLst>
          </p:cNvPr>
          <p:cNvCxnSpPr>
            <a:cxnSpLocks/>
            <a:stCxn id="7" idx="2"/>
            <a:endCxn id="17" idx="1"/>
          </p:cNvCxnSpPr>
          <p:nvPr/>
        </p:nvCxnSpPr>
        <p:spPr>
          <a:xfrm rot="16200000" flipH="1">
            <a:off x="1720969" y="10680362"/>
            <a:ext cx="927531" cy="2307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50608208-F775-8453-F24B-9B01A8CF2B6A}"/>
              </a:ext>
            </a:extLst>
          </p:cNvPr>
          <p:cNvCxnSpPr>
            <a:cxnSpLocks/>
            <a:stCxn id="7" idx="2"/>
            <a:endCxn id="18" idx="1"/>
          </p:cNvCxnSpPr>
          <p:nvPr/>
        </p:nvCxnSpPr>
        <p:spPr>
          <a:xfrm rot="16200000" flipH="1">
            <a:off x="1513981" y="10887349"/>
            <a:ext cx="1341505" cy="230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7E4001D-82C5-F4DC-6A5B-A07C82F0885E}"/>
              </a:ext>
            </a:extLst>
          </p:cNvPr>
          <p:cNvCxnSpPr>
            <a:cxnSpLocks/>
            <a:stCxn id="7" idx="2"/>
            <a:endCxn id="19" idx="1"/>
          </p:cNvCxnSpPr>
          <p:nvPr/>
        </p:nvCxnSpPr>
        <p:spPr>
          <a:xfrm rot="16200000" flipH="1">
            <a:off x="1303064" y="11098266"/>
            <a:ext cx="1763338" cy="230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E88DA207-FF4C-730D-8BF5-4F576A11664F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1081157" y="11320173"/>
            <a:ext cx="2207153" cy="230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3680F5E5-32D3-E5B0-81B0-08116447518E}"/>
              </a:ext>
            </a:extLst>
          </p:cNvPr>
          <p:cNvCxnSpPr>
            <a:cxnSpLocks/>
            <a:stCxn id="7" idx="2"/>
            <a:endCxn id="21" idx="1"/>
          </p:cNvCxnSpPr>
          <p:nvPr/>
        </p:nvCxnSpPr>
        <p:spPr>
          <a:xfrm rot="16200000" flipH="1">
            <a:off x="820896" y="11580434"/>
            <a:ext cx="2727674" cy="230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DB8DBA9C-4CFB-C419-7244-3D3C83D91A60}"/>
              </a:ext>
            </a:extLst>
          </p:cNvPr>
          <p:cNvCxnSpPr>
            <a:cxnSpLocks/>
            <a:stCxn id="8" idx="2"/>
            <a:endCxn id="22" idx="3"/>
          </p:cNvCxnSpPr>
          <p:nvPr/>
        </p:nvCxnSpPr>
        <p:spPr>
          <a:xfrm rot="5400000">
            <a:off x="9855624" y="10467993"/>
            <a:ext cx="453157" cy="1811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7A9146F4-E0C2-89E2-87E4-3ED36DCB989B}"/>
              </a:ext>
            </a:extLst>
          </p:cNvPr>
          <p:cNvCxnSpPr>
            <a:cxnSpLocks/>
            <a:stCxn id="8" idx="2"/>
            <a:endCxn id="23" idx="3"/>
          </p:cNvCxnSpPr>
          <p:nvPr/>
        </p:nvCxnSpPr>
        <p:spPr>
          <a:xfrm rot="5400000">
            <a:off x="9576071" y="10709622"/>
            <a:ext cx="974338" cy="2190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A7287FB5-75D7-97A2-98AD-A29B37A1A8E4}"/>
              </a:ext>
            </a:extLst>
          </p:cNvPr>
          <p:cNvCxnSpPr>
            <a:cxnSpLocks/>
            <a:stCxn id="8" idx="2"/>
            <a:endCxn id="24" idx="3"/>
          </p:cNvCxnSpPr>
          <p:nvPr/>
        </p:nvCxnSpPr>
        <p:spPr>
          <a:xfrm rot="5400000">
            <a:off x="9332469" y="10953224"/>
            <a:ext cx="1461542" cy="2190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418A2941-B071-E914-01C4-A1FE483B5AF6}"/>
              </a:ext>
            </a:extLst>
          </p:cNvPr>
          <p:cNvCxnSpPr>
            <a:cxnSpLocks/>
            <a:stCxn id="8" idx="2"/>
            <a:endCxn id="25" idx="3"/>
          </p:cNvCxnSpPr>
          <p:nvPr/>
        </p:nvCxnSpPr>
        <p:spPr>
          <a:xfrm rot="5400000">
            <a:off x="9150797" y="11134896"/>
            <a:ext cx="1824887" cy="2190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Diagonal Corners Rounded 83">
            <a:extLst>
              <a:ext uri="{FF2B5EF4-FFF2-40B4-BE49-F238E27FC236}">
                <a16:creationId xmlns:a16="http://schemas.microsoft.com/office/drawing/2014/main" id="{7AA11125-D0E9-45C6-EA59-B94989D7BD23}"/>
              </a:ext>
            </a:extLst>
          </p:cNvPr>
          <p:cNvSpPr/>
          <p:nvPr/>
        </p:nvSpPr>
        <p:spPr>
          <a:xfrm>
            <a:off x="-39306678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How governments behave: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are leaders doing? Are countries friends or fighting?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Rules of the game: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laws are in place from countries or groups like the UN?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drama: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conflicts or arguments between countries?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Rectangle: Diagonal Corners Rounded 97">
            <a:extLst>
              <a:ext uri="{FF2B5EF4-FFF2-40B4-BE49-F238E27FC236}">
                <a16:creationId xmlns:a16="http://schemas.microsoft.com/office/drawing/2014/main" id="{6720272E-6468-D8E2-C5EB-C3B46DC7D794}"/>
              </a:ext>
            </a:extLst>
          </p:cNvPr>
          <p:cNvSpPr/>
          <p:nvPr/>
        </p:nvSpPr>
        <p:spPr>
          <a:xfrm>
            <a:off x="-35712809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Money matters: Is the world economy doing well? Are countries rich or poor?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Fairness in money: Is there a big difference in wealth between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Where the money goes: How is money being spent on aid or development?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Rectangle: Diagonal Corners Rounded 98">
            <a:extLst>
              <a:ext uri="{FF2B5EF4-FFF2-40B4-BE49-F238E27FC236}">
                <a16:creationId xmlns:a16="http://schemas.microsoft.com/office/drawing/2014/main" id="{715FFDEC-7B9E-ED17-FB56-CB5AA81B1BA8}"/>
              </a:ext>
            </a:extLst>
          </p:cNvPr>
          <p:cNvSpPr/>
          <p:nvPr/>
        </p:nvSpPr>
        <p:spPr>
          <a:xfrm>
            <a:off x="-32118940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power: What do regular people think about the problem? Are they angry or supportive?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Culture &amp; beliefs: Do traditions or different ways of life affect the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Moving people: Are people having to move from their homes, or are populations changing?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A70557FA-7E24-73E5-CB9F-30C9D8113AC9}"/>
              </a:ext>
            </a:extLst>
          </p:cNvPr>
          <p:cNvSpPr/>
          <p:nvPr/>
        </p:nvSpPr>
        <p:spPr>
          <a:xfrm>
            <a:off x="-26218289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New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new technologies can help solve the problem? (Like apps or new ways to make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Bad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are bad guys using technology to cause problems? (Like hacking or spreading fake news)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Digital divide: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Do some people have access to technology while others don't?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B9B3E055-8FF5-0049-ACDE-CAD97998967F}"/>
              </a:ext>
            </a:extLst>
          </p:cNvPr>
          <p:cNvSpPr/>
          <p:nvPr/>
        </p:nvSpPr>
        <p:spPr>
          <a:xfrm>
            <a:off x="-22624420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Big agreements: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global laws or treaties that everyone has agreed 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Local laws: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do a country's own laws affect the issue? </a:t>
            </a:r>
            <a:r>
              <a:rPr lang="en-US" sz="1400" i="1" u="sng" dirty="0">
                <a:solidFill>
                  <a:schemeClr val="tx1"/>
                </a:solidFill>
                <a:highlight>
                  <a:srgbClr val="C0C0C0"/>
                </a:highlight>
                <a:latin typeface="Century Gothic" panose="020B0502020202020204" pitchFamily="34" charset="0"/>
              </a:rPr>
              <a:t>(Lex Loci)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Legal fights: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countries arguing over who is in charge of a legal problem?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795D3BF5-329B-B7B7-99E2-837A13B1214B}"/>
              </a:ext>
            </a:extLst>
          </p:cNvPr>
          <p:cNvSpPr/>
          <p:nvPr/>
        </p:nvSpPr>
        <p:spPr>
          <a:xfrm>
            <a:off x="-19030551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changes: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is climate change or pollution affecting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Using resources: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we running out of water or other important resources?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fury: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natural disasters making the problem worse?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FB8EF591-9CFB-66F2-8D4E-D465896634A4}"/>
              </a:ext>
            </a:extLst>
          </p:cNvPr>
          <p:cNvSpPr/>
          <p:nvPr/>
        </p:nvSpPr>
        <p:spPr>
          <a:xfrm flipH="1">
            <a:off x="-14170834" y="18171160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 we have going for 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Ready-to-go groups like the UN and WHO.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Amazing technology that can help.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around the world who care and are talking about it.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8E3E9E03-254C-5F43-E39C-23DBFA699160}"/>
              </a:ext>
            </a:extLst>
          </p:cNvPr>
          <p:cNvSpPr/>
          <p:nvPr/>
        </p:nvSpPr>
        <p:spPr>
          <a:xfrm>
            <a:off x="-8226253" y="1824670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What's holding us back: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Countries don't want others telling them what to 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 one can force a country to follow the rules.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Not enough money or people to get the job done.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arguments and bias get in the way.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84FD43E8-205C-BB3F-9D23-5AE2F25F21E8}"/>
              </a:ext>
            </a:extLst>
          </p:cNvPr>
          <p:cNvSpPr/>
          <p:nvPr/>
        </p:nvSpPr>
        <p:spPr>
          <a:xfrm flipH="1">
            <a:off x="1131166" y="1824670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Good chances we can take: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diplomatic talks could start.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technology could create a breakthrough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are more active and want to help.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ways of doing business could lead to a solution.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F55D6D4A-15A0-F06E-4905-F1B1EB6A6280}"/>
              </a:ext>
            </a:extLst>
          </p:cNvPr>
          <p:cNvSpPr/>
          <p:nvPr/>
        </p:nvSpPr>
        <p:spPr>
          <a:xfrm>
            <a:off x="7075747" y="18322258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Risks we need to watch out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chaos in a country.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 worldwide money problem (like a recession).New diseases or global security risks.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Worsening environmental disasters.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272F13D8-FD01-D6BC-376B-757B732BF32D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E46E35CE-4A39-A7A4-4395-657C728719A9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811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3D67B-E417-07B6-6D7C-FE39CB833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B6733F-8E68-A6EB-0576-797ADB21FD99}"/>
              </a:ext>
            </a:extLst>
          </p:cNvPr>
          <p:cNvSpPr/>
          <p:nvPr/>
        </p:nvSpPr>
        <p:spPr>
          <a:xfrm>
            <a:off x="3493597" y="1073441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C577A1-7449-27C0-4994-A77FD90B6A54}"/>
              </a:ext>
            </a:extLst>
          </p:cNvPr>
          <p:cNvSpPr/>
          <p:nvPr/>
        </p:nvSpPr>
        <p:spPr>
          <a:xfrm>
            <a:off x="549509" y="2522278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C8E3FF-3F83-1D9F-5D86-97F85AD8559C}"/>
              </a:ext>
            </a:extLst>
          </p:cNvPr>
          <p:cNvSpPr/>
          <p:nvPr/>
        </p:nvSpPr>
        <p:spPr>
          <a:xfrm>
            <a:off x="8652920" y="252227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6A18EF7-C9B8-9BBC-AB48-8BC42A7AE55B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8128755" y="478268"/>
            <a:ext cx="368182" cy="37198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163F886-5446-E39A-4B89-A0520C645004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4077050" y="146399"/>
            <a:ext cx="368183" cy="43835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196CEE9-50C6-0073-3486-5369D2FCAB90}"/>
              </a:ext>
            </a:extLst>
          </p:cNvPr>
          <p:cNvSpPr/>
          <p:nvPr/>
        </p:nvSpPr>
        <p:spPr>
          <a:xfrm>
            <a:off x="2436281" y="8626126"/>
            <a:ext cx="1805477" cy="481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Political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FC2B9B-A736-74B3-E885-D84998844A2C}"/>
              </a:ext>
            </a:extLst>
          </p:cNvPr>
          <p:cNvSpPr/>
          <p:nvPr/>
        </p:nvSpPr>
        <p:spPr>
          <a:xfrm>
            <a:off x="2436281" y="9100501"/>
            <a:ext cx="1805478" cy="481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Economic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5462B8-4572-4FD7-FA67-474833D9CCFF}"/>
              </a:ext>
            </a:extLst>
          </p:cNvPr>
          <p:cNvSpPr/>
          <p:nvPr/>
        </p:nvSpPr>
        <p:spPr>
          <a:xfrm>
            <a:off x="2436280" y="9514475"/>
            <a:ext cx="1805477" cy="481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Social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5D9A43-BBED-155E-53E7-C409057D8796}"/>
              </a:ext>
            </a:extLst>
          </p:cNvPr>
          <p:cNvSpPr/>
          <p:nvPr/>
        </p:nvSpPr>
        <p:spPr>
          <a:xfrm>
            <a:off x="2436280" y="9950167"/>
            <a:ext cx="1805477" cy="45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Technological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A0CE76-1DE2-A557-7080-D35AB0E1F2C5}"/>
              </a:ext>
            </a:extLst>
          </p:cNvPr>
          <p:cNvSpPr/>
          <p:nvPr/>
        </p:nvSpPr>
        <p:spPr>
          <a:xfrm>
            <a:off x="2436280" y="10393982"/>
            <a:ext cx="1805477" cy="45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Legal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201E7E-B32C-C890-8396-84D6F6B2E510}"/>
              </a:ext>
            </a:extLst>
          </p:cNvPr>
          <p:cNvSpPr/>
          <p:nvPr/>
        </p:nvSpPr>
        <p:spPr>
          <a:xfrm>
            <a:off x="2436280" y="10858592"/>
            <a:ext cx="1805477" cy="5651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3B3EA3-8BA0-8FEE-D5C7-CAA356B5D1A4}"/>
              </a:ext>
            </a:extLst>
          </p:cNvPr>
          <p:cNvSpPr/>
          <p:nvPr/>
        </p:nvSpPr>
        <p:spPr>
          <a:xfrm>
            <a:off x="8322328" y="8608885"/>
            <a:ext cx="1805478" cy="515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Strength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C7B74D-FEB2-784F-D667-277B504048D3}"/>
              </a:ext>
            </a:extLst>
          </p:cNvPr>
          <p:cNvSpPr/>
          <p:nvPr/>
        </p:nvSpPr>
        <p:spPr>
          <a:xfrm>
            <a:off x="8322328" y="9124406"/>
            <a:ext cx="1767554" cy="526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Weakness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2F8674-3E66-0286-2E1A-494A31DD8BFE}"/>
              </a:ext>
            </a:extLst>
          </p:cNvPr>
          <p:cNvSpPr/>
          <p:nvPr/>
        </p:nvSpPr>
        <p:spPr>
          <a:xfrm>
            <a:off x="8322327" y="9611610"/>
            <a:ext cx="1767554" cy="526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Opportunities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393434-8E7D-5332-8573-0E6FF418D0A2}"/>
              </a:ext>
            </a:extLst>
          </p:cNvPr>
          <p:cNvSpPr/>
          <p:nvPr/>
        </p:nvSpPr>
        <p:spPr>
          <a:xfrm>
            <a:off x="8322328" y="10011715"/>
            <a:ext cx="1767554" cy="45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B1D6A83-2780-051E-70AB-32956E0AEB83}"/>
              </a:ext>
            </a:extLst>
          </p:cNvPr>
          <p:cNvCxnSpPr>
            <a:cxnSpLocks/>
            <a:stCxn id="7" idx="2"/>
            <a:endCxn id="14" idx="1"/>
          </p:cNvCxnSpPr>
          <p:nvPr/>
        </p:nvCxnSpPr>
        <p:spPr>
          <a:xfrm rot="16200000" flipH="1">
            <a:off x="-379040" y="6051325"/>
            <a:ext cx="5263714" cy="3669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3B3A8C2-20EC-7BA6-74BF-5FEBE98D6ECE}"/>
              </a:ext>
            </a:extLst>
          </p:cNvPr>
          <p:cNvCxnSpPr>
            <a:cxnSpLocks/>
            <a:stCxn id="7" idx="2"/>
            <a:endCxn id="17" idx="1"/>
          </p:cNvCxnSpPr>
          <p:nvPr/>
        </p:nvCxnSpPr>
        <p:spPr>
          <a:xfrm rot="16200000" flipH="1">
            <a:off x="-616227" y="6288512"/>
            <a:ext cx="5738089" cy="3669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CB277AA-35DF-505A-A719-53273C301F62}"/>
              </a:ext>
            </a:extLst>
          </p:cNvPr>
          <p:cNvCxnSpPr>
            <a:cxnSpLocks/>
            <a:stCxn id="7" idx="2"/>
            <a:endCxn id="18" idx="1"/>
          </p:cNvCxnSpPr>
          <p:nvPr/>
        </p:nvCxnSpPr>
        <p:spPr>
          <a:xfrm rot="16200000" flipH="1">
            <a:off x="-823215" y="6495499"/>
            <a:ext cx="6152063" cy="3669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DDFD94E-EE21-F450-8425-44A8E8DDF56B}"/>
              </a:ext>
            </a:extLst>
          </p:cNvPr>
          <p:cNvCxnSpPr>
            <a:cxnSpLocks/>
            <a:stCxn id="7" idx="2"/>
            <a:endCxn id="19" idx="1"/>
          </p:cNvCxnSpPr>
          <p:nvPr/>
        </p:nvCxnSpPr>
        <p:spPr>
          <a:xfrm rot="16200000" flipH="1">
            <a:off x="-1034132" y="6706416"/>
            <a:ext cx="6573896" cy="3669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FDFACC1-D98E-914F-AD89-C7F73F8F8BAE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-1256039" y="6928323"/>
            <a:ext cx="7017711" cy="3669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08B668E-C76D-DE8E-5EEF-9F9A941C54C9}"/>
              </a:ext>
            </a:extLst>
          </p:cNvPr>
          <p:cNvCxnSpPr>
            <a:cxnSpLocks/>
            <a:stCxn id="7" idx="2"/>
            <a:endCxn id="21" idx="1"/>
          </p:cNvCxnSpPr>
          <p:nvPr/>
        </p:nvCxnSpPr>
        <p:spPr>
          <a:xfrm rot="16200000" flipH="1">
            <a:off x="-1516300" y="7188584"/>
            <a:ext cx="7538232" cy="3669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86C14AE9-C559-AB0E-4AA4-50D517A02859}"/>
              </a:ext>
            </a:extLst>
          </p:cNvPr>
          <p:cNvCxnSpPr>
            <a:cxnSpLocks/>
            <a:stCxn id="8" idx="2"/>
            <a:endCxn id="22" idx="3"/>
          </p:cNvCxnSpPr>
          <p:nvPr/>
        </p:nvCxnSpPr>
        <p:spPr>
          <a:xfrm rot="5400000">
            <a:off x="7518428" y="6212309"/>
            <a:ext cx="5263715" cy="449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BF8FD38-D712-D729-F63D-1EECB7469E71}"/>
              </a:ext>
            </a:extLst>
          </p:cNvPr>
          <p:cNvCxnSpPr>
            <a:cxnSpLocks/>
            <a:stCxn id="8" idx="2"/>
            <a:endCxn id="23" idx="3"/>
          </p:cNvCxnSpPr>
          <p:nvPr/>
        </p:nvCxnSpPr>
        <p:spPr>
          <a:xfrm rot="5400000">
            <a:off x="7238875" y="6453938"/>
            <a:ext cx="5784896" cy="828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8B4D7938-F71F-B0D8-9E65-1BF8B85B926D}"/>
              </a:ext>
            </a:extLst>
          </p:cNvPr>
          <p:cNvCxnSpPr>
            <a:cxnSpLocks/>
            <a:stCxn id="8" idx="2"/>
            <a:endCxn id="24" idx="3"/>
          </p:cNvCxnSpPr>
          <p:nvPr/>
        </p:nvCxnSpPr>
        <p:spPr>
          <a:xfrm rot="5400000">
            <a:off x="6995273" y="6697540"/>
            <a:ext cx="6272100" cy="828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F48DDF30-0C9D-32CF-AD2A-22F167882655}"/>
              </a:ext>
            </a:extLst>
          </p:cNvPr>
          <p:cNvCxnSpPr>
            <a:cxnSpLocks/>
            <a:stCxn id="8" idx="2"/>
            <a:endCxn id="25" idx="3"/>
          </p:cNvCxnSpPr>
          <p:nvPr/>
        </p:nvCxnSpPr>
        <p:spPr>
          <a:xfrm rot="5400000">
            <a:off x="6813601" y="6879212"/>
            <a:ext cx="6635445" cy="828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Diagonal Corners Rounded 83">
            <a:extLst>
              <a:ext uri="{FF2B5EF4-FFF2-40B4-BE49-F238E27FC236}">
                <a16:creationId xmlns:a16="http://schemas.microsoft.com/office/drawing/2014/main" id="{EDDE58B4-4256-9BD9-252E-7F838C71175A}"/>
              </a:ext>
            </a:extLst>
          </p:cNvPr>
          <p:cNvSpPr/>
          <p:nvPr/>
        </p:nvSpPr>
        <p:spPr>
          <a:xfrm>
            <a:off x="-39306678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How governments behave: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are leaders doing? Are countries friends or fighting?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Rules of the game: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laws are in place from countries or groups like the UN?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drama: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conflicts or arguments between countries?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Rectangle: Diagonal Corners Rounded 97">
            <a:extLst>
              <a:ext uri="{FF2B5EF4-FFF2-40B4-BE49-F238E27FC236}">
                <a16:creationId xmlns:a16="http://schemas.microsoft.com/office/drawing/2014/main" id="{0B276A1E-9E25-85A7-EE11-F94A960B6890}"/>
              </a:ext>
            </a:extLst>
          </p:cNvPr>
          <p:cNvSpPr/>
          <p:nvPr/>
        </p:nvSpPr>
        <p:spPr>
          <a:xfrm>
            <a:off x="-35712809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Money matters: Is the world economy doing well? Are countries rich or poor?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Fairness in money: Is there a big difference in wealth between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Where the money goes: How is money being spent on aid or development?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Rectangle: Diagonal Corners Rounded 98">
            <a:extLst>
              <a:ext uri="{FF2B5EF4-FFF2-40B4-BE49-F238E27FC236}">
                <a16:creationId xmlns:a16="http://schemas.microsoft.com/office/drawing/2014/main" id="{A1419771-C8D9-92ED-A427-C6D4DAEBFDB2}"/>
              </a:ext>
            </a:extLst>
          </p:cNvPr>
          <p:cNvSpPr/>
          <p:nvPr/>
        </p:nvSpPr>
        <p:spPr>
          <a:xfrm>
            <a:off x="-32118940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power: What do regular people think about the problem? Are they angry or supportive?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Culture &amp; beliefs: Do traditions or different ways of life affect the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Moving people: Are people having to move from their homes, or are populations changing?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8B29E62E-B789-69FE-F645-B467109D99CD}"/>
              </a:ext>
            </a:extLst>
          </p:cNvPr>
          <p:cNvSpPr/>
          <p:nvPr/>
        </p:nvSpPr>
        <p:spPr>
          <a:xfrm>
            <a:off x="-26218289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New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new technologies can help solve the problem? (Like apps or new ways to make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Bad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are bad guys using technology to cause problems? (Like hacking or spreading fake news)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Digital divide: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Do some people have access to technology while others don't?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67AA84DF-830A-4547-CEF7-9CD1EFE12F33}"/>
              </a:ext>
            </a:extLst>
          </p:cNvPr>
          <p:cNvSpPr/>
          <p:nvPr/>
        </p:nvSpPr>
        <p:spPr>
          <a:xfrm>
            <a:off x="-22624420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Big agreements: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global laws or treaties that everyone has agreed 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Local laws: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do a country's own laws affect the issue? </a:t>
            </a:r>
            <a:r>
              <a:rPr lang="en-US" sz="1400" i="1" u="sng" dirty="0">
                <a:solidFill>
                  <a:schemeClr val="tx1"/>
                </a:solidFill>
                <a:highlight>
                  <a:srgbClr val="C0C0C0"/>
                </a:highlight>
                <a:latin typeface="Century Gothic" panose="020B0502020202020204" pitchFamily="34" charset="0"/>
              </a:rPr>
              <a:t>(Lex Loci)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Legal fights: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countries arguing over who is in charge of a legal problem?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0A38D444-8719-87C6-D0E5-2AEFAA2FDDD0}"/>
              </a:ext>
            </a:extLst>
          </p:cNvPr>
          <p:cNvSpPr/>
          <p:nvPr/>
        </p:nvSpPr>
        <p:spPr>
          <a:xfrm>
            <a:off x="-19030551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changes: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is climate change or pollution affecting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Using resources: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we running out of water or other important resources?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fury: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natural disasters making the problem worse?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901929A9-0E14-73AD-F17C-342B9B994F7E}"/>
              </a:ext>
            </a:extLst>
          </p:cNvPr>
          <p:cNvSpPr/>
          <p:nvPr/>
        </p:nvSpPr>
        <p:spPr>
          <a:xfrm flipH="1">
            <a:off x="-14170834" y="18171160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 we have going for 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Ready-to-go groups like the UN and WHO.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Amazing technology that can help.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around the world who care and are talking about it.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3F29CA82-130E-EA96-E6FA-E2F74BF60070}"/>
              </a:ext>
            </a:extLst>
          </p:cNvPr>
          <p:cNvSpPr/>
          <p:nvPr/>
        </p:nvSpPr>
        <p:spPr>
          <a:xfrm>
            <a:off x="-8226253" y="1824670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What's holding us back: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Countries don't want others telling them what to 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 one can force a country to follow the rules.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Not enough money or people to get the job done.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arguments and bias get in the way.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7996C4E2-21F6-339A-7D4B-7D41804FE37F}"/>
              </a:ext>
            </a:extLst>
          </p:cNvPr>
          <p:cNvSpPr/>
          <p:nvPr/>
        </p:nvSpPr>
        <p:spPr>
          <a:xfrm flipH="1">
            <a:off x="1131166" y="1824670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Good chances we can take: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diplomatic talks could start.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technology could create a breakthrough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are more active and want to help.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ways of doing business could lead to a solution.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14174700-E635-D893-0549-DF8C3B675338}"/>
              </a:ext>
            </a:extLst>
          </p:cNvPr>
          <p:cNvSpPr/>
          <p:nvPr/>
        </p:nvSpPr>
        <p:spPr>
          <a:xfrm>
            <a:off x="7075747" y="18322258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Risks we need to watch out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chaos in a country.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 worldwide money problem (like a recession).New diseases or global security risks.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Worsening environmental disasters.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37814CC2-E418-CFF0-8BE2-BE85EFBEF13F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F645E024-7D39-BA2D-501E-5403F7029573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1272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D4252-61D2-BBDA-0F8C-80BD15C0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A5B2C2-15D8-17B3-C2FC-749B1B78B60D}"/>
              </a:ext>
            </a:extLst>
          </p:cNvPr>
          <p:cNvSpPr/>
          <p:nvPr/>
        </p:nvSpPr>
        <p:spPr>
          <a:xfrm>
            <a:off x="3493597" y="1073441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3B4FA1-8E34-D68F-D196-7D5BC811E35C}"/>
              </a:ext>
            </a:extLst>
          </p:cNvPr>
          <p:cNvSpPr/>
          <p:nvPr/>
        </p:nvSpPr>
        <p:spPr>
          <a:xfrm>
            <a:off x="549509" y="2522278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106B66-42BB-7B53-3529-8FC934DCCE8E}"/>
              </a:ext>
            </a:extLst>
          </p:cNvPr>
          <p:cNvSpPr/>
          <p:nvPr/>
        </p:nvSpPr>
        <p:spPr>
          <a:xfrm>
            <a:off x="8652920" y="252227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5826085-ACEB-331E-2817-150B1E3658A1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8128755" y="478268"/>
            <a:ext cx="368182" cy="37198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FBBD67E-16AD-1C5D-C278-F818FD4F5205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4077050" y="146399"/>
            <a:ext cx="368183" cy="43835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16FE7-0D90-A18D-2268-8C680219C699}"/>
              </a:ext>
            </a:extLst>
          </p:cNvPr>
          <p:cNvSpPr/>
          <p:nvPr/>
        </p:nvSpPr>
        <p:spPr>
          <a:xfrm>
            <a:off x="2300115" y="3815568"/>
            <a:ext cx="1805477" cy="481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Political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8CE291-3DF0-7BA7-3E2C-3E401353C9C4}"/>
              </a:ext>
            </a:extLst>
          </p:cNvPr>
          <p:cNvSpPr/>
          <p:nvPr/>
        </p:nvSpPr>
        <p:spPr>
          <a:xfrm>
            <a:off x="2300115" y="4289943"/>
            <a:ext cx="1805478" cy="481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Economic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B77974-7AE9-B591-4F74-F658E33055BB}"/>
              </a:ext>
            </a:extLst>
          </p:cNvPr>
          <p:cNvSpPr/>
          <p:nvPr/>
        </p:nvSpPr>
        <p:spPr>
          <a:xfrm>
            <a:off x="2300114" y="4703917"/>
            <a:ext cx="1805477" cy="481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Social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29CAA0-D9CD-A77A-356D-09E71F4028F8}"/>
              </a:ext>
            </a:extLst>
          </p:cNvPr>
          <p:cNvSpPr/>
          <p:nvPr/>
        </p:nvSpPr>
        <p:spPr>
          <a:xfrm>
            <a:off x="2300114" y="5139609"/>
            <a:ext cx="1805477" cy="45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Technological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3433E6-43C2-291B-7A0D-519C9B2F3469}"/>
              </a:ext>
            </a:extLst>
          </p:cNvPr>
          <p:cNvSpPr/>
          <p:nvPr/>
        </p:nvSpPr>
        <p:spPr>
          <a:xfrm>
            <a:off x="2300114" y="5583424"/>
            <a:ext cx="1805477" cy="45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Legal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9D8215-5438-0892-7CBA-BE240F521FFF}"/>
              </a:ext>
            </a:extLst>
          </p:cNvPr>
          <p:cNvSpPr/>
          <p:nvPr/>
        </p:nvSpPr>
        <p:spPr>
          <a:xfrm>
            <a:off x="2300114" y="6048034"/>
            <a:ext cx="1805477" cy="5651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9B9AF8-A6C1-5696-93FB-6ABE398D4A1F}"/>
              </a:ext>
            </a:extLst>
          </p:cNvPr>
          <p:cNvSpPr/>
          <p:nvPr/>
        </p:nvSpPr>
        <p:spPr>
          <a:xfrm>
            <a:off x="8186162" y="3798327"/>
            <a:ext cx="1805478" cy="515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Strength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CFD445-3C6F-BB89-48A3-68F8BFD9B27D}"/>
              </a:ext>
            </a:extLst>
          </p:cNvPr>
          <p:cNvSpPr/>
          <p:nvPr/>
        </p:nvSpPr>
        <p:spPr>
          <a:xfrm>
            <a:off x="8186162" y="4313848"/>
            <a:ext cx="1767554" cy="526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Weakness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5CE158-C7DF-F27F-B994-F03C7DD10CD7}"/>
              </a:ext>
            </a:extLst>
          </p:cNvPr>
          <p:cNvSpPr/>
          <p:nvPr/>
        </p:nvSpPr>
        <p:spPr>
          <a:xfrm>
            <a:off x="8186161" y="4801052"/>
            <a:ext cx="1767554" cy="526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Opportunities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7472A8-BABA-A266-B78D-6D6AC2818FF0}"/>
              </a:ext>
            </a:extLst>
          </p:cNvPr>
          <p:cNvSpPr/>
          <p:nvPr/>
        </p:nvSpPr>
        <p:spPr>
          <a:xfrm>
            <a:off x="8186162" y="5201157"/>
            <a:ext cx="1767554" cy="45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88F4BF9-0CCA-7C68-0D41-F43EACB375E2}"/>
              </a:ext>
            </a:extLst>
          </p:cNvPr>
          <p:cNvCxnSpPr>
            <a:cxnSpLocks/>
            <a:stCxn id="7" idx="2"/>
            <a:endCxn id="14" idx="1"/>
          </p:cNvCxnSpPr>
          <p:nvPr/>
        </p:nvCxnSpPr>
        <p:spPr>
          <a:xfrm rot="16200000" flipH="1">
            <a:off x="1958156" y="3714129"/>
            <a:ext cx="453156" cy="2307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50AF44A-EEFB-0948-BE95-B7F74D26526B}"/>
              </a:ext>
            </a:extLst>
          </p:cNvPr>
          <p:cNvCxnSpPr>
            <a:cxnSpLocks/>
            <a:stCxn id="7" idx="2"/>
            <a:endCxn id="17" idx="1"/>
          </p:cNvCxnSpPr>
          <p:nvPr/>
        </p:nvCxnSpPr>
        <p:spPr>
          <a:xfrm rot="16200000" flipH="1">
            <a:off x="1720969" y="3951316"/>
            <a:ext cx="927531" cy="2307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C3BB5263-DF49-7BA8-79B4-C64AD42AD783}"/>
              </a:ext>
            </a:extLst>
          </p:cNvPr>
          <p:cNvCxnSpPr>
            <a:cxnSpLocks/>
            <a:stCxn id="7" idx="2"/>
            <a:endCxn id="18" idx="1"/>
          </p:cNvCxnSpPr>
          <p:nvPr/>
        </p:nvCxnSpPr>
        <p:spPr>
          <a:xfrm rot="16200000" flipH="1">
            <a:off x="1513981" y="4158303"/>
            <a:ext cx="1341505" cy="230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7780C962-8C4B-BDBF-48C4-57AF415233AB}"/>
              </a:ext>
            </a:extLst>
          </p:cNvPr>
          <p:cNvCxnSpPr>
            <a:cxnSpLocks/>
            <a:stCxn id="7" idx="2"/>
            <a:endCxn id="19" idx="1"/>
          </p:cNvCxnSpPr>
          <p:nvPr/>
        </p:nvCxnSpPr>
        <p:spPr>
          <a:xfrm rot="16200000" flipH="1">
            <a:off x="1303064" y="4369220"/>
            <a:ext cx="1763338" cy="230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3F5EB3D-3492-6428-8EDE-B4417EA4BF9D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1081157" y="4591127"/>
            <a:ext cx="2207153" cy="230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DD73627-DAA5-0FCC-324E-D4923493009F}"/>
              </a:ext>
            </a:extLst>
          </p:cNvPr>
          <p:cNvCxnSpPr>
            <a:cxnSpLocks/>
            <a:stCxn id="7" idx="2"/>
            <a:endCxn id="21" idx="1"/>
          </p:cNvCxnSpPr>
          <p:nvPr/>
        </p:nvCxnSpPr>
        <p:spPr>
          <a:xfrm rot="16200000" flipH="1">
            <a:off x="820896" y="4851388"/>
            <a:ext cx="2727674" cy="230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A3C67CEC-16D9-5612-5D43-3EFF63ADE1F3}"/>
              </a:ext>
            </a:extLst>
          </p:cNvPr>
          <p:cNvCxnSpPr>
            <a:cxnSpLocks/>
            <a:stCxn id="8" idx="2"/>
            <a:endCxn id="22" idx="3"/>
          </p:cNvCxnSpPr>
          <p:nvPr/>
        </p:nvCxnSpPr>
        <p:spPr>
          <a:xfrm rot="5400000">
            <a:off x="9855624" y="3738947"/>
            <a:ext cx="453157" cy="1811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3169330D-9F2C-3CAD-4D0F-ECAACE873EA7}"/>
              </a:ext>
            </a:extLst>
          </p:cNvPr>
          <p:cNvCxnSpPr>
            <a:cxnSpLocks/>
            <a:stCxn id="8" idx="2"/>
            <a:endCxn id="23" idx="3"/>
          </p:cNvCxnSpPr>
          <p:nvPr/>
        </p:nvCxnSpPr>
        <p:spPr>
          <a:xfrm rot="5400000">
            <a:off x="9576071" y="3980576"/>
            <a:ext cx="974338" cy="2190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0087833D-685D-4A2B-8258-AB95B9CB14BA}"/>
              </a:ext>
            </a:extLst>
          </p:cNvPr>
          <p:cNvCxnSpPr>
            <a:cxnSpLocks/>
            <a:stCxn id="8" idx="2"/>
            <a:endCxn id="24" idx="3"/>
          </p:cNvCxnSpPr>
          <p:nvPr/>
        </p:nvCxnSpPr>
        <p:spPr>
          <a:xfrm rot="5400000">
            <a:off x="9332469" y="4224178"/>
            <a:ext cx="1461542" cy="2190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AD093F00-9C00-7383-99DC-6DBD67FFBFC1}"/>
              </a:ext>
            </a:extLst>
          </p:cNvPr>
          <p:cNvCxnSpPr>
            <a:cxnSpLocks/>
            <a:stCxn id="8" idx="2"/>
            <a:endCxn id="25" idx="3"/>
          </p:cNvCxnSpPr>
          <p:nvPr/>
        </p:nvCxnSpPr>
        <p:spPr>
          <a:xfrm rot="5400000">
            <a:off x="9150797" y="4405850"/>
            <a:ext cx="1824887" cy="2190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Diagonal Corners Rounded 83">
            <a:extLst>
              <a:ext uri="{FF2B5EF4-FFF2-40B4-BE49-F238E27FC236}">
                <a16:creationId xmlns:a16="http://schemas.microsoft.com/office/drawing/2014/main" id="{4A4D550D-F8FF-1F83-9BE8-2D4BBD37FA57}"/>
              </a:ext>
            </a:extLst>
          </p:cNvPr>
          <p:cNvSpPr/>
          <p:nvPr/>
        </p:nvSpPr>
        <p:spPr>
          <a:xfrm>
            <a:off x="-39306678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How governments behave: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are leaders doing? Are countries friends or fighting?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Rules of the game: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laws are in place from countries or groups like the UN?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drama: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conflicts or arguments between countries?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Rectangle: Diagonal Corners Rounded 97">
            <a:extLst>
              <a:ext uri="{FF2B5EF4-FFF2-40B4-BE49-F238E27FC236}">
                <a16:creationId xmlns:a16="http://schemas.microsoft.com/office/drawing/2014/main" id="{B3E32B6B-1E94-EE28-9FF9-5072F05A87DE}"/>
              </a:ext>
            </a:extLst>
          </p:cNvPr>
          <p:cNvSpPr/>
          <p:nvPr/>
        </p:nvSpPr>
        <p:spPr>
          <a:xfrm>
            <a:off x="-35712809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Money matters: Is the world economy doing well? Are countries rich or poor?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Fairness in money: Is there a big difference in wealth between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Where the money goes: How is money being spent on aid or development?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Rectangle: Diagonal Corners Rounded 98">
            <a:extLst>
              <a:ext uri="{FF2B5EF4-FFF2-40B4-BE49-F238E27FC236}">
                <a16:creationId xmlns:a16="http://schemas.microsoft.com/office/drawing/2014/main" id="{E8151BA5-BC95-77E8-C70F-8B6C83BD14AE}"/>
              </a:ext>
            </a:extLst>
          </p:cNvPr>
          <p:cNvSpPr/>
          <p:nvPr/>
        </p:nvSpPr>
        <p:spPr>
          <a:xfrm>
            <a:off x="-32118940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power: What do regular people think about the problem? Are they angry or supportive?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Culture &amp; beliefs: Do traditions or different ways of life affect the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Moving people: Are people having to move from their homes, or are populations changing?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616B182F-4F56-7E16-C8DB-EA9FD2E22397}"/>
              </a:ext>
            </a:extLst>
          </p:cNvPr>
          <p:cNvSpPr/>
          <p:nvPr/>
        </p:nvSpPr>
        <p:spPr>
          <a:xfrm>
            <a:off x="-26218289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New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new technologies can help solve the problem? (Like apps or new ways to make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Bad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are bad guys using technology to cause problems? (Like hacking or spreading fake news)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Digital divide: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Do some people have access to technology while others don't?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73EFE13B-6136-1968-0579-48F7A08E946E}"/>
              </a:ext>
            </a:extLst>
          </p:cNvPr>
          <p:cNvSpPr/>
          <p:nvPr/>
        </p:nvSpPr>
        <p:spPr>
          <a:xfrm>
            <a:off x="-22624420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Big agreements: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global laws or treaties that everyone has agreed 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Local laws: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do a country's own laws affect the issue? </a:t>
            </a:r>
            <a:r>
              <a:rPr lang="en-US" sz="1400" i="1" u="sng" dirty="0">
                <a:solidFill>
                  <a:schemeClr val="tx1"/>
                </a:solidFill>
                <a:highlight>
                  <a:srgbClr val="C0C0C0"/>
                </a:highlight>
                <a:latin typeface="Century Gothic" panose="020B0502020202020204" pitchFamily="34" charset="0"/>
              </a:rPr>
              <a:t>(Lex Loci)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Legal fights: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countries arguing over who is in charge of a legal problem?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7C8731E2-7B8C-B68F-8987-8D378320FFD1}"/>
              </a:ext>
            </a:extLst>
          </p:cNvPr>
          <p:cNvSpPr/>
          <p:nvPr/>
        </p:nvSpPr>
        <p:spPr>
          <a:xfrm>
            <a:off x="-19030551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changes: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is climate change or pollution affecting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Using resources: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we running out of water or other important resources?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fury: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natural disasters making the problem worse?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5D654CB2-2565-828D-AC8C-9330B7F62C7B}"/>
              </a:ext>
            </a:extLst>
          </p:cNvPr>
          <p:cNvSpPr/>
          <p:nvPr/>
        </p:nvSpPr>
        <p:spPr>
          <a:xfrm flipH="1">
            <a:off x="-14170834" y="18171160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 we have going for 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Ready-to-go groups like the UN and WHO.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Amazing technology that can help.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around the world who care and are talking about it.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AF364897-33BB-FEBD-0CD9-2712D2F579BA}"/>
              </a:ext>
            </a:extLst>
          </p:cNvPr>
          <p:cNvSpPr/>
          <p:nvPr/>
        </p:nvSpPr>
        <p:spPr>
          <a:xfrm>
            <a:off x="-8226253" y="1824670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What's holding us back: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Countries don't want others telling them what to 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 one can force a country to follow the rules.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Not enough money or people to get the job done.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arguments and bias get in the way.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C9796F5D-7326-1A8C-93BD-A2FDC6DA758B}"/>
              </a:ext>
            </a:extLst>
          </p:cNvPr>
          <p:cNvSpPr/>
          <p:nvPr/>
        </p:nvSpPr>
        <p:spPr>
          <a:xfrm flipH="1">
            <a:off x="1131166" y="1824670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Good chances we can take: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diplomatic talks could start.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technology could create a breakthrough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are more active and want to help.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ways of doing business could lead to a solution.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04B25916-29C5-98A3-E061-FCF84F63C212}"/>
              </a:ext>
            </a:extLst>
          </p:cNvPr>
          <p:cNvSpPr/>
          <p:nvPr/>
        </p:nvSpPr>
        <p:spPr>
          <a:xfrm>
            <a:off x="7075747" y="18322258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Risks we need to watch out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chaos in a country.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 worldwide money problem (like a recession).New diseases or global security risks.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Worsening environmental disasters.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BED6C120-E84B-8922-2513-B5835911F77E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EEDC19BE-A841-F882-7847-426E89A21EBF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4022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63650-9BFC-F874-43C7-C4D247AFA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D50680-7D13-91B3-440A-6E4B95C370DD}"/>
              </a:ext>
            </a:extLst>
          </p:cNvPr>
          <p:cNvSpPr/>
          <p:nvPr/>
        </p:nvSpPr>
        <p:spPr>
          <a:xfrm>
            <a:off x="3136669" y="-12216934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EBC199-C725-6450-1FE3-A1B0F0F7ED38}"/>
              </a:ext>
            </a:extLst>
          </p:cNvPr>
          <p:cNvSpPr/>
          <p:nvPr/>
        </p:nvSpPr>
        <p:spPr>
          <a:xfrm>
            <a:off x="4576155" y="65809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5BFBF8-B0AA-3A14-5A6E-DC5374C78C58}"/>
              </a:ext>
            </a:extLst>
          </p:cNvPr>
          <p:cNvSpPr/>
          <p:nvPr/>
        </p:nvSpPr>
        <p:spPr>
          <a:xfrm>
            <a:off x="29945214" y="65809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24D3B57-E659-76BA-59B4-E34643330280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12883341" y="-17923621"/>
            <a:ext cx="11794377" cy="253690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AA36AE14-77EE-1331-78E5-BCB97431193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198812" y="-5239092"/>
            <a:ext cx="1179437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6605D1F-5180-AC82-8973-83B9FED3529F}"/>
              </a:ext>
            </a:extLst>
          </p:cNvPr>
          <p:cNvSpPr/>
          <p:nvPr/>
        </p:nvSpPr>
        <p:spPr>
          <a:xfrm>
            <a:off x="982285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Political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18EC01-3E28-F62B-ECCA-1AB1C8B66F9E}"/>
              </a:ext>
            </a:extLst>
          </p:cNvPr>
          <p:cNvSpPr/>
          <p:nvPr/>
        </p:nvSpPr>
        <p:spPr>
          <a:xfrm>
            <a:off x="4576154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Economic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9C97B1-59D5-9A3D-E1D6-1EC94E21E6D7}"/>
              </a:ext>
            </a:extLst>
          </p:cNvPr>
          <p:cNvSpPr/>
          <p:nvPr/>
        </p:nvSpPr>
        <p:spPr>
          <a:xfrm>
            <a:off x="8170023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Social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2258D2-7973-1BFF-7B91-72EA18D87F13}"/>
              </a:ext>
            </a:extLst>
          </p:cNvPr>
          <p:cNvSpPr/>
          <p:nvPr/>
        </p:nvSpPr>
        <p:spPr>
          <a:xfrm>
            <a:off x="14121939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Technological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F64374-4432-A62C-589F-4F0EB820AC2D}"/>
              </a:ext>
            </a:extLst>
          </p:cNvPr>
          <p:cNvSpPr/>
          <p:nvPr/>
        </p:nvSpPr>
        <p:spPr>
          <a:xfrm>
            <a:off x="17715808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Legal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B2E1ED-CE9C-7B19-F849-23AF242C730B}"/>
              </a:ext>
            </a:extLst>
          </p:cNvPr>
          <p:cNvSpPr/>
          <p:nvPr/>
        </p:nvSpPr>
        <p:spPr>
          <a:xfrm>
            <a:off x="21309677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6AA4A1-EC0C-7B40-9E56-C0562F45D17C}"/>
              </a:ext>
            </a:extLst>
          </p:cNvPr>
          <p:cNvSpPr/>
          <p:nvPr/>
        </p:nvSpPr>
        <p:spPr>
          <a:xfrm>
            <a:off x="25754215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Strength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147773-97D1-2860-63A8-02F23EB91730}"/>
              </a:ext>
            </a:extLst>
          </p:cNvPr>
          <p:cNvSpPr/>
          <p:nvPr/>
        </p:nvSpPr>
        <p:spPr>
          <a:xfrm>
            <a:off x="33929089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Weakness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F05D3D-E317-A2CB-AB0F-BD068B78A179}"/>
              </a:ext>
            </a:extLst>
          </p:cNvPr>
          <p:cNvSpPr/>
          <p:nvPr/>
        </p:nvSpPr>
        <p:spPr>
          <a:xfrm>
            <a:off x="41056215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Opportunities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B20A96-6282-6B6F-D734-D40CB1F27759}"/>
              </a:ext>
            </a:extLst>
          </p:cNvPr>
          <p:cNvSpPr/>
          <p:nvPr/>
        </p:nvSpPr>
        <p:spPr>
          <a:xfrm>
            <a:off x="48183337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10301855-4961-1561-86AB-F41E0B4DFF0C}"/>
              </a:ext>
            </a:extLst>
          </p:cNvPr>
          <p:cNvCxnSpPr>
            <a:cxnSpLocks/>
          </p:cNvCxnSpPr>
          <p:nvPr/>
        </p:nvCxnSpPr>
        <p:spPr>
          <a:xfrm rot="5400000">
            <a:off x="4111335" y="248695"/>
            <a:ext cx="494606" cy="3474719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BCEEB75-79C0-CFB6-95AA-FB426786D308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5400000">
            <a:off x="5848696" y="1986054"/>
            <a:ext cx="49460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54047FFE-0FD4-FECC-BB37-D97B9C1734FA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16200000" flipH="1">
            <a:off x="7645630" y="189120"/>
            <a:ext cx="494606" cy="3593868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374FCA9-CD91-0CE4-365F-D26B11EACB0D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16200000" flipH="1">
            <a:off x="10621588" y="-2786838"/>
            <a:ext cx="494606" cy="9545784"/>
          </a:xfrm>
          <a:prstGeom prst="bentConnector3">
            <a:avLst>
              <a:gd name="adj1" fmla="val 385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BCB9067-A001-DE40-6DDE-A4CB204510CE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rot="16200000" flipH="1">
            <a:off x="12418522" y="-4583773"/>
            <a:ext cx="494606" cy="13139653"/>
          </a:xfrm>
          <a:prstGeom prst="bentConnector3">
            <a:avLst>
              <a:gd name="adj1" fmla="val 404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FC108FF3-AB8A-3330-BBCB-E569A8D4EBF9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16200000" flipH="1">
            <a:off x="14215457" y="-6380707"/>
            <a:ext cx="494606" cy="16733522"/>
          </a:xfrm>
          <a:prstGeom prst="bentConnector3">
            <a:avLst>
              <a:gd name="adj1" fmla="val 3952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3F1C8801-BBB5-2890-C83D-14199D6CBCA7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rot="5400000">
            <a:off x="28288905" y="723906"/>
            <a:ext cx="2161308" cy="41909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8C26C2CB-599F-14F8-D7C5-0D12AF08759B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32376341" y="827467"/>
            <a:ext cx="2161308" cy="39838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36E183DD-5536-B57D-0099-072242AB1651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 rot="16200000" flipH="1">
            <a:off x="35939904" y="-2736096"/>
            <a:ext cx="2161308" cy="111110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F6965258-5325-49AB-BA50-68D2E1405AA2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rot="16200000" flipH="1">
            <a:off x="39503465" y="-6299657"/>
            <a:ext cx="2161308" cy="18238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Diagonal Corners Rounded 83">
            <a:extLst>
              <a:ext uri="{FF2B5EF4-FFF2-40B4-BE49-F238E27FC236}">
                <a16:creationId xmlns:a16="http://schemas.microsoft.com/office/drawing/2014/main" id="{CF583D14-7C25-4C49-A2ED-E57D24BB80EC}"/>
              </a:ext>
            </a:extLst>
          </p:cNvPr>
          <p:cNvSpPr/>
          <p:nvPr/>
        </p:nvSpPr>
        <p:spPr>
          <a:xfrm>
            <a:off x="900196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How governments behave: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are leaders doing? Are countries friends or fighting?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Rules of the game: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laws are in place from countries or groups like the UN?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drama: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conflicts or arguments between countries?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Rectangle: Diagonal Corners Rounded 97">
            <a:extLst>
              <a:ext uri="{FF2B5EF4-FFF2-40B4-BE49-F238E27FC236}">
                <a16:creationId xmlns:a16="http://schemas.microsoft.com/office/drawing/2014/main" id="{525923CA-0EB7-6A7E-F5C0-772FCC203710}"/>
              </a:ext>
            </a:extLst>
          </p:cNvPr>
          <p:cNvSpPr/>
          <p:nvPr/>
        </p:nvSpPr>
        <p:spPr>
          <a:xfrm>
            <a:off x="4494065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Money matters: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Is the world economy doing well? Are countries rich or poor?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Fairness in money: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Is there a big difference in wealth between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Where the money goes: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is money being spent on aid or development?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Rectangle: Diagonal Corners Rounded 98">
            <a:extLst>
              <a:ext uri="{FF2B5EF4-FFF2-40B4-BE49-F238E27FC236}">
                <a16:creationId xmlns:a16="http://schemas.microsoft.com/office/drawing/2014/main" id="{9178D77A-F29E-AEC1-40E1-F09AEAA37AB7}"/>
              </a:ext>
            </a:extLst>
          </p:cNvPr>
          <p:cNvSpPr/>
          <p:nvPr/>
        </p:nvSpPr>
        <p:spPr>
          <a:xfrm>
            <a:off x="8087934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People power: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do regular people think about the problem? Are they angry or supportive?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Culture &amp; beliefs: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Do traditions or different ways of life affect the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Moving people: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people having to move from their homes, or are populations changing?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2" name="Freeform 4">
            <a:extLst>
              <a:ext uri="{FF2B5EF4-FFF2-40B4-BE49-F238E27FC236}">
                <a16:creationId xmlns:a16="http://schemas.microsoft.com/office/drawing/2014/main" id="{F169D4CD-4CC6-6BBE-9272-FAA1FB3D0E84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3" name="Freeform 5">
            <a:extLst>
              <a:ext uri="{FF2B5EF4-FFF2-40B4-BE49-F238E27FC236}">
                <a16:creationId xmlns:a16="http://schemas.microsoft.com/office/drawing/2014/main" id="{9E8808C8-B425-C2C2-1B8D-8052FCABBD63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831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98" grpId="0" animBg="1"/>
      <p:bldP spid="9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A066E8-A11B-3A1D-BE09-C1C84E7DA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31E1BF-BA9C-0DBF-D4B4-751671DE6DDE}"/>
              </a:ext>
            </a:extLst>
          </p:cNvPr>
          <p:cNvSpPr/>
          <p:nvPr/>
        </p:nvSpPr>
        <p:spPr>
          <a:xfrm>
            <a:off x="3136669" y="-12216934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35D8A6-1EC1-21DA-6BB2-F6AD3E7FBFBE}"/>
              </a:ext>
            </a:extLst>
          </p:cNvPr>
          <p:cNvSpPr/>
          <p:nvPr/>
        </p:nvSpPr>
        <p:spPr>
          <a:xfrm>
            <a:off x="-7996845" y="65809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21E8F5-D99F-65EE-93E5-3C0EF7329187}"/>
              </a:ext>
            </a:extLst>
          </p:cNvPr>
          <p:cNvSpPr/>
          <p:nvPr/>
        </p:nvSpPr>
        <p:spPr>
          <a:xfrm>
            <a:off x="17372214" y="65809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C072483-6F93-8954-665F-41DBAEDE64E8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6596841" y="-11637121"/>
            <a:ext cx="11794377" cy="127960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BEA49B6-17CB-D677-8141-2B5162C00E5D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-6087688" y="-11525592"/>
            <a:ext cx="11794377" cy="125730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F74EE-0D29-2C00-F499-3AD8681EB74E}"/>
              </a:ext>
            </a:extLst>
          </p:cNvPr>
          <p:cNvSpPr/>
          <p:nvPr/>
        </p:nvSpPr>
        <p:spPr>
          <a:xfrm>
            <a:off x="-11590715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Political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5564CD-22F0-CC2D-F9F0-A5B89650E1D7}"/>
              </a:ext>
            </a:extLst>
          </p:cNvPr>
          <p:cNvSpPr/>
          <p:nvPr/>
        </p:nvSpPr>
        <p:spPr>
          <a:xfrm>
            <a:off x="-7996846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Economic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BCBFB4-5422-9CDC-8134-4629E002C786}"/>
              </a:ext>
            </a:extLst>
          </p:cNvPr>
          <p:cNvSpPr/>
          <p:nvPr/>
        </p:nvSpPr>
        <p:spPr>
          <a:xfrm>
            <a:off x="-4402977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Social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3141A7-1DE8-60DF-CA3C-223108AC237A}"/>
              </a:ext>
            </a:extLst>
          </p:cNvPr>
          <p:cNvSpPr/>
          <p:nvPr/>
        </p:nvSpPr>
        <p:spPr>
          <a:xfrm>
            <a:off x="1548939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Technological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36AF33-1AFC-840F-5284-A7E767E3E238}"/>
              </a:ext>
            </a:extLst>
          </p:cNvPr>
          <p:cNvSpPr/>
          <p:nvPr/>
        </p:nvSpPr>
        <p:spPr>
          <a:xfrm>
            <a:off x="5142808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Legal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8F8403-7C74-CDFF-094A-154158E711F5}"/>
              </a:ext>
            </a:extLst>
          </p:cNvPr>
          <p:cNvSpPr/>
          <p:nvPr/>
        </p:nvSpPr>
        <p:spPr>
          <a:xfrm>
            <a:off x="8736677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E61851-2A97-46A0-42BA-556B774742D2}"/>
              </a:ext>
            </a:extLst>
          </p:cNvPr>
          <p:cNvSpPr/>
          <p:nvPr/>
        </p:nvSpPr>
        <p:spPr>
          <a:xfrm>
            <a:off x="13181215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Strength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081626-120F-0252-C73D-93E1A459D697}"/>
              </a:ext>
            </a:extLst>
          </p:cNvPr>
          <p:cNvSpPr/>
          <p:nvPr/>
        </p:nvSpPr>
        <p:spPr>
          <a:xfrm>
            <a:off x="21356089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Weakness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B97C05-FF57-966F-EED9-969A2F824B5F}"/>
              </a:ext>
            </a:extLst>
          </p:cNvPr>
          <p:cNvSpPr/>
          <p:nvPr/>
        </p:nvSpPr>
        <p:spPr>
          <a:xfrm>
            <a:off x="28483215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Opportunities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FFF22A-7E5B-39FD-10C4-F6ACF6DF0C2D}"/>
              </a:ext>
            </a:extLst>
          </p:cNvPr>
          <p:cNvSpPr/>
          <p:nvPr/>
        </p:nvSpPr>
        <p:spPr>
          <a:xfrm>
            <a:off x="35610337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D9A5F7A-BD31-D200-219C-61A2DAD6361F}"/>
              </a:ext>
            </a:extLst>
          </p:cNvPr>
          <p:cNvCxnSpPr>
            <a:cxnSpLocks/>
          </p:cNvCxnSpPr>
          <p:nvPr/>
        </p:nvCxnSpPr>
        <p:spPr>
          <a:xfrm rot="5400000">
            <a:off x="-8461665" y="248695"/>
            <a:ext cx="494606" cy="3474719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DD305E6-AAB3-C265-BF02-EE62147B9042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5400000">
            <a:off x="-6724304" y="1986054"/>
            <a:ext cx="49460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5FF681C-E356-EAF7-B452-F1566FEE96D5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16200000" flipH="1">
            <a:off x="-4927370" y="189120"/>
            <a:ext cx="494606" cy="3593868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9245A61-2EB2-88A6-1E64-6FF915C77E7A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16200000" flipH="1">
            <a:off x="-1951412" y="-2786838"/>
            <a:ext cx="494606" cy="9545784"/>
          </a:xfrm>
          <a:prstGeom prst="bentConnector3">
            <a:avLst>
              <a:gd name="adj1" fmla="val 385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97EBD26-E598-46B8-BFBC-2D4F434FA8F5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rot="16200000" flipH="1">
            <a:off x="-154478" y="-4583773"/>
            <a:ext cx="494606" cy="13139653"/>
          </a:xfrm>
          <a:prstGeom prst="bentConnector3">
            <a:avLst>
              <a:gd name="adj1" fmla="val 404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3E78B338-496D-ACA9-CF1D-2D9BEC0A7E04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16200000" flipH="1">
            <a:off x="1642457" y="-6380707"/>
            <a:ext cx="494606" cy="16733522"/>
          </a:xfrm>
          <a:prstGeom prst="bentConnector3">
            <a:avLst>
              <a:gd name="adj1" fmla="val 3952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ED1103FC-32CD-4518-B2A0-E181B758E548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rot="5400000">
            <a:off x="15715905" y="723906"/>
            <a:ext cx="2161308" cy="41909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F7672732-22DF-3FAE-C50A-77B91AFE09B8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19803341" y="827467"/>
            <a:ext cx="2161308" cy="39838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7065545F-6BB1-477F-4145-5F1AD3CCB36F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 rot="16200000" flipH="1">
            <a:off x="23366904" y="-2736096"/>
            <a:ext cx="2161308" cy="111110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F9B1257E-1262-3F5A-CB27-D3FB69421A25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rot="16200000" flipH="1">
            <a:off x="26930465" y="-6299657"/>
            <a:ext cx="2161308" cy="18238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Diagonal Corners Rounded 83">
            <a:extLst>
              <a:ext uri="{FF2B5EF4-FFF2-40B4-BE49-F238E27FC236}">
                <a16:creationId xmlns:a16="http://schemas.microsoft.com/office/drawing/2014/main" id="{7A9933FB-E02E-AC60-4557-86CB019A6E21}"/>
              </a:ext>
            </a:extLst>
          </p:cNvPr>
          <p:cNvSpPr/>
          <p:nvPr/>
        </p:nvSpPr>
        <p:spPr>
          <a:xfrm>
            <a:off x="-11672804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How governments behave: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are leaders doing? Are countries friends or fighting?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Rules of the game: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laws are in place from countries or groups like the UN?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drama: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conflicts or arguments between countries?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Rectangle: Diagonal Corners Rounded 97">
            <a:extLst>
              <a:ext uri="{FF2B5EF4-FFF2-40B4-BE49-F238E27FC236}">
                <a16:creationId xmlns:a16="http://schemas.microsoft.com/office/drawing/2014/main" id="{1AA99256-2A5C-BDA2-EB92-B18EA4B10057}"/>
              </a:ext>
            </a:extLst>
          </p:cNvPr>
          <p:cNvSpPr/>
          <p:nvPr/>
        </p:nvSpPr>
        <p:spPr>
          <a:xfrm>
            <a:off x="-8078935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Money matters: Is the world economy doing well? Are countries rich or poor?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Fairness in money: Is there a big difference in wealth between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Where the money goes: How is money being spent on aid or development?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Rectangle: Diagonal Corners Rounded 98">
            <a:extLst>
              <a:ext uri="{FF2B5EF4-FFF2-40B4-BE49-F238E27FC236}">
                <a16:creationId xmlns:a16="http://schemas.microsoft.com/office/drawing/2014/main" id="{AB0899F1-28CA-6EFA-A4B5-1A0FA1ED3A18}"/>
              </a:ext>
            </a:extLst>
          </p:cNvPr>
          <p:cNvSpPr/>
          <p:nvPr/>
        </p:nvSpPr>
        <p:spPr>
          <a:xfrm>
            <a:off x="-4485066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power: What do regular people think about the problem? Are they angry or supportive?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Culture &amp; beliefs: Do traditions or different ways of life affect the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Moving people: Are people having to move from their homes, or are populations changing?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F647EB90-8352-725E-CDC3-F1266D4B72B8}"/>
              </a:ext>
            </a:extLst>
          </p:cNvPr>
          <p:cNvSpPr/>
          <p:nvPr/>
        </p:nvSpPr>
        <p:spPr>
          <a:xfrm>
            <a:off x="1415585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New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new technologies can help solve the problem? (Like apps or new ways to make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Bad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are bad guys using technology to cause problems? (Like hacking or spreading fake news)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Digital divide: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Do some people have access to technology while others don't?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C1145956-CEB2-4297-9199-F8A3FB165A50}"/>
              </a:ext>
            </a:extLst>
          </p:cNvPr>
          <p:cNvSpPr/>
          <p:nvPr/>
        </p:nvSpPr>
        <p:spPr>
          <a:xfrm>
            <a:off x="5009454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Big agreements: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global laws or treaties that everyone has agreed 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Local laws: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do a country's own laws affect the issue? </a:t>
            </a:r>
            <a:r>
              <a:rPr lang="en-US" sz="1400" i="1" u="sng" dirty="0">
                <a:solidFill>
                  <a:schemeClr val="tx1"/>
                </a:solidFill>
                <a:highlight>
                  <a:srgbClr val="C0C0C0"/>
                </a:highlight>
                <a:latin typeface="Century Gothic" panose="020B0502020202020204" pitchFamily="34" charset="0"/>
              </a:rPr>
              <a:t>(Lex Loci)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Legal fights: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countries arguing over who is in charge of a legal problem?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229D61AC-263A-A4A1-D582-4455AC36C9A4}"/>
              </a:ext>
            </a:extLst>
          </p:cNvPr>
          <p:cNvSpPr/>
          <p:nvPr/>
        </p:nvSpPr>
        <p:spPr>
          <a:xfrm>
            <a:off x="8603323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changes: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is climate change or pollution affecting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Using resources: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we running out of water or other important resources?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fury: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natural disasters making the problem worse?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BADDF2EB-BEB5-9D73-9719-62113FF3C875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F4DF92B5-02B9-C92F-C647-FFC45C1A1C83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9291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89F293-F9E4-E666-8C7C-1E5141527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1801E2-C927-4156-4DF2-FC82F84D800B}"/>
              </a:ext>
            </a:extLst>
          </p:cNvPr>
          <p:cNvSpPr/>
          <p:nvPr/>
        </p:nvSpPr>
        <p:spPr>
          <a:xfrm>
            <a:off x="3493597" y="1073441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9BD4C8-B854-6408-4FD8-8743C58AE212}"/>
              </a:ext>
            </a:extLst>
          </p:cNvPr>
          <p:cNvSpPr/>
          <p:nvPr/>
        </p:nvSpPr>
        <p:spPr>
          <a:xfrm>
            <a:off x="549509" y="2522278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A1392D-9CEB-D85F-4D04-44E2FE0A705E}"/>
              </a:ext>
            </a:extLst>
          </p:cNvPr>
          <p:cNvSpPr/>
          <p:nvPr/>
        </p:nvSpPr>
        <p:spPr>
          <a:xfrm>
            <a:off x="8652920" y="252227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B009F03-280D-5291-CB9F-317F1DCC116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8128755" y="478268"/>
            <a:ext cx="368182" cy="37198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7F2D955-589F-C6BE-8893-352BE2C0F19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4077050" y="146399"/>
            <a:ext cx="368183" cy="43835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C06D51-1B6E-FC90-9FB3-CB71BEB337C5}"/>
              </a:ext>
            </a:extLst>
          </p:cNvPr>
          <p:cNvSpPr/>
          <p:nvPr/>
        </p:nvSpPr>
        <p:spPr>
          <a:xfrm>
            <a:off x="2300115" y="3815568"/>
            <a:ext cx="1805477" cy="481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Political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229C15-E7A6-3696-45CE-59413AC0390A}"/>
              </a:ext>
            </a:extLst>
          </p:cNvPr>
          <p:cNvSpPr/>
          <p:nvPr/>
        </p:nvSpPr>
        <p:spPr>
          <a:xfrm>
            <a:off x="2300115" y="4289943"/>
            <a:ext cx="1805478" cy="481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Economic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20739-E906-96F3-0251-ECD8CA9D5B35}"/>
              </a:ext>
            </a:extLst>
          </p:cNvPr>
          <p:cNvSpPr/>
          <p:nvPr/>
        </p:nvSpPr>
        <p:spPr>
          <a:xfrm>
            <a:off x="2300114" y="4703917"/>
            <a:ext cx="1805477" cy="481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Social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417B3D-F9AA-5E84-0511-BEC1A302751D}"/>
              </a:ext>
            </a:extLst>
          </p:cNvPr>
          <p:cNvSpPr/>
          <p:nvPr/>
        </p:nvSpPr>
        <p:spPr>
          <a:xfrm>
            <a:off x="2300114" y="5139609"/>
            <a:ext cx="1805477" cy="45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Technological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68D7FA-069B-C968-FA39-C48495B0066B}"/>
              </a:ext>
            </a:extLst>
          </p:cNvPr>
          <p:cNvSpPr/>
          <p:nvPr/>
        </p:nvSpPr>
        <p:spPr>
          <a:xfrm>
            <a:off x="2300114" y="5583424"/>
            <a:ext cx="1805477" cy="45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Legal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DFBB6E-E937-C5B9-54AA-B72DEBE1C059}"/>
              </a:ext>
            </a:extLst>
          </p:cNvPr>
          <p:cNvSpPr/>
          <p:nvPr/>
        </p:nvSpPr>
        <p:spPr>
          <a:xfrm>
            <a:off x="2300114" y="6048034"/>
            <a:ext cx="1805477" cy="5651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030D51-996E-37BA-7A35-1385E36F0BCB}"/>
              </a:ext>
            </a:extLst>
          </p:cNvPr>
          <p:cNvSpPr/>
          <p:nvPr/>
        </p:nvSpPr>
        <p:spPr>
          <a:xfrm>
            <a:off x="8186162" y="3798327"/>
            <a:ext cx="1805478" cy="515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Strength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30298-BBDC-106A-8C42-93A8813286D8}"/>
              </a:ext>
            </a:extLst>
          </p:cNvPr>
          <p:cNvSpPr/>
          <p:nvPr/>
        </p:nvSpPr>
        <p:spPr>
          <a:xfrm>
            <a:off x="8186162" y="4313848"/>
            <a:ext cx="1767554" cy="526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Weakness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F8515D-777E-2BFA-7499-A20B04AED4B7}"/>
              </a:ext>
            </a:extLst>
          </p:cNvPr>
          <p:cNvSpPr/>
          <p:nvPr/>
        </p:nvSpPr>
        <p:spPr>
          <a:xfrm>
            <a:off x="8186161" y="4801052"/>
            <a:ext cx="1767554" cy="526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Opportunities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3240ED-EEC5-31FA-95F0-84ABE335EF9D}"/>
              </a:ext>
            </a:extLst>
          </p:cNvPr>
          <p:cNvSpPr/>
          <p:nvPr/>
        </p:nvSpPr>
        <p:spPr>
          <a:xfrm>
            <a:off x="8186162" y="5201157"/>
            <a:ext cx="1767554" cy="45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96EDF8F5-FB28-BA05-FB38-FC2344E08255}"/>
              </a:ext>
            </a:extLst>
          </p:cNvPr>
          <p:cNvCxnSpPr>
            <a:cxnSpLocks/>
            <a:stCxn id="7" idx="2"/>
            <a:endCxn id="14" idx="1"/>
          </p:cNvCxnSpPr>
          <p:nvPr/>
        </p:nvCxnSpPr>
        <p:spPr>
          <a:xfrm rot="16200000" flipH="1">
            <a:off x="1958156" y="3714129"/>
            <a:ext cx="453156" cy="2307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91F96E34-610F-67FE-6E8E-718C26760FD2}"/>
              </a:ext>
            </a:extLst>
          </p:cNvPr>
          <p:cNvCxnSpPr>
            <a:cxnSpLocks/>
            <a:stCxn id="7" idx="2"/>
            <a:endCxn id="17" idx="1"/>
          </p:cNvCxnSpPr>
          <p:nvPr/>
        </p:nvCxnSpPr>
        <p:spPr>
          <a:xfrm rot="16200000" flipH="1">
            <a:off x="1720969" y="3951316"/>
            <a:ext cx="927531" cy="2307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1387DE7-20C4-103D-C761-11E8CC98A245}"/>
              </a:ext>
            </a:extLst>
          </p:cNvPr>
          <p:cNvCxnSpPr>
            <a:cxnSpLocks/>
            <a:stCxn id="7" idx="2"/>
            <a:endCxn id="18" idx="1"/>
          </p:cNvCxnSpPr>
          <p:nvPr/>
        </p:nvCxnSpPr>
        <p:spPr>
          <a:xfrm rot="16200000" flipH="1">
            <a:off x="1513981" y="4158303"/>
            <a:ext cx="1341505" cy="230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1647715-50AD-5C6D-D5AF-C55E2FBA6A2B}"/>
              </a:ext>
            </a:extLst>
          </p:cNvPr>
          <p:cNvCxnSpPr>
            <a:cxnSpLocks/>
            <a:stCxn id="7" idx="2"/>
            <a:endCxn id="19" idx="1"/>
          </p:cNvCxnSpPr>
          <p:nvPr/>
        </p:nvCxnSpPr>
        <p:spPr>
          <a:xfrm rot="16200000" flipH="1">
            <a:off x="1303064" y="4369220"/>
            <a:ext cx="1763338" cy="230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0429D455-5C35-8A9C-7262-0A9C4B2F2EC9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1081157" y="4591127"/>
            <a:ext cx="2207153" cy="230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7CA888B-AC16-9E7C-8B04-B979FDCC0E4D}"/>
              </a:ext>
            </a:extLst>
          </p:cNvPr>
          <p:cNvCxnSpPr>
            <a:cxnSpLocks/>
            <a:stCxn id="7" idx="2"/>
            <a:endCxn id="21" idx="1"/>
          </p:cNvCxnSpPr>
          <p:nvPr/>
        </p:nvCxnSpPr>
        <p:spPr>
          <a:xfrm rot="16200000" flipH="1">
            <a:off x="820896" y="4851388"/>
            <a:ext cx="2727674" cy="230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28672AD3-E68D-3868-03F5-E779BB0AE8D7}"/>
              </a:ext>
            </a:extLst>
          </p:cNvPr>
          <p:cNvCxnSpPr>
            <a:cxnSpLocks/>
            <a:stCxn id="8" idx="2"/>
            <a:endCxn id="22" idx="3"/>
          </p:cNvCxnSpPr>
          <p:nvPr/>
        </p:nvCxnSpPr>
        <p:spPr>
          <a:xfrm rot="5400000">
            <a:off x="9855624" y="3738947"/>
            <a:ext cx="453157" cy="1811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06934014-81AD-8941-C70E-3CA489F8FDB7}"/>
              </a:ext>
            </a:extLst>
          </p:cNvPr>
          <p:cNvCxnSpPr>
            <a:cxnSpLocks/>
            <a:stCxn id="8" idx="2"/>
            <a:endCxn id="23" idx="3"/>
          </p:cNvCxnSpPr>
          <p:nvPr/>
        </p:nvCxnSpPr>
        <p:spPr>
          <a:xfrm rot="5400000">
            <a:off x="9576071" y="3980576"/>
            <a:ext cx="974338" cy="2190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C1C71021-E60C-6704-9768-1FF6F2A440AD}"/>
              </a:ext>
            </a:extLst>
          </p:cNvPr>
          <p:cNvCxnSpPr>
            <a:cxnSpLocks/>
            <a:stCxn id="8" idx="2"/>
            <a:endCxn id="24" idx="3"/>
          </p:cNvCxnSpPr>
          <p:nvPr/>
        </p:nvCxnSpPr>
        <p:spPr>
          <a:xfrm rot="5400000">
            <a:off x="9332469" y="4224178"/>
            <a:ext cx="1461542" cy="2190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A79F6369-56CA-4102-DDB5-D83A48555A3E}"/>
              </a:ext>
            </a:extLst>
          </p:cNvPr>
          <p:cNvCxnSpPr>
            <a:cxnSpLocks/>
            <a:stCxn id="8" idx="2"/>
            <a:endCxn id="25" idx="3"/>
          </p:cNvCxnSpPr>
          <p:nvPr/>
        </p:nvCxnSpPr>
        <p:spPr>
          <a:xfrm rot="5400000">
            <a:off x="9150797" y="4405850"/>
            <a:ext cx="1824887" cy="2190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Diagonal Corners Rounded 83">
            <a:extLst>
              <a:ext uri="{FF2B5EF4-FFF2-40B4-BE49-F238E27FC236}">
                <a16:creationId xmlns:a16="http://schemas.microsoft.com/office/drawing/2014/main" id="{CCA910D3-1710-3AD4-0D92-7F99AB875AD4}"/>
              </a:ext>
            </a:extLst>
          </p:cNvPr>
          <p:cNvSpPr/>
          <p:nvPr/>
        </p:nvSpPr>
        <p:spPr>
          <a:xfrm>
            <a:off x="-39306678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How governments behave: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are leaders doing? Are countries friends or fighting?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Rules of the game: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laws are in place from countries or groups like the UN?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drama: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conflicts or arguments between countries?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Rectangle: Diagonal Corners Rounded 97">
            <a:extLst>
              <a:ext uri="{FF2B5EF4-FFF2-40B4-BE49-F238E27FC236}">
                <a16:creationId xmlns:a16="http://schemas.microsoft.com/office/drawing/2014/main" id="{FA54BC9D-12BE-1B94-4FB5-CF7431D1B946}"/>
              </a:ext>
            </a:extLst>
          </p:cNvPr>
          <p:cNvSpPr/>
          <p:nvPr/>
        </p:nvSpPr>
        <p:spPr>
          <a:xfrm>
            <a:off x="-35712809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Money matters: Is the world economy doing well? Are countries rich or poor?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Fairness in money: Is there a big difference in wealth between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Where the money goes: How is money being spent on aid or development?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Rectangle: Diagonal Corners Rounded 98">
            <a:extLst>
              <a:ext uri="{FF2B5EF4-FFF2-40B4-BE49-F238E27FC236}">
                <a16:creationId xmlns:a16="http://schemas.microsoft.com/office/drawing/2014/main" id="{17C161F6-63E1-8151-9809-0B3F5580AC3E}"/>
              </a:ext>
            </a:extLst>
          </p:cNvPr>
          <p:cNvSpPr/>
          <p:nvPr/>
        </p:nvSpPr>
        <p:spPr>
          <a:xfrm>
            <a:off x="-32118940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power: What do regular people think about the problem? Are they angry or supportive?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Culture &amp; beliefs: Do traditions or different ways of life affect the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Moving people: Are people having to move from their homes, or are populations changing?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EE628D9F-E656-05CD-24A7-FBDA5E637AA3}"/>
              </a:ext>
            </a:extLst>
          </p:cNvPr>
          <p:cNvSpPr/>
          <p:nvPr/>
        </p:nvSpPr>
        <p:spPr>
          <a:xfrm>
            <a:off x="-26218289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New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new technologies can help solve the problem? (Like apps or new ways to make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Bad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are bad guys using technology to cause problems? (Like hacking or spreading fake news)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Digital divide: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Do some people have access to technology while others don't?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E4E16068-52D2-9D2F-C90F-C1E4307F56AD}"/>
              </a:ext>
            </a:extLst>
          </p:cNvPr>
          <p:cNvSpPr/>
          <p:nvPr/>
        </p:nvSpPr>
        <p:spPr>
          <a:xfrm>
            <a:off x="-22624420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Big agreements: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global laws or treaties that everyone has agreed 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Local laws: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do a country's own laws affect the issue? </a:t>
            </a:r>
            <a:r>
              <a:rPr lang="en-US" sz="1400" i="1" u="sng" dirty="0">
                <a:solidFill>
                  <a:schemeClr val="tx1"/>
                </a:solidFill>
                <a:highlight>
                  <a:srgbClr val="C0C0C0"/>
                </a:highlight>
                <a:latin typeface="Century Gothic" panose="020B0502020202020204" pitchFamily="34" charset="0"/>
              </a:rPr>
              <a:t>(Lex Loci)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Legal fights: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countries arguing over who is in charge of a legal problem?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7DF1D27F-F6E7-9F49-913B-897E89537142}"/>
              </a:ext>
            </a:extLst>
          </p:cNvPr>
          <p:cNvSpPr/>
          <p:nvPr/>
        </p:nvSpPr>
        <p:spPr>
          <a:xfrm>
            <a:off x="-19030551" y="169563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changes: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is climate change or pollution affecting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Using resources: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we running out of water or other important resources?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fury: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natural disasters making the problem worse?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C683EED4-BC08-00D1-A6FE-B9C7080B5594}"/>
              </a:ext>
            </a:extLst>
          </p:cNvPr>
          <p:cNvSpPr/>
          <p:nvPr/>
        </p:nvSpPr>
        <p:spPr>
          <a:xfrm flipH="1">
            <a:off x="-14170834" y="18171160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 we have going for 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Ready-to-go groups like the UN and WHO.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Amazing technology that can help.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around the world who care and are talking about it.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327704CF-3659-554D-5450-A8CFD4C758DD}"/>
              </a:ext>
            </a:extLst>
          </p:cNvPr>
          <p:cNvSpPr/>
          <p:nvPr/>
        </p:nvSpPr>
        <p:spPr>
          <a:xfrm>
            <a:off x="-8226253" y="1824670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What's holding us back: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Countries don't want others telling them what to 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 one can force a country to follow the rules.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Not enough money or people to get the job done.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arguments and bias get in the way.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4B87EE2D-4576-8074-F66E-6354AC4ADA26}"/>
              </a:ext>
            </a:extLst>
          </p:cNvPr>
          <p:cNvSpPr/>
          <p:nvPr/>
        </p:nvSpPr>
        <p:spPr>
          <a:xfrm flipH="1">
            <a:off x="1131166" y="1824670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Good chances we can take: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diplomatic talks could start.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technology could create a breakthrough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are more active and want to help.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ways of doing business could lead to a solution.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CDB703E5-32D0-ADCB-1362-D412FB695A56}"/>
              </a:ext>
            </a:extLst>
          </p:cNvPr>
          <p:cNvSpPr/>
          <p:nvPr/>
        </p:nvSpPr>
        <p:spPr>
          <a:xfrm>
            <a:off x="7075747" y="18322258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Risks we need to watch out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chaos in a country.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 worldwide money problem (like a recession).New diseases or global security risks.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Worsening environmental disasters.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9E31CD-D381-8219-D46C-0D366C5079DD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B98935CC-DA29-299E-9686-7B5506276866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8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39888-C613-FA59-C82E-BB85B014A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BA3C5E-204C-ABCB-9651-7FF8488F8D15}"/>
              </a:ext>
            </a:extLst>
          </p:cNvPr>
          <p:cNvSpPr/>
          <p:nvPr/>
        </p:nvSpPr>
        <p:spPr>
          <a:xfrm>
            <a:off x="3136669" y="-12216934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C8810A-038C-E097-EF86-ED3029D049C3}"/>
              </a:ext>
            </a:extLst>
          </p:cNvPr>
          <p:cNvSpPr/>
          <p:nvPr/>
        </p:nvSpPr>
        <p:spPr>
          <a:xfrm>
            <a:off x="-21081078" y="187038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5FEFCB-4D86-F95C-F081-C8EF50B8CF51}"/>
              </a:ext>
            </a:extLst>
          </p:cNvPr>
          <p:cNvSpPr/>
          <p:nvPr/>
        </p:nvSpPr>
        <p:spPr>
          <a:xfrm>
            <a:off x="4569806" y="43799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E1E55C0-8404-0AC9-FC22-871C6718030F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5400000">
            <a:off x="305687" y="-5352317"/>
            <a:ext cx="11574277" cy="63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0418016-F69E-CFC0-01BD-F6AA38E69868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-12394276" y="-18303238"/>
            <a:ext cx="11323318" cy="256572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F6F3762-56EA-D487-C004-18D11B2623A9}"/>
              </a:ext>
            </a:extLst>
          </p:cNvPr>
          <p:cNvSpPr/>
          <p:nvPr/>
        </p:nvSpPr>
        <p:spPr>
          <a:xfrm>
            <a:off x="-24674948" y="1762298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Political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5AA18C-568B-5FAF-A4CC-C9499A4B49E0}"/>
              </a:ext>
            </a:extLst>
          </p:cNvPr>
          <p:cNvSpPr/>
          <p:nvPr/>
        </p:nvSpPr>
        <p:spPr>
          <a:xfrm>
            <a:off x="-21081079" y="1762298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Economic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EC0111-A2E1-4206-C0BA-C91EB5DF201E}"/>
              </a:ext>
            </a:extLst>
          </p:cNvPr>
          <p:cNvSpPr/>
          <p:nvPr/>
        </p:nvSpPr>
        <p:spPr>
          <a:xfrm>
            <a:off x="-17487210" y="1762298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Social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7DC616-6F22-BC32-CC6F-65964B8FA770}"/>
              </a:ext>
            </a:extLst>
          </p:cNvPr>
          <p:cNvSpPr/>
          <p:nvPr/>
        </p:nvSpPr>
        <p:spPr>
          <a:xfrm>
            <a:off x="-11535294" y="1762298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Technological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B8B209-7A0F-A8F7-59AB-803F5CE86938}"/>
              </a:ext>
            </a:extLst>
          </p:cNvPr>
          <p:cNvSpPr/>
          <p:nvPr/>
        </p:nvSpPr>
        <p:spPr>
          <a:xfrm>
            <a:off x="-7941425" y="1762298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Legal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99F8A3-916A-2C83-6410-541A6D117868}"/>
              </a:ext>
            </a:extLst>
          </p:cNvPr>
          <p:cNvSpPr/>
          <p:nvPr/>
        </p:nvSpPr>
        <p:spPr>
          <a:xfrm>
            <a:off x="-4347556" y="1762298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7D3383-99FE-A2D9-577B-D3FE202AECB9}"/>
              </a:ext>
            </a:extLst>
          </p:cNvPr>
          <p:cNvSpPr/>
          <p:nvPr/>
        </p:nvSpPr>
        <p:spPr>
          <a:xfrm>
            <a:off x="378807" y="310083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Strength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A7E278-CE84-968D-5432-7D8C30D124C4}"/>
              </a:ext>
            </a:extLst>
          </p:cNvPr>
          <p:cNvSpPr/>
          <p:nvPr/>
        </p:nvSpPr>
        <p:spPr>
          <a:xfrm>
            <a:off x="8553681" y="310083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Weakness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DDED38-B3B9-A783-F1DA-49377FC82540}"/>
              </a:ext>
            </a:extLst>
          </p:cNvPr>
          <p:cNvSpPr/>
          <p:nvPr/>
        </p:nvSpPr>
        <p:spPr>
          <a:xfrm>
            <a:off x="15680807" y="310083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Opportunities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674133-114E-0549-2F08-7EC086352A23}"/>
              </a:ext>
            </a:extLst>
          </p:cNvPr>
          <p:cNvSpPr/>
          <p:nvPr/>
        </p:nvSpPr>
        <p:spPr>
          <a:xfrm>
            <a:off x="22807929" y="310083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CEFA216-81EE-F378-EC5C-E863CDAABC99}"/>
              </a:ext>
            </a:extLst>
          </p:cNvPr>
          <p:cNvCxnSpPr>
            <a:cxnSpLocks/>
          </p:cNvCxnSpPr>
          <p:nvPr/>
        </p:nvCxnSpPr>
        <p:spPr>
          <a:xfrm rot="5400000">
            <a:off x="-21545898" y="-222364"/>
            <a:ext cx="494606" cy="3474719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F22C222-DE47-8387-56C4-E9ACC40F0ACE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5400000">
            <a:off x="-19808537" y="1514995"/>
            <a:ext cx="49460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1F566BA1-04E6-9097-4C63-E893979CAB51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16200000" flipH="1">
            <a:off x="-18011603" y="-281939"/>
            <a:ext cx="494606" cy="3593868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94F6D77-CFB1-B67A-4D1A-D7EF642CB492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16200000" flipH="1">
            <a:off x="-15035645" y="-3257897"/>
            <a:ext cx="494606" cy="9545784"/>
          </a:xfrm>
          <a:prstGeom prst="bentConnector3">
            <a:avLst>
              <a:gd name="adj1" fmla="val 385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038EFD6-E56B-4772-0715-98AE33F9DE6A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rot="16200000" flipH="1">
            <a:off x="-13238711" y="-5054832"/>
            <a:ext cx="494606" cy="13139653"/>
          </a:xfrm>
          <a:prstGeom prst="bentConnector3">
            <a:avLst>
              <a:gd name="adj1" fmla="val 404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CF21F77-EB2F-1F96-606C-EAB21E5E2F2F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16200000" flipH="1">
            <a:off x="-11441776" y="-6851766"/>
            <a:ext cx="494606" cy="16733522"/>
          </a:xfrm>
          <a:prstGeom prst="bentConnector3">
            <a:avLst>
              <a:gd name="adj1" fmla="val 3952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50464D8C-5ED0-DA35-EB4C-581A0945F909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rot="5400000">
            <a:off x="3203057" y="214246"/>
            <a:ext cx="1582188" cy="41909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388CBAAB-B91B-20E0-6B57-5282378A844B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7290493" y="317807"/>
            <a:ext cx="1582188" cy="39838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D7075104-B33D-AE00-E17D-DDBEE24BDAEB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 rot="16200000" flipH="1">
            <a:off x="10854056" y="-3245756"/>
            <a:ext cx="1582188" cy="111110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67D5C8B4-ED18-43CD-9C9D-96F831CD31FE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rot="16200000" flipH="1">
            <a:off x="14417617" y="-6809317"/>
            <a:ext cx="1582188" cy="18238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Diagonal Corners Rounded 83">
            <a:extLst>
              <a:ext uri="{FF2B5EF4-FFF2-40B4-BE49-F238E27FC236}">
                <a16:creationId xmlns:a16="http://schemas.microsoft.com/office/drawing/2014/main" id="{5E17F9A3-EF9F-7997-EC19-A164B0AD8112}"/>
              </a:ext>
            </a:extLst>
          </p:cNvPr>
          <p:cNvSpPr/>
          <p:nvPr/>
        </p:nvSpPr>
        <p:spPr>
          <a:xfrm>
            <a:off x="-24757037" y="2698864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How governments behave: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are leaders doing? Are countries friends or fighting?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Rules of the game: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laws are in place from countries or groups like the UN?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drama: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conflicts or arguments between countries?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Rectangle: Diagonal Corners Rounded 97">
            <a:extLst>
              <a:ext uri="{FF2B5EF4-FFF2-40B4-BE49-F238E27FC236}">
                <a16:creationId xmlns:a16="http://schemas.microsoft.com/office/drawing/2014/main" id="{28815BF8-34BB-945C-DBEF-486C284C8AEA}"/>
              </a:ext>
            </a:extLst>
          </p:cNvPr>
          <p:cNvSpPr/>
          <p:nvPr/>
        </p:nvSpPr>
        <p:spPr>
          <a:xfrm>
            <a:off x="-21163168" y="2698864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Money matters: Is the world economy doing well? Are countries rich or poor?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Fairness in money: Is there a big difference in wealth between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Where the money goes: How is money being spent on aid or development?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Rectangle: Diagonal Corners Rounded 98">
            <a:extLst>
              <a:ext uri="{FF2B5EF4-FFF2-40B4-BE49-F238E27FC236}">
                <a16:creationId xmlns:a16="http://schemas.microsoft.com/office/drawing/2014/main" id="{33E9D042-CC59-973B-34DF-D9537FC06FE9}"/>
              </a:ext>
            </a:extLst>
          </p:cNvPr>
          <p:cNvSpPr/>
          <p:nvPr/>
        </p:nvSpPr>
        <p:spPr>
          <a:xfrm>
            <a:off x="-17569299" y="2698864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power: What do regular people think about the problem? Are they angry or supportive?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Culture &amp; beliefs: Do traditions or different ways of life affect the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Moving people: Are people having to move from their homes, or are populations changing?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29003EC0-6D47-E81F-1B42-5A65BC7F397C}"/>
              </a:ext>
            </a:extLst>
          </p:cNvPr>
          <p:cNvSpPr/>
          <p:nvPr/>
        </p:nvSpPr>
        <p:spPr>
          <a:xfrm>
            <a:off x="-11668648" y="2698864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New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new technologies can help solve the problem? (Like apps or new ways to make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Bad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are bad guys using technology to cause problems? (Like hacking or spreading fake news)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Digital divide: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Do some people have access to technology while others don't?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5064CC4A-097E-AC4B-42F7-05DD147B63D2}"/>
              </a:ext>
            </a:extLst>
          </p:cNvPr>
          <p:cNvSpPr/>
          <p:nvPr/>
        </p:nvSpPr>
        <p:spPr>
          <a:xfrm>
            <a:off x="-8074779" y="2698864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Big agreements: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global laws or treaties that everyone has agreed 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Local laws: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do a country's own laws affect the issue? </a:t>
            </a:r>
            <a:r>
              <a:rPr lang="en-US" sz="1400" i="1" u="sng" dirty="0">
                <a:solidFill>
                  <a:schemeClr val="tx1"/>
                </a:solidFill>
                <a:highlight>
                  <a:srgbClr val="C0C0C0"/>
                </a:highlight>
                <a:latin typeface="Century Gothic" panose="020B0502020202020204" pitchFamily="34" charset="0"/>
              </a:rPr>
              <a:t>(Lex Loci)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Legal fights: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countries arguing over who is in charge of a legal problem?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BACE99A2-6041-E1C5-8800-93E40E58521C}"/>
              </a:ext>
            </a:extLst>
          </p:cNvPr>
          <p:cNvSpPr/>
          <p:nvPr/>
        </p:nvSpPr>
        <p:spPr>
          <a:xfrm>
            <a:off x="-4480910" y="2698864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changes: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is climate change or pollution affecting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Using resources: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we running out of water or other important resources?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fury: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natural disasters making the problem worse?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C664472B-381D-D754-6E94-9C7D02FFD844}"/>
              </a:ext>
            </a:extLst>
          </p:cNvPr>
          <p:cNvSpPr/>
          <p:nvPr/>
        </p:nvSpPr>
        <p:spPr>
          <a:xfrm flipH="1">
            <a:off x="378807" y="391363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 we have going for 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Ready-to-go groups like the UN and WHO.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Amazing technology that can help.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around the world who care and are talking about it.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1D83A8B2-A89B-0425-115A-5D6911BF2350}"/>
              </a:ext>
            </a:extLst>
          </p:cNvPr>
          <p:cNvSpPr/>
          <p:nvPr/>
        </p:nvSpPr>
        <p:spPr>
          <a:xfrm>
            <a:off x="6323388" y="3989188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What's holding us back: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Countries don't want others telling them what to 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 one can force a country to follow the rules.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Not enough money or people to get the job done.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arguments and bias get in the way.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FD43B76A-5168-C38E-A2E4-872A28C93829}"/>
              </a:ext>
            </a:extLst>
          </p:cNvPr>
          <p:cNvSpPr/>
          <p:nvPr/>
        </p:nvSpPr>
        <p:spPr>
          <a:xfrm flipH="1">
            <a:off x="15680807" y="3989188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58639C77-C044-91A7-BCFD-00ED27F0453F}"/>
              </a:ext>
            </a:extLst>
          </p:cNvPr>
          <p:cNvSpPr/>
          <p:nvPr/>
        </p:nvSpPr>
        <p:spPr>
          <a:xfrm>
            <a:off x="21625388" y="4064737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Freeform 4">
            <a:extLst>
              <a:ext uri="{FF2B5EF4-FFF2-40B4-BE49-F238E27FC236}">
                <a16:creationId xmlns:a16="http://schemas.microsoft.com/office/drawing/2014/main" id="{93560485-0FCE-8339-AA81-4FFAACD65A6E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5A48BE8D-D42E-95F0-E4B3-4F46495FE81B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67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8DECC-384F-875B-1F6C-D5096C6AB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EC3A21-0916-3C90-B789-7981566A7829}"/>
              </a:ext>
            </a:extLst>
          </p:cNvPr>
          <p:cNvSpPr/>
          <p:nvPr/>
        </p:nvSpPr>
        <p:spPr>
          <a:xfrm>
            <a:off x="3136669" y="-12216934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5FF6EB-2FB3-D34C-919E-7EA31D025CAA}"/>
              </a:ext>
            </a:extLst>
          </p:cNvPr>
          <p:cNvSpPr/>
          <p:nvPr/>
        </p:nvSpPr>
        <p:spPr>
          <a:xfrm>
            <a:off x="-35836228" y="-185841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99A8AC-68EB-B488-9CEB-4A596C33F55B}"/>
              </a:ext>
            </a:extLst>
          </p:cNvPr>
          <p:cNvSpPr/>
          <p:nvPr/>
        </p:nvSpPr>
        <p:spPr>
          <a:xfrm>
            <a:off x="-10185344" y="65118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20DEEE9-1020-14A1-791F-86787652427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5400000">
            <a:off x="-6885449" y="-12916331"/>
            <a:ext cx="11201398" cy="147615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F39B9C2-EAAC-8393-9A11-46CA41E4C6D6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-19585411" y="-25867253"/>
            <a:ext cx="10950439" cy="404123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F3BD274-4C08-E699-2BBA-895902B58DC9}"/>
              </a:ext>
            </a:extLst>
          </p:cNvPr>
          <p:cNvSpPr/>
          <p:nvPr/>
        </p:nvSpPr>
        <p:spPr>
          <a:xfrm>
            <a:off x="-39430098" y="138941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Political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CED8E7-15FD-6CAA-5859-EBBA58F8B1BA}"/>
              </a:ext>
            </a:extLst>
          </p:cNvPr>
          <p:cNvSpPr/>
          <p:nvPr/>
        </p:nvSpPr>
        <p:spPr>
          <a:xfrm>
            <a:off x="-35836229" y="138941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Economic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C200CA-8695-FC03-ECD3-B00DF4619D56}"/>
              </a:ext>
            </a:extLst>
          </p:cNvPr>
          <p:cNvSpPr/>
          <p:nvPr/>
        </p:nvSpPr>
        <p:spPr>
          <a:xfrm>
            <a:off x="-32242360" y="138941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Social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47E9BD-684B-7832-E9DE-359FE850D417}"/>
              </a:ext>
            </a:extLst>
          </p:cNvPr>
          <p:cNvSpPr/>
          <p:nvPr/>
        </p:nvSpPr>
        <p:spPr>
          <a:xfrm>
            <a:off x="-26290444" y="138941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Technological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9132CB-7256-F641-C755-AE76AA0ED09F}"/>
              </a:ext>
            </a:extLst>
          </p:cNvPr>
          <p:cNvSpPr/>
          <p:nvPr/>
        </p:nvSpPr>
        <p:spPr>
          <a:xfrm>
            <a:off x="-22696575" y="138941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Legal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0AB1DC-B119-7C08-42D6-837AA445C643}"/>
              </a:ext>
            </a:extLst>
          </p:cNvPr>
          <p:cNvSpPr/>
          <p:nvPr/>
        </p:nvSpPr>
        <p:spPr>
          <a:xfrm>
            <a:off x="-19102706" y="138941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F76740-994A-11EE-2696-C2720676D9CD}"/>
              </a:ext>
            </a:extLst>
          </p:cNvPr>
          <p:cNvSpPr/>
          <p:nvPr/>
        </p:nvSpPr>
        <p:spPr>
          <a:xfrm>
            <a:off x="-14376343" y="2727960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Strength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D11B9E-C82A-7C27-31B4-97F8BF3E0375}"/>
              </a:ext>
            </a:extLst>
          </p:cNvPr>
          <p:cNvSpPr/>
          <p:nvPr/>
        </p:nvSpPr>
        <p:spPr>
          <a:xfrm>
            <a:off x="-6201469" y="2727960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Weakness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AC7755-9E44-1134-1301-B9274BE97133}"/>
              </a:ext>
            </a:extLst>
          </p:cNvPr>
          <p:cNvSpPr/>
          <p:nvPr/>
        </p:nvSpPr>
        <p:spPr>
          <a:xfrm>
            <a:off x="925657" y="2727960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Opportunities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664266-2290-B868-CD9D-25CC0FA1EA50}"/>
              </a:ext>
            </a:extLst>
          </p:cNvPr>
          <p:cNvSpPr/>
          <p:nvPr/>
        </p:nvSpPr>
        <p:spPr>
          <a:xfrm>
            <a:off x="8052779" y="2727960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1F1646D-D94F-A406-5E8C-6819D387DC0F}"/>
              </a:ext>
            </a:extLst>
          </p:cNvPr>
          <p:cNvCxnSpPr>
            <a:cxnSpLocks/>
          </p:cNvCxnSpPr>
          <p:nvPr/>
        </p:nvCxnSpPr>
        <p:spPr>
          <a:xfrm rot="5400000">
            <a:off x="-36301048" y="-595243"/>
            <a:ext cx="494606" cy="3474719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C571181A-88DA-A5DD-C97E-AB4C29C7857A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5400000">
            <a:off x="-34563687" y="1142116"/>
            <a:ext cx="49460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6722E09-6536-F1A8-88E8-6F6EACB37E5E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16200000" flipH="1">
            <a:off x="-32766753" y="-654818"/>
            <a:ext cx="494606" cy="3593868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58C25270-64C1-7FE1-B000-852F7BF77D9E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16200000" flipH="1">
            <a:off x="-29790795" y="-3630776"/>
            <a:ext cx="494606" cy="9545784"/>
          </a:xfrm>
          <a:prstGeom prst="bentConnector3">
            <a:avLst>
              <a:gd name="adj1" fmla="val 385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94C75585-C258-EF1E-8BA3-004D77E9ED4D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rot="16200000" flipH="1">
            <a:off x="-27993861" y="-5427711"/>
            <a:ext cx="494606" cy="13139653"/>
          </a:xfrm>
          <a:prstGeom prst="bentConnector3">
            <a:avLst>
              <a:gd name="adj1" fmla="val 404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24FE5CC1-B796-C60D-57FC-91DA04EE5C76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16200000" flipH="1">
            <a:off x="-26196926" y="-7224645"/>
            <a:ext cx="494606" cy="16733522"/>
          </a:xfrm>
          <a:prstGeom prst="bentConnector3">
            <a:avLst>
              <a:gd name="adj1" fmla="val 3952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D102A951-1B60-85F4-8919-98246849EB0C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rot="5400000">
            <a:off x="-11552093" y="-158633"/>
            <a:ext cx="1582188" cy="41909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C208BCBB-B093-CF69-FD88-1ED2766447D2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-7464657" y="-55072"/>
            <a:ext cx="1582188" cy="39838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62D7CD1A-26C0-3206-4CC6-056ACF99D0AC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 rot="16200000" flipH="1">
            <a:off x="-3901094" y="-3618635"/>
            <a:ext cx="1582188" cy="111110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1BD8A26E-8A4C-06D7-439D-F84A1D7362E3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rot="16200000" flipH="1">
            <a:off x="-337533" y="-7182196"/>
            <a:ext cx="1582188" cy="18238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Diagonal Corners Rounded 83">
            <a:extLst>
              <a:ext uri="{FF2B5EF4-FFF2-40B4-BE49-F238E27FC236}">
                <a16:creationId xmlns:a16="http://schemas.microsoft.com/office/drawing/2014/main" id="{135F9CE4-20C9-E257-514D-EBB71D76F36D}"/>
              </a:ext>
            </a:extLst>
          </p:cNvPr>
          <p:cNvSpPr/>
          <p:nvPr/>
        </p:nvSpPr>
        <p:spPr>
          <a:xfrm>
            <a:off x="-39512187" y="23259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How governments behave: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are leaders doing? Are countries friends or fighting?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Rules of the game: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laws are in place from countries or groups like the UN?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drama: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conflicts or arguments between countries?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Rectangle: Diagonal Corners Rounded 97">
            <a:extLst>
              <a:ext uri="{FF2B5EF4-FFF2-40B4-BE49-F238E27FC236}">
                <a16:creationId xmlns:a16="http://schemas.microsoft.com/office/drawing/2014/main" id="{15C5E638-03D8-F195-7FC7-0E2913D6DA73}"/>
              </a:ext>
            </a:extLst>
          </p:cNvPr>
          <p:cNvSpPr/>
          <p:nvPr/>
        </p:nvSpPr>
        <p:spPr>
          <a:xfrm>
            <a:off x="-35918318" y="23259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Money matters: Is the world economy doing well? Are countries rich or poor?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Fairness in money: Is there a big difference in wealth between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Where the money goes: How is money being spent on aid or development?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Rectangle: Diagonal Corners Rounded 98">
            <a:extLst>
              <a:ext uri="{FF2B5EF4-FFF2-40B4-BE49-F238E27FC236}">
                <a16:creationId xmlns:a16="http://schemas.microsoft.com/office/drawing/2014/main" id="{30FD6835-C993-573A-7058-E342A39FA102}"/>
              </a:ext>
            </a:extLst>
          </p:cNvPr>
          <p:cNvSpPr/>
          <p:nvPr/>
        </p:nvSpPr>
        <p:spPr>
          <a:xfrm>
            <a:off x="-32324449" y="23259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power: What do regular people think about the problem? Are they angry or supportive?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Culture &amp; beliefs: Do traditions or different ways of life affect the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Moving people: Are people having to move from their homes, or are populations changing?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F45BB3A9-D537-1D5E-E39B-C4750A238124}"/>
              </a:ext>
            </a:extLst>
          </p:cNvPr>
          <p:cNvSpPr/>
          <p:nvPr/>
        </p:nvSpPr>
        <p:spPr>
          <a:xfrm>
            <a:off x="-26423798" y="23259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New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new technologies can help solve the problem? (Like apps or new ways to make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Bad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are bad guys using technology to cause problems? (Like hacking or spreading fake news)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Digital divide: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Do some people have access to technology while others don't?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3C54B9A3-D441-CC8A-B00B-1817E9AC7E34}"/>
              </a:ext>
            </a:extLst>
          </p:cNvPr>
          <p:cNvSpPr/>
          <p:nvPr/>
        </p:nvSpPr>
        <p:spPr>
          <a:xfrm>
            <a:off x="-22829929" y="23259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Big agreements: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global laws or treaties that everyone has agreed 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Local laws: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do a country's own laws affect the issue? </a:t>
            </a:r>
            <a:r>
              <a:rPr lang="en-US" sz="1400" i="1" u="sng" dirty="0">
                <a:solidFill>
                  <a:schemeClr val="tx1"/>
                </a:solidFill>
                <a:highlight>
                  <a:srgbClr val="C0C0C0"/>
                </a:highlight>
                <a:latin typeface="Century Gothic" panose="020B0502020202020204" pitchFamily="34" charset="0"/>
              </a:rPr>
              <a:t>(Lex Loci)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Legal fights: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countries arguing over who is in charge of a legal problem?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BEA436FD-4807-6191-20DE-5883E41B86E1}"/>
              </a:ext>
            </a:extLst>
          </p:cNvPr>
          <p:cNvSpPr/>
          <p:nvPr/>
        </p:nvSpPr>
        <p:spPr>
          <a:xfrm>
            <a:off x="-19236060" y="23259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changes: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is climate change or pollution affecting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Using resources: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we running out of water or other important resources?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fury: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natural disasters making the problem worse?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6D1A67C6-A46F-681E-B6CD-38A58114DF41}"/>
              </a:ext>
            </a:extLst>
          </p:cNvPr>
          <p:cNvSpPr/>
          <p:nvPr/>
        </p:nvSpPr>
        <p:spPr>
          <a:xfrm flipH="1">
            <a:off x="-14376343" y="3540760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 we have going for 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Ready-to-go groups like the UN and WHO.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Amazing technology that can help.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around the world who care and are talking about it.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CB6A45AD-8E04-97C3-6707-FB26FA4C326E}"/>
              </a:ext>
            </a:extLst>
          </p:cNvPr>
          <p:cNvSpPr/>
          <p:nvPr/>
        </p:nvSpPr>
        <p:spPr>
          <a:xfrm>
            <a:off x="-8431762" y="361630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What's holding us back: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Countries don't want others telling them what to 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 one can force a country to follow the rules.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Not enough money or people to get the job done.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arguments and bias get in the way.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0829D05F-F4A2-604E-7E4E-BF6730080B08}"/>
              </a:ext>
            </a:extLst>
          </p:cNvPr>
          <p:cNvSpPr/>
          <p:nvPr/>
        </p:nvSpPr>
        <p:spPr>
          <a:xfrm flipH="1">
            <a:off x="925657" y="361630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Good chances we can take: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diplomatic talks could start.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technology could create a breakthrough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are more active and want to help.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ways of doing business could lead to a solution.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F864D953-221A-21A2-4365-3989EA6C9028}"/>
              </a:ext>
            </a:extLst>
          </p:cNvPr>
          <p:cNvSpPr/>
          <p:nvPr/>
        </p:nvSpPr>
        <p:spPr>
          <a:xfrm>
            <a:off x="6870238" y="3691858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Risks we need to watch out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chaos in a country.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 worldwide money problem (like a recession).New diseases or global security risks.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Worsening environmental disasters.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BEC0A0F4-3DAD-4ACB-3AC6-55B3A70A1E41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84EDB35D-C682-B02D-2C04-FEED5B31C827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744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AA58-B514-B93F-7F2F-CF395C0A2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3217264"/>
          </a:xfrm>
        </p:spPr>
        <p:txBody>
          <a:bodyPr>
            <a:noAutofit/>
          </a:bodyPr>
          <a:lstStyle/>
          <a:p>
            <a:pPr algn="ctr"/>
            <a:r>
              <a:rPr lang="en-IN" sz="136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THANK YOU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EE8CD1A-9742-12A3-30FD-A0B885C44C14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71B3383-3AD7-C7D8-1237-E954F2FCE77F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84354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3594</Words>
  <Application>Microsoft Office PowerPoint</Application>
  <PresentationFormat>Widescreen</PresentationFormat>
  <Paragraphs>413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Aharoni</vt:lpstr>
      <vt:lpstr>Arial</vt:lpstr>
      <vt:lpstr>Calibri</vt:lpstr>
      <vt:lpstr>Calibri Light</vt:lpstr>
      <vt:lpstr>Century Gothic</vt:lpstr>
      <vt:lpstr>Open Sans</vt:lpstr>
      <vt:lpstr>Unbounded Bold</vt:lpstr>
      <vt:lpstr>Unbounded Light</vt:lpstr>
      <vt:lpstr>Office Theme</vt:lpstr>
      <vt:lpstr>PowerPoint Presentation</vt:lpstr>
      <vt:lpstr>MUN WORKSHOP SERIES DAY 3</vt:lpstr>
      <vt:lpstr>MASTERING  STRATEGIC RESEARCH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MASTERING  STRATEGIC RESEARCH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Sambuddha Das</dc:creator>
  <cp:lastModifiedBy>Sambuddha Das</cp:lastModifiedBy>
  <cp:revision>3</cp:revision>
  <cp:lastPrinted>2025-09-24T17:32:15Z</cp:lastPrinted>
  <dcterms:created xsi:type="dcterms:W3CDTF">2025-09-24T15:16:06Z</dcterms:created>
  <dcterms:modified xsi:type="dcterms:W3CDTF">2025-10-05T12:19:25Z</dcterms:modified>
</cp:coreProperties>
</file>