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9" r:id="rId3"/>
    <p:sldId id="338" r:id="rId4"/>
    <p:sldId id="339" r:id="rId5"/>
    <p:sldId id="258" r:id="rId6"/>
    <p:sldId id="340" r:id="rId7"/>
    <p:sldId id="260" r:id="rId8"/>
    <p:sldId id="261" r:id="rId9"/>
    <p:sldId id="341" r:id="rId10"/>
    <p:sldId id="342" r:id="rId11"/>
    <p:sldId id="347" r:id="rId12"/>
    <p:sldId id="348" r:id="rId13"/>
    <p:sldId id="349" r:id="rId14"/>
    <p:sldId id="350" r:id="rId15"/>
    <p:sldId id="35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71" d="100"/>
          <a:sy n="71" d="100"/>
        </p:scale>
        <p:origin x="81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F2F84-778D-4AF9-BE15-A61479A3F9E5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761A76-40E7-4DA5-9F38-D1DF8580F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7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BAD9D-485A-2531-C375-55FA6CF8F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CAAD0-9C0F-5AF0-CC6B-61969DBC1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C7760-2910-313C-D673-A8962654B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5854D-5F2E-6B94-208E-B412F8287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54D17-6C97-BD1E-8D53-C772A1BDE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4309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740A-4F11-6C72-03A4-7B90017A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06108-94B3-FF8C-F31B-FBA0F36DC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C7FC9-DB40-74EA-BA4B-A42D431D1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C4473-BFC8-92DB-C563-B8530521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61F72-AECC-4D31-0EDE-5CD0A7213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3854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7411-CD2D-534A-613E-6016F8AEF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B3D5C-9AE5-5839-2189-C4DF39111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CDB89-42B6-9A52-AD82-2F871CEC9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339F5-E15A-1B0E-E384-25ACF34F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2ECFC-9909-5D9F-ABC6-0850300A9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5605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57FE-1001-283E-8B00-1C58C6D0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B264F-777D-9EB8-7B8D-97C718C2A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91A86-6B1E-45EF-F243-2C16C8A64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B4D2C-F0BA-3C56-0B81-86D48AF5A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FA429-862A-1C94-234F-167EA424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43A6A-E4A7-73AF-F613-C5213494B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9047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B20A1-6A4D-BE21-D8DC-01A2EFF40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F13C8-CA37-A779-248F-06185A658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4F8A60-F877-D2C7-8963-FA73D6869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EC55D5-3D86-C2E7-6FD6-7BF77651D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1BD28B-F50A-DF80-7944-EF09B99A87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82751C-54C1-2F59-2DB0-E0C5C157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C50212-82C0-4B7A-6ACB-4A8455D37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684A8-FA53-9DEC-BA51-3BACD15FB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4587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A208C-815E-6D0C-3175-2147449FF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884678-999A-294B-BE18-B074B5F1A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BE7012-02C0-4702-D025-6C39F1D0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DBF00-FE44-8A06-75D0-03226CD5C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7338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7B8EAE-3A2A-7841-07C0-034750FEF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53EBCA-A7CC-A34A-C96F-7E571756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B5E94-D16F-D525-5010-8B08E79D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4745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B4670-A583-9DBA-742B-9DDB22AC6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B4BF5-8680-0BCA-D6A2-8DFF18DD5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62386-999C-7331-26C3-6246FB46E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D0016-2FCC-3A5D-9614-DAF95B8D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90AB1-60F8-524C-1503-7C20D534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4B6E8-02C9-C861-0AFD-B8F86DA2F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8325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44762-3005-98F7-6295-3424F2282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6F8F88-CBAB-B8C6-1E0B-725701EB8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9FC87-66DF-8528-E881-A0C71016A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4C692-5FC4-B9D4-A77E-0FD4A3CFB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702F4-271C-E84F-E171-895AB9F14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11036-518B-E91F-DE83-94C3335A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465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6AA1-CE90-92C9-C861-8A4C8290A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44EA7-7EF5-0879-A104-95FC82187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EA609-5D4B-F3B7-8CD8-D38BF62C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F2E71-08CC-C493-D9B1-64B852DE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46CA0-F3D4-8839-CDC2-0488A94C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566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CD9472-0526-1008-3BC7-40CD3935E8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83CB33-6679-F08D-33FC-95EB151BF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09807-9BC0-59E0-9A59-9CFCE75BA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1C6F-9047-46E6-B1A1-64637943D277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BBA4F-4451-BA43-C79F-054779BCB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2EB08-8DBF-E30E-E6AC-F9FCB4BB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4966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498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7114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9129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857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183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882272-DF27-07A5-B7E8-7FEDD465F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524A2-E354-299B-C7A8-600C733C4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C121B-BA13-1F5A-C15B-6882C4556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71C6F-9047-46E6-B1A1-64637943D277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E61FA-C2DA-AE53-AD7A-4012E2D8D3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AC44B-5615-5B04-6A7C-7F382D836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A034D-9842-4808-8EB3-C7F586D00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73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4">
            <a:extLst>
              <a:ext uri="{FF2B5EF4-FFF2-40B4-BE49-F238E27FC236}">
                <a16:creationId xmlns:a16="http://schemas.microsoft.com/office/drawing/2014/main" id="{13CE1CC7-867D-E6FE-3054-95A763140FAE}"/>
              </a:ext>
            </a:extLst>
          </p:cNvPr>
          <p:cNvSpPr/>
          <p:nvPr/>
        </p:nvSpPr>
        <p:spPr>
          <a:xfrm>
            <a:off x="5607049" y="2947960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EFA188F4-894F-8718-2818-377C6E4B82CC}"/>
              </a:ext>
            </a:extLst>
          </p:cNvPr>
          <p:cNvSpPr/>
          <p:nvPr/>
        </p:nvSpPr>
        <p:spPr>
          <a:xfrm>
            <a:off x="5607049" y="2947960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8AE5D635-EE64-4A4F-175F-24CCB5F866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18" t="-35308" r="-7118"/>
            </a:stretch>
          </a:blipFill>
        </p:spPr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8E29A96A-5DC4-0D05-37A0-B5982756D2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>
              <a:fillRect l="-27690" t="-22497" b="-28744"/>
            </a:stretch>
          </a:blipFill>
        </p:spPr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1C26102D-ACC1-12AB-3F76-37B92C87EE45}"/>
              </a:ext>
            </a:extLst>
          </p:cNvPr>
          <p:cNvSpPr/>
          <p:nvPr/>
        </p:nvSpPr>
        <p:spPr>
          <a:xfrm>
            <a:off x="3856524" y="1767773"/>
            <a:ext cx="4478948" cy="3501181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064" b="-3034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4A6B57-7147-EACB-0322-83D6F772F59F}"/>
              </a:ext>
            </a:extLst>
          </p:cNvPr>
          <p:cNvSpPr txBox="1">
            <a:spLocks/>
          </p:cNvSpPr>
          <p:nvPr/>
        </p:nvSpPr>
        <p:spPr>
          <a:xfrm>
            <a:off x="4332665" y="829032"/>
            <a:ext cx="3526669" cy="62450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spc="3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WELCOME TO</a:t>
            </a: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054152AE-15B7-9640-5B9C-3A84438EEEE7}"/>
              </a:ext>
            </a:extLst>
          </p:cNvPr>
          <p:cNvSpPr txBox="1">
            <a:spLocks/>
          </p:cNvSpPr>
          <p:nvPr/>
        </p:nvSpPr>
        <p:spPr>
          <a:xfrm>
            <a:off x="2917466" y="5583186"/>
            <a:ext cx="6357063" cy="1011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</p:spTree>
    <p:extLst>
      <p:ext uri="{BB962C8B-B14F-4D97-AF65-F5344CB8AC3E}">
        <p14:creationId xmlns:p14="http://schemas.microsoft.com/office/powerpoint/2010/main" val="39350476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D901CE-7C08-BD2F-C9AB-196A3C91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>
            <a:extLst>
              <a:ext uri="{FF2B5EF4-FFF2-40B4-BE49-F238E27FC236}">
                <a16:creationId xmlns:a16="http://schemas.microsoft.com/office/drawing/2014/main" id="{9A21C806-7FEE-838E-C8CD-6AFEF9472E9C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75F9943-CD3B-F163-CD4F-873133C7F1B7}"/>
              </a:ext>
            </a:extLst>
          </p:cNvPr>
          <p:cNvSpPr/>
          <p:nvPr/>
        </p:nvSpPr>
        <p:spPr>
          <a:xfrm>
            <a:off x="1036042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677E3FB-7198-C45D-5EF9-73F6C8279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360" y="2971800"/>
            <a:ext cx="529336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MUN WORKSHOP SERIES</a:t>
            </a:r>
            <a:b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DAY </a:t>
            </a:r>
            <a:r>
              <a:rPr lang="en-IN" sz="8000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endParaRPr lang="en-IN" b="1" dirty="0">
              <a:solidFill>
                <a:schemeClr val="accent1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4A99B66B-5D45-8CEC-C362-0EF6DDACC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6655"/>
            <a:ext cx="9144000" cy="437886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SECMUN CLUB | September 25</a:t>
            </a:r>
            <a:r>
              <a:rPr lang="en-IN" b="1" baseline="300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th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 2025</a:t>
            </a:r>
          </a:p>
        </p:txBody>
      </p:sp>
      <p:pic>
        <p:nvPicPr>
          <p:cNvPr id="15" name="Picture Placeholder 1">
            <a:extLst>
              <a:ext uri="{FF2B5EF4-FFF2-40B4-BE49-F238E27FC236}">
                <a16:creationId xmlns:a16="http://schemas.microsoft.com/office/drawing/2014/main" id="{723874A2-E3EA-3AA0-E5D7-C5FBA0959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t="24378" b="24378"/>
          <a:stretch>
            <a:fillRect/>
          </a:stretch>
        </p:blipFill>
        <p:spPr>
          <a:xfrm>
            <a:off x="5479877" y="1665424"/>
            <a:ext cx="5513243" cy="3766961"/>
          </a:xfrm>
          <a:prstGeom prst="roundRect">
            <a:avLst>
              <a:gd name="adj" fmla="val 35547"/>
            </a:avLst>
          </a:prstGeom>
        </p:spPr>
      </p:pic>
    </p:spTree>
    <p:extLst>
      <p:ext uri="{BB962C8B-B14F-4D97-AF65-F5344CB8AC3E}">
        <p14:creationId xmlns:p14="http://schemas.microsoft.com/office/powerpoint/2010/main" val="15732503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923744-9A3E-6C45-CFB3-C05B9D5A8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3363"/>
            <a:ext cx="9144000" cy="23876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</a:t>
            </a:r>
            <a:b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STRATEGIC RESEARCH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9BFF4E0-70CD-A50B-2218-2BEDD548E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3038"/>
            <a:ext cx="9144000" cy="1655762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8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Inter Light" pitchFamily="34" charset="-122"/>
                <a:cs typeface="Inter Light" pitchFamily="34" charset="-120"/>
              </a:rPr>
              <a:t>A methodical pathway from foundational strategy to advanced analysis and content advocacy.</a:t>
            </a:r>
            <a:endParaRPr kumimoji="0" lang="en-US" sz="1458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entury Gothic" panose="020B0502020202020204" pitchFamily="34" charset="0"/>
            </a:endParaRPr>
          </a:p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54DA5D0-E52A-CCED-86CC-DC371017645D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04747047-4C42-10C5-001A-4568A879C341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BB0A8B87-1980-8E46-1CC7-CCB21E7578F9}"/>
              </a:ext>
            </a:extLst>
          </p:cNvPr>
          <p:cNvSpPr txBox="1">
            <a:spLocks/>
          </p:cNvSpPr>
          <p:nvPr/>
        </p:nvSpPr>
        <p:spPr>
          <a:xfrm>
            <a:off x="1524000" y="32512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 BASICS</a:t>
            </a:r>
          </a:p>
        </p:txBody>
      </p:sp>
    </p:spTree>
    <p:extLst>
      <p:ext uri="{BB962C8B-B14F-4D97-AF65-F5344CB8AC3E}">
        <p14:creationId xmlns:p14="http://schemas.microsoft.com/office/powerpoint/2010/main" val="15650982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0229" y="600961"/>
            <a:ext cx="740777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1: Foundational Strategy</a:t>
            </a:r>
            <a:endParaRPr lang="en-US" sz="2958" dirty="0"/>
          </a:p>
        </p:txBody>
      </p:sp>
      <p:sp>
        <p:nvSpPr>
          <p:cNvPr id="3" name="Shape 1"/>
          <p:cNvSpPr/>
          <p:nvPr/>
        </p:nvSpPr>
        <p:spPr>
          <a:xfrm>
            <a:off x="661492" y="1499394"/>
            <a:ext cx="3496965" cy="4709617"/>
          </a:xfrm>
          <a:prstGeom prst="roundRect">
            <a:avLst>
              <a:gd name="adj" fmla="val 227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53" y="1694756"/>
            <a:ext cx="3106242" cy="141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"Why": Defining Your Research Purpose</a:t>
            </a:r>
            <a:endParaRPr lang="en-US" sz="2208" dirty="0"/>
          </a:p>
        </p:txBody>
      </p:sp>
      <p:sp>
        <p:nvSpPr>
          <p:cNvPr id="5" name="Text 3"/>
          <p:cNvSpPr/>
          <p:nvPr/>
        </p:nvSpPr>
        <p:spPr>
          <a:xfrm>
            <a:off x="856853" y="3225801"/>
            <a:ext cx="310624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Committees:</a:t>
            </a: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Represent national interests, aligned with international law. Focus on your country's economic, security, and social well-being.</a:t>
            </a:r>
            <a:endParaRPr lang="en-US" sz="1458" dirty="0"/>
          </a:p>
        </p:txBody>
      </p:sp>
      <p:sp>
        <p:nvSpPr>
          <p:cNvPr id="6" name="Text 4"/>
          <p:cNvSpPr/>
          <p:nvPr/>
        </p:nvSpPr>
        <p:spPr>
          <a:xfrm>
            <a:off x="856853" y="4803973"/>
            <a:ext cx="31062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Indian Committees:</a:t>
            </a: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Act as a partisan advocate. Champion the party's official stance and historical ideology.</a:t>
            </a:r>
            <a:endParaRPr lang="en-US" sz="1458" dirty="0"/>
          </a:p>
        </p:txBody>
      </p:sp>
      <p:sp>
        <p:nvSpPr>
          <p:cNvPr id="7" name="Shape 5"/>
          <p:cNvSpPr/>
          <p:nvPr/>
        </p:nvSpPr>
        <p:spPr>
          <a:xfrm>
            <a:off x="4347468" y="1499394"/>
            <a:ext cx="3496965" cy="4709617"/>
          </a:xfrm>
          <a:prstGeom prst="roundRect">
            <a:avLst>
              <a:gd name="adj" fmla="val 227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2830" y="1694756"/>
            <a:ext cx="3106242" cy="1772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Keyword Mapping: Building a Research Roadmap</a:t>
            </a:r>
            <a:endParaRPr lang="en-US" sz="2208" dirty="0"/>
          </a:p>
        </p:txBody>
      </p:sp>
      <p:sp>
        <p:nvSpPr>
          <p:cNvPr id="9" name="Text 7"/>
          <p:cNvSpPr/>
          <p:nvPr/>
        </p:nvSpPr>
        <p:spPr>
          <a:xfrm>
            <a:off x="4542830" y="3580209"/>
            <a:ext cx="31062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core terms, key actors, and historical context.</a:t>
            </a:r>
            <a:endParaRPr lang="en-US" sz="1458" dirty="0"/>
          </a:p>
        </p:txBody>
      </p:sp>
      <p:sp>
        <p:nvSpPr>
          <p:cNvPr id="10" name="Text 8"/>
          <p:cNvSpPr/>
          <p:nvPr/>
        </p:nvSpPr>
        <p:spPr>
          <a:xfrm>
            <a:off x="4542830" y="4251127"/>
            <a:ext cx="310624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</a:t>
            </a: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"Climate Change," search UNFCCC, Paris Agreement, Green Climate Fund, and [Your Country] + climate policy.</a:t>
            </a:r>
            <a:endParaRPr lang="en-US" sz="1458" dirty="0"/>
          </a:p>
        </p:txBody>
      </p:sp>
      <p:sp>
        <p:nvSpPr>
          <p:cNvPr id="11" name="Shape 9"/>
          <p:cNvSpPr/>
          <p:nvPr/>
        </p:nvSpPr>
        <p:spPr>
          <a:xfrm>
            <a:off x="8033444" y="1499394"/>
            <a:ext cx="3496965" cy="4709617"/>
          </a:xfrm>
          <a:prstGeom prst="roundRect">
            <a:avLst>
              <a:gd name="adj" fmla="val 227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8807" y="1694756"/>
            <a:ext cx="3106242" cy="141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Connected Research: Synthesizing Information</a:t>
            </a:r>
            <a:endParaRPr lang="en-US" sz="2208" dirty="0"/>
          </a:p>
        </p:txBody>
      </p:sp>
      <p:sp>
        <p:nvSpPr>
          <p:cNvPr id="13" name="Text 11"/>
          <p:cNvSpPr/>
          <p:nvPr/>
        </p:nvSpPr>
        <p:spPr>
          <a:xfrm>
            <a:off x="8228807" y="3225800"/>
            <a:ext cx="31062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Treat each keyword as an individual topic, but ensure all research points connect to form a cohesive, compelling narrative.</a:t>
            </a:r>
            <a:endParaRPr lang="en-US" sz="1458" dirty="0"/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4316A599-F361-F17B-7C0B-EBBF90076245}"/>
              </a:ext>
            </a:extLst>
          </p:cNvPr>
          <p:cNvSpPr/>
          <p:nvPr/>
        </p:nvSpPr>
        <p:spPr>
          <a:xfrm>
            <a:off x="947730" y="40952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385418DD-ED23-CC41-A7CD-F48FB0E8EA85}"/>
              </a:ext>
            </a:extLst>
          </p:cNvPr>
          <p:cNvSpPr/>
          <p:nvPr/>
        </p:nvSpPr>
        <p:spPr>
          <a:xfrm>
            <a:off x="10035309" y="40952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9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22677" y="511275"/>
            <a:ext cx="5854502" cy="395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83"/>
              </a:lnSpc>
            </a:pPr>
            <a:r>
              <a:rPr lang="en-US" sz="245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2: Deep Dive &amp; Analysis</a:t>
            </a:r>
            <a:endParaRPr lang="en-US" sz="2458" dirty="0"/>
          </a:p>
        </p:txBody>
      </p:sp>
      <p:sp>
        <p:nvSpPr>
          <p:cNvPr id="4" name="Text 1"/>
          <p:cNvSpPr/>
          <p:nvPr/>
        </p:nvSpPr>
        <p:spPr>
          <a:xfrm>
            <a:off x="5222677" y="1084065"/>
            <a:ext cx="157957" cy="197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208" dirty="0"/>
          </a:p>
        </p:txBody>
      </p:sp>
      <p:sp>
        <p:nvSpPr>
          <p:cNvPr id="5" name="Shape 2"/>
          <p:cNvSpPr/>
          <p:nvPr/>
        </p:nvSpPr>
        <p:spPr>
          <a:xfrm>
            <a:off x="5222677" y="1333599"/>
            <a:ext cx="3080345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6" name="Text 3"/>
          <p:cNvSpPr/>
          <p:nvPr/>
        </p:nvSpPr>
        <p:spPr>
          <a:xfrm>
            <a:off x="5222677" y="1450678"/>
            <a:ext cx="3080345" cy="59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Source Evaluation: Beyond the URL</a:t>
            </a:r>
            <a:endParaRPr lang="en-US" sz="1833" dirty="0"/>
          </a:p>
        </p:txBody>
      </p:sp>
      <p:sp>
        <p:nvSpPr>
          <p:cNvPr id="7" name="Text 4"/>
          <p:cNvSpPr/>
          <p:nvPr/>
        </p:nvSpPr>
        <p:spPr>
          <a:xfrm>
            <a:off x="5222677" y="2137966"/>
            <a:ext cx="3080345" cy="50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Credibility: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Verify author expertise and institutional reputation.</a:t>
            </a:r>
            <a:endParaRPr lang="en-US" sz="1208" dirty="0"/>
          </a:p>
        </p:txBody>
      </p:sp>
      <p:sp>
        <p:nvSpPr>
          <p:cNvPr id="8" name="Text 5"/>
          <p:cNvSpPr/>
          <p:nvPr/>
        </p:nvSpPr>
        <p:spPr>
          <a:xfrm>
            <a:off x="5222677" y="2698850"/>
            <a:ext cx="3080345" cy="50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Bias: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Identify political, financial, or ideological agendas.</a:t>
            </a:r>
            <a:endParaRPr lang="en-US" sz="1208" dirty="0"/>
          </a:p>
        </p:txBody>
      </p:sp>
      <p:sp>
        <p:nvSpPr>
          <p:cNvPr id="9" name="Text 6"/>
          <p:cNvSpPr/>
          <p:nvPr/>
        </p:nvSpPr>
        <p:spPr>
          <a:xfrm>
            <a:off x="5222677" y="3259733"/>
            <a:ext cx="3080345" cy="50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Recency: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Check if the information is current and relevant to the topic.</a:t>
            </a:r>
            <a:endParaRPr lang="en-US" sz="1208" dirty="0"/>
          </a:p>
        </p:txBody>
      </p:sp>
      <p:sp>
        <p:nvSpPr>
          <p:cNvPr id="10" name="Text 7"/>
          <p:cNvSpPr/>
          <p:nvPr/>
        </p:nvSpPr>
        <p:spPr>
          <a:xfrm>
            <a:off x="8460978" y="1084065"/>
            <a:ext cx="157957" cy="197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208" dirty="0"/>
          </a:p>
        </p:txBody>
      </p:sp>
      <p:sp>
        <p:nvSpPr>
          <p:cNvPr id="11" name="Shape 8"/>
          <p:cNvSpPr/>
          <p:nvPr/>
        </p:nvSpPr>
        <p:spPr>
          <a:xfrm>
            <a:off x="8460978" y="1333599"/>
            <a:ext cx="3080345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2" name="Text 9"/>
          <p:cNvSpPr/>
          <p:nvPr/>
        </p:nvSpPr>
        <p:spPr>
          <a:xfrm>
            <a:off x="8460978" y="1450678"/>
            <a:ext cx="3080345" cy="59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Mastering Google Scholar</a:t>
            </a:r>
            <a:endParaRPr lang="en-US" sz="1833" dirty="0"/>
          </a:p>
        </p:txBody>
      </p:sp>
      <p:sp>
        <p:nvSpPr>
          <p:cNvPr id="13" name="Text 10"/>
          <p:cNvSpPr/>
          <p:nvPr/>
        </p:nvSpPr>
        <p:spPr>
          <a:xfrm>
            <a:off x="8460978" y="2137966"/>
            <a:ext cx="3080345" cy="50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advanced features for in-depth, peer-reviewed articles.</a:t>
            </a:r>
            <a:endParaRPr lang="en-US" sz="1208" dirty="0"/>
          </a:p>
        </p:txBody>
      </p:sp>
      <p:sp>
        <p:nvSpPr>
          <p:cNvPr id="14" name="Text 11"/>
          <p:cNvSpPr/>
          <p:nvPr/>
        </p:nvSpPr>
        <p:spPr>
          <a:xfrm>
            <a:off x="8460978" y="2698850"/>
            <a:ext cx="3080345" cy="50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</a:t>
            </a: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"Cited by"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find newer research.</a:t>
            </a:r>
            <a:endParaRPr lang="en-US" sz="1208" dirty="0"/>
          </a:p>
        </p:txBody>
      </p:sp>
      <p:sp>
        <p:nvSpPr>
          <p:cNvPr id="15" name="Text 12"/>
          <p:cNvSpPr/>
          <p:nvPr/>
        </p:nvSpPr>
        <p:spPr>
          <a:xfrm>
            <a:off x="8460978" y="3259733"/>
            <a:ext cx="3080345" cy="50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</a:t>
            </a: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"Related articles"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similar papers.</a:t>
            </a:r>
            <a:endParaRPr lang="en-US" sz="1208" dirty="0"/>
          </a:p>
        </p:txBody>
      </p:sp>
      <p:sp>
        <p:nvSpPr>
          <p:cNvPr id="16" name="Text 13"/>
          <p:cNvSpPr/>
          <p:nvPr/>
        </p:nvSpPr>
        <p:spPr>
          <a:xfrm>
            <a:off x="8460978" y="3820617"/>
            <a:ext cx="3080345" cy="50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the </a:t>
            </a: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[PDF]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link for direct access to full text.</a:t>
            </a:r>
            <a:endParaRPr lang="en-US" sz="1208" dirty="0"/>
          </a:p>
        </p:txBody>
      </p:sp>
      <p:sp>
        <p:nvSpPr>
          <p:cNvPr id="17" name="Text 14"/>
          <p:cNvSpPr/>
          <p:nvPr/>
        </p:nvSpPr>
        <p:spPr>
          <a:xfrm>
            <a:off x="5222677" y="4602659"/>
            <a:ext cx="157957" cy="197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208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208" dirty="0"/>
          </a:p>
        </p:txBody>
      </p:sp>
      <p:sp>
        <p:nvSpPr>
          <p:cNvPr id="18" name="Shape 15"/>
          <p:cNvSpPr/>
          <p:nvPr/>
        </p:nvSpPr>
        <p:spPr>
          <a:xfrm>
            <a:off x="5222677" y="4852194"/>
            <a:ext cx="6318647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9" name="Text 16"/>
          <p:cNvSpPr/>
          <p:nvPr/>
        </p:nvSpPr>
        <p:spPr>
          <a:xfrm>
            <a:off x="5222677" y="4969272"/>
            <a:ext cx="6052939" cy="296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Active Learning: Internalizing Knowledge</a:t>
            </a:r>
            <a:endParaRPr lang="en-US" sz="1833" dirty="0"/>
          </a:p>
        </p:txBody>
      </p:sp>
      <p:sp>
        <p:nvSpPr>
          <p:cNvPr id="20" name="Text 17"/>
          <p:cNvSpPr/>
          <p:nvPr/>
        </p:nvSpPr>
        <p:spPr>
          <a:xfrm>
            <a:off x="5222677" y="5360294"/>
            <a:ext cx="6318647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Summarize: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Condense key takeaways after reading.</a:t>
            </a:r>
            <a:endParaRPr lang="en-US" sz="1208" dirty="0"/>
          </a:p>
        </p:txBody>
      </p:sp>
      <p:sp>
        <p:nvSpPr>
          <p:cNvPr id="21" name="Text 18"/>
          <p:cNvSpPr/>
          <p:nvPr/>
        </p:nvSpPr>
        <p:spPr>
          <a:xfrm>
            <a:off x="5222677" y="5668368"/>
            <a:ext cx="6318647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Mind Map: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Visually connect keywords and concepts.</a:t>
            </a:r>
            <a:endParaRPr lang="en-US" sz="1208" dirty="0"/>
          </a:p>
        </p:txBody>
      </p:sp>
      <p:sp>
        <p:nvSpPr>
          <p:cNvPr id="22" name="Text 19"/>
          <p:cNvSpPr/>
          <p:nvPr/>
        </p:nvSpPr>
        <p:spPr>
          <a:xfrm>
            <a:off x="5222677" y="5976442"/>
            <a:ext cx="6318647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958"/>
              </a:lnSpc>
              <a:buSzPct val="100000"/>
              <a:buChar char="•"/>
            </a:pPr>
            <a:r>
              <a:rPr lang="en-US" sz="120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Teach it:</a:t>
            </a:r>
            <a:r>
              <a:rPr lang="en-US" sz="120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Explain the topic aloud to solidify understanding.</a:t>
            </a:r>
            <a:endParaRPr lang="en-US" sz="1208" dirty="0"/>
          </a:p>
        </p:txBody>
      </p:sp>
      <p:sp>
        <p:nvSpPr>
          <p:cNvPr id="23" name="Freeform 4">
            <a:extLst>
              <a:ext uri="{FF2B5EF4-FFF2-40B4-BE49-F238E27FC236}">
                <a16:creationId xmlns:a16="http://schemas.microsoft.com/office/drawing/2014/main" id="{BDBE6C6D-66EB-1CC1-0008-0792399068C5}"/>
              </a:ext>
            </a:extLst>
          </p:cNvPr>
          <p:cNvSpPr/>
          <p:nvPr/>
        </p:nvSpPr>
        <p:spPr>
          <a:xfrm>
            <a:off x="947730" y="40952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8853DA17-5BF3-7A99-BC39-AFD9ECC06474}"/>
              </a:ext>
            </a:extLst>
          </p:cNvPr>
          <p:cNvSpPr/>
          <p:nvPr/>
        </p:nvSpPr>
        <p:spPr>
          <a:xfrm>
            <a:off x="10035309" y="40952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4572000" cy="68612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39232" y="431800"/>
            <a:ext cx="6304161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5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3: Competitive Strategy</a:t>
            </a:r>
            <a:endParaRPr lang="en-US" sz="2958" dirty="0"/>
          </a:p>
        </p:txBody>
      </p:sp>
      <p:sp>
        <p:nvSpPr>
          <p:cNvPr id="4" name="Text 1"/>
          <p:cNvSpPr/>
          <p:nvPr/>
        </p:nvSpPr>
        <p:spPr>
          <a:xfrm>
            <a:off x="5229920" y="1856085"/>
            <a:ext cx="2922786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FF954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Anticipation: Identifying Your Own Weaknesses</a:t>
            </a:r>
            <a:endParaRPr lang="en-US" sz="2208" dirty="0"/>
          </a:p>
        </p:txBody>
      </p:sp>
      <p:sp>
        <p:nvSpPr>
          <p:cNvPr id="5" name="Text 2"/>
          <p:cNvSpPr/>
          <p:nvPr/>
        </p:nvSpPr>
        <p:spPr>
          <a:xfrm>
            <a:off x="5229920" y="3453706"/>
            <a:ext cx="2922786" cy="90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33"/>
              </a:lnSpc>
              <a:buSzPct val="100000"/>
              <a:buChar char="•"/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Proactively find potential vulnerabilities in your position.</a:t>
            </a:r>
            <a:endParaRPr lang="en-US" sz="1458" dirty="0"/>
          </a:p>
        </p:txBody>
      </p:sp>
      <p:sp>
        <p:nvSpPr>
          <p:cNvPr id="6" name="Text 3"/>
          <p:cNvSpPr/>
          <p:nvPr/>
        </p:nvSpPr>
        <p:spPr>
          <a:xfrm>
            <a:off x="5229920" y="4421982"/>
            <a:ext cx="2922786" cy="90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33"/>
              </a:lnSpc>
              <a:buSzPct val="100000"/>
              <a:buChar char="•"/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counterarguments and solutions to preemptively defend your stance.</a:t>
            </a:r>
            <a:endParaRPr lang="en-US" sz="1458" dirty="0"/>
          </a:p>
        </p:txBody>
      </p:sp>
      <p:sp>
        <p:nvSpPr>
          <p:cNvPr id="7" name="Text 4"/>
          <p:cNvSpPr/>
          <p:nvPr/>
        </p:nvSpPr>
        <p:spPr>
          <a:xfrm>
            <a:off x="8617645" y="1856085"/>
            <a:ext cx="2922786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FF954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Strategic Strike: Uncovering Opponent Loopholes</a:t>
            </a:r>
            <a:endParaRPr lang="en-US" sz="2208" dirty="0"/>
          </a:p>
        </p:txBody>
      </p:sp>
      <p:sp>
        <p:nvSpPr>
          <p:cNvPr id="8" name="Text 5"/>
          <p:cNvSpPr/>
          <p:nvPr/>
        </p:nvSpPr>
        <p:spPr>
          <a:xfrm>
            <a:off x="8617645" y="3806131"/>
            <a:ext cx="2922786" cy="90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33"/>
              </a:lnSpc>
              <a:buSzPct val="100000"/>
              <a:buChar char="•"/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Look for inconsistencies and hypocrisy in opponents' arguments.</a:t>
            </a:r>
            <a:endParaRPr lang="en-US" sz="1458" dirty="0"/>
          </a:p>
        </p:txBody>
      </p:sp>
      <p:sp>
        <p:nvSpPr>
          <p:cNvPr id="9" name="Text 6"/>
          <p:cNvSpPr/>
          <p:nvPr/>
        </p:nvSpPr>
        <p:spPr>
          <a:xfrm>
            <a:off x="8617645" y="4774407"/>
            <a:ext cx="2922786" cy="1504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33"/>
              </a:lnSpc>
              <a:buSzPct val="100000"/>
              <a:buChar char="•"/>
            </a:pPr>
            <a:r>
              <a:rPr lang="en-US" sz="145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to Ask:</a:t>
            </a: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their policy </a:t>
            </a:r>
            <a:r>
              <a:rPr lang="en-US" sz="145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financially viable?</a:t>
            </a: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their solution </a:t>
            </a:r>
            <a:r>
              <a:rPr lang="en-US" sz="1458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historically effective?</a:t>
            </a: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 their actions align with their stated stance?</a:t>
            </a:r>
            <a:endParaRPr lang="en-US" sz="1458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22688E71-D571-1C47-360C-32A274D71277}"/>
              </a:ext>
            </a:extLst>
          </p:cNvPr>
          <p:cNvSpPr/>
          <p:nvPr/>
        </p:nvSpPr>
        <p:spPr>
          <a:xfrm>
            <a:off x="947730" y="40952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270E391-DE29-65CD-C2F6-D2B454990AF1}"/>
              </a:ext>
            </a:extLst>
          </p:cNvPr>
          <p:cNvSpPr/>
          <p:nvPr/>
        </p:nvSpPr>
        <p:spPr>
          <a:xfrm>
            <a:off x="10035309" y="40952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15025" y="429763"/>
            <a:ext cx="716195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4: Performance &amp; Role-Playing</a:t>
            </a:r>
            <a:endParaRPr lang="en-US" sz="2958" dirty="0"/>
          </a:p>
        </p:txBody>
      </p:sp>
      <p:sp>
        <p:nvSpPr>
          <p:cNvPr id="4" name="Shape 1"/>
          <p:cNvSpPr/>
          <p:nvPr/>
        </p:nvSpPr>
        <p:spPr>
          <a:xfrm>
            <a:off x="5233492" y="1714897"/>
            <a:ext cx="6297018" cy="2172394"/>
          </a:xfrm>
          <a:prstGeom prst="roundRect">
            <a:avLst>
              <a:gd name="adj" fmla="val 365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47903" y="1929309"/>
            <a:ext cx="5349082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FF954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UN Committees: The Diplomat</a:t>
            </a:r>
            <a:endParaRPr lang="en-US" sz="2208" dirty="0"/>
          </a:p>
        </p:txBody>
      </p:sp>
      <p:sp>
        <p:nvSpPr>
          <p:cNvPr id="6" name="Text 3"/>
          <p:cNvSpPr/>
          <p:nvPr/>
        </p:nvSpPr>
        <p:spPr>
          <a:xfrm>
            <a:off x="5447904" y="2397125"/>
            <a:ext cx="586819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 professionalism, decorum, and carefully chosen language.</a:t>
            </a:r>
            <a:endParaRPr lang="en-US" sz="1458" dirty="0"/>
          </a:p>
        </p:txBody>
      </p:sp>
      <p:sp>
        <p:nvSpPr>
          <p:cNvPr id="7" name="Text 4"/>
          <p:cNvSpPr/>
          <p:nvPr/>
        </p:nvSpPr>
        <p:spPr>
          <a:xfrm>
            <a:off x="5447904" y="3068043"/>
            <a:ext cx="586819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Represent your country's interests with seriousness and respect.</a:t>
            </a:r>
            <a:endParaRPr lang="en-US" sz="1458" dirty="0"/>
          </a:p>
        </p:txBody>
      </p:sp>
      <p:sp>
        <p:nvSpPr>
          <p:cNvPr id="8" name="Shape 5"/>
          <p:cNvSpPr/>
          <p:nvPr/>
        </p:nvSpPr>
        <p:spPr>
          <a:xfrm>
            <a:off x="5233492" y="4076303"/>
            <a:ext cx="6297018" cy="2224385"/>
          </a:xfrm>
          <a:prstGeom prst="roundRect">
            <a:avLst>
              <a:gd name="adj" fmla="val 3569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7904" y="4290716"/>
            <a:ext cx="5868193" cy="70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FF954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Indian Committees: The Partisan Leader</a:t>
            </a:r>
            <a:endParaRPr lang="en-US" sz="2208" dirty="0"/>
          </a:p>
        </p:txBody>
      </p:sp>
      <p:sp>
        <p:nvSpPr>
          <p:cNvPr id="10" name="Text 7"/>
          <p:cNvSpPr/>
          <p:nvPr/>
        </p:nvSpPr>
        <p:spPr>
          <a:xfrm>
            <a:off x="5447904" y="5112941"/>
            <a:ext cx="58681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Embody your political party's core ideology.</a:t>
            </a:r>
            <a:endParaRPr lang="en-US" sz="1458" dirty="0"/>
          </a:p>
        </p:txBody>
      </p:sp>
      <p:sp>
        <p:nvSpPr>
          <p:cNvPr id="11" name="Text 8"/>
          <p:cNvSpPr/>
          <p:nvPr/>
        </p:nvSpPr>
        <p:spPr>
          <a:xfrm>
            <a:off x="5447904" y="5481439"/>
            <a:ext cx="586819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Respond to challenges with confidence and assertiveness, referencing your research.</a:t>
            </a:r>
            <a:endParaRPr lang="en-US" sz="1458" dirty="0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AEDD63AA-C9CD-9AFD-8005-428BD1822DE5}"/>
              </a:ext>
            </a:extLst>
          </p:cNvPr>
          <p:cNvSpPr/>
          <p:nvPr/>
        </p:nvSpPr>
        <p:spPr>
          <a:xfrm>
            <a:off x="947730" y="40952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8C6B272-7CC8-6E8F-A1DE-386DE136CDE7}"/>
              </a:ext>
            </a:extLst>
          </p:cNvPr>
          <p:cNvSpPr/>
          <p:nvPr/>
        </p:nvSpPr>
        <p:spPr>
          <a:xfrm>
            <a:off x="10035309" y="40952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492" y="1275656"/>
            <a:ext cx="6297018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5: The Modern Toolkit</a:t>
            </a:r>
            <a:endParaRPr lang="en-US" sz="2958" dirty="0"/>
          </a:p>
        </p:txBody>
      </p:sp>
      <p:sp>
        <p:nvSpPr>
          <p:cNvPr id="4" name="Text 1"/>
          <p:cNvSpPr/>
          <p:nvPr/>
        </p:nvSpPr>
        <p:spPr>
          <a:xfrm>
            <a:off x="5233492" y="2409627"/>
            <a:ext cx="3676650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FF954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Using AI Responsibly</a:t>
            </a:r>
            <a:endParaRPr lang="en-US" sz="2208" dirty="0"/>
          </a:p>
        </p:txBody>
      </p:sp>
      <p:sp>
        <p:nvSpPr>
          <p:cNvPr id="5" name="Shape 2"/>
          <p:cNvSpPr/>
          <p:nvPr/>
        </p:nvSpPr>
        <p:spPr>
          <a:xfrm>
            <a:off x="5233492" y="3047504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47755" y="311239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53241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Do:</a:t>
            </a:r>
            <a:endParaRPr lang="en-US" sz="1833" dirty="0"/>
          </a:p>
        </p:txBody>
      </p:sp>
      <p:sp>
        <p:nvSpPr>
          <p:cNvPr id="7" name="Text 4"/>
          <p:cNvSpPr/>
          <p:nvPr/>
        </p:nvSpPr>
        <p:spPr>
          <a:xfrm>
            <a:off x="5847756" y="3521075"/>
            <a:ext cx="568275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AI for brainstorming keywords, summarizing long papers, and exploring different perspectives.</a:t>
            </a:r>
            <a:endParaRPr lang="en-US" sz="1458" dirty="0"/>
          </a:p>
        </p:txBody>
      </p:sp>
      <p:sp>
        <p:nvSpPr>
          <p:cNvPr id="8" name="Shape 5"/>
          <p:cNvSpPr/>
          <p:nvPr/>
        </p:nvSpPr>
        <p:spPr>
          <a:xfrm>
            <a:off x="5233492" y="4503936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47755" y="4568825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CC52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Don't:</a:t>
            </a:r>
            <a:endParaRPr lang="en-US" sz="1833" dirty="0"/>
          </a:p>
        </p:txBody>
      </p:sp>
      <p:sp>
        <p:nvSpPr>
          <p:cNvPr id="10" name="Text 7"/>
          <p:cNvSpPr/>
          <p:nvPr/>
        </p:nvSpPr>
        <p:spPr>
          <a:xfrm>
            <a:off x="5847756" y="4977507"/>
            <a:ext cx="568275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AI to write your speeches or final content. Always verify information and cross-reference with cited sources.</a:t>
            </a:r>
            <a:endParaRPr lang="en-US" sz="1458" dirty="0"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12291BD4-DF7B-B96F-4A91-5B4AD79E3381}"/>
              </a:ext>
            </a:extLst>
          </p:cNvPr>
          <p:cNvSpPr/>
          <p:nvPr/>
        </p:nvSpPr>
        <p:spPr>
          <a:xfrm>
            <a:off x="947730" y="40952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666246C3-9849-A2ED-C502-B171EB86EC26}"/>
              </a:ext>
            </a:extLst>
          </p:cNvPr>
          <p:cNvSpPr/>
          <p:nvPr/>
        </p:nvSpPr>
        <p:spPr>
          <a:xfrm>
            <a:off x="10035309" y="40952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8052A9-32E8-5727-A685-04507F176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1D0901-CF2B-341F-1C36-ED40512B4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3363"/>
            <a:ext cx="9144000" cy="23876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</a:t>
            </a:r>
            <a:b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STRATEGIC RESEARCH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8A6F8BD-1105-7690-D6E3-FF9D2A986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3038"/>
            <a:ext cx="9144000" cy="1655762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8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Inter Light" pitchFamily="34" charset="-122"/>
                <a:cs typeface="Inter Light" pitchFamily="34" charset="-120"/>
              </a:rPr>
              <a:t>A methodical pathway from foundational strategy to advanced analysis and content advocacy.</a:t>
            </a:r>
            <a:endParaRPr kumimoji="0" lang="en-US" sz="1458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entury Gothic" panose="020B0502020202020204" pitchFamily="34" charset="0"/>
            </a:endParaRPr>
          </a:p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53CB826C-2643-9078-CE50-651E3A7191A2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825D14A2-8FD5-2B6F-3F08-750FDCA6DD43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02056CCF-1220-2153-094B-E492C5A036CB}"/>
              </a:ext>
            </a:extLst>
          </p:cNvPr>
          <p:cNvSpPr txBox="1">
            <a:spLocks/>
          </p:cNvSpPr>
          <p:nvPr/>
        </p:nvSpPr>
        <p:spPr>
          <a:xfrm>
            <a:off x="1524000" y="32512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 b="1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 ADVANCED</a:t>
            </a:r>
          </a:p>
        </p:txBody>
      </p:sp>
    </p:spTree>
    <p:extLst>
      <p:ext uri="{BB962C8B-B14F-4D97-AF65-F5344CB8AC3E}">
        <p14:creationId xmlns:p14="http://schemas.microsoft.com/office/powerpoint/2010/main" val="21803627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EF7F17-79F3-DCB3-8542-AA2F81798581}"/>
              </a:ext>
            </a:extLst>
          </p:cNvPr>
          <p:cNvSpPr/>
          <p:nvPr/>
        </p:nvSpPr>
        <p:spPr>
          <a:xfrm>
            <a:off x="2992582" y="432262"/>
            <a:ext cx="5918662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MUN Committee Global Issue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D521F7-2529-B0D0-9003-990C7DB1A39E}"/>
              </a:ext>
            </a:extLst>
          </p:cNvPr>
          <p:cNvSpPr/>
          <p:nvPr/>
        </p:nvSpPr>
        <p:spPr>
          <a:xfrm>
            <a:off x="1472738" y="2348346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PESTLE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541EAC-F0A4-1B07-10BB-18C5D79E259C}"/>
              </a:ext>
            </a:extLst>
          </p:cNvPr>
          <p:cNvSpPr/>
          <p:nvPr/>
        </p:nvSpPr>
        <p:spPr>
          <a:xfrm>
            <a:off x="7679575" y="2348346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SWOT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30E9CD1E-0EF1-0832-6337-31D52B490F53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7157951" y="306878"/>
            <a:ext cx="835430" cy="32475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D94BB4E4-F255-9FF9-BA0F-884AE9AABE89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4054533" y="450966"/>
            <a:ext cx="835430" cy="29593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014DEE8D-08CF-61CC-0725-CFB8C97521CB}"/>
              </a:ext>
            </a:extLst>
          </p:cNvPr>
          <p:cNvSpPr/>
          <p:nvPr/>
        </p:nvSpPr>
        <p:spPr>
          <a:xfrm>
            <a:off x="1753984" y="3674226"/>
            <a:ext cx="2477194" cy="2161309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entury Gothic" panose="020B0502020202020204" pitchFamily="34" charset="0"/>
              </a:rPr>
              <a:t>Economic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entury Gothic" panose="020B0502020202020204" pitchFamily="34" charset="0"/>
              </a:rPr>
              <a:t>Social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entury Gothic" panose="020B0502020202020204" pitchFamily="34" charset="0"/>
              </a:rPr>
              <a:t>Technological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entury Gothic" panose="020B0502020202020204" pitchFamily="34" charset="0"/>
              </a:rPr>
              <a:t>Legal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entury Gothic" panose="020B0502020202020204" pitchFamily="34" charset="0"/>
              </a:rPr>
              <a:t>environmental</a:t>
            </a:r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162F1780-5CAF-402D-94EC-B04ECC3DD9EB}"/>
              </a:ext>
            </a:extLst>
          </p:cNvPr>
          <p:cNvSpPr/>
          <p:nvPr/>
        </p:nvSpPr>
        <p:spPr>
          <a:xfrm>
            <a:off x="7960824" y="3674225"/>
            <a:ext cx="2477194" cy="2161309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entury Gothic" panose="020B0502020202020204" pitchFamily="34" charset="0"/>
              </a:rPr>
              <a:t>Strength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entury Gothic" panose="020B0502020202020204" pitchFamily="34" charset="0"/>
              </a:rPr>
              <a:t>Weakness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entury Gothic" panose="020B0502020202020204" pitchFamily="34" charset="0"/>
              </a:rPr>
              <a:t>Opportunities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entury Gothic" panose="020B0502020202020204" pitchFamily="34" charset="0"/>
              </a:rPr>
              <a:t>Threats</a:t>
            </a:r>
          </a:p>
        </p:txBody>
      </p:sp>
      <p:sp>
        <p:nvSpPr>
          <p:cNvPr id="17" name="Freeform 4">
            <a:extLst>
              <a:ext uri="{FF2B5EF4-FFF2-40B4-BE49-F238E27FC236}">
                <a16:creationId xmlns:a16="http://schemas.microsoft.com/office/drawing/2014/main" id="{502747E7-D948-010F-B216-539187845B6E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87FB6474-05FD-8825-8815-500E13A0C5DE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395103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B63650-9BFC-F874-43C7-C4D247AFA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D50680-7D13-91B3-440A-6E4B95C370DD}"/>
              </a:ext>
            </a:extLst>
          </p:cNvPr>
          <p:cNvSpPr/>
          <p:nvPr/>
        </p:nvSpPr>
        <p:spPr>
          <a:xfrm>
            <a:off x="3136669" y="-12216934"/>
            <a:ext cx="5918662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MUN Committee Global Issue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EBC199-C725-6450-1FE3-A1B0F0F7ED38}"/>
              </a:ext>
            </a:extLst>
          </p:cNvPr>
          <p:cNvSpPr/>
          <p:nvPr/>
        </p:nvSpPr>
        <p:spPr>
          <a:xfrm>
            <a:off x="4576155" y="658097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PESTLE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5BFBF8-B0AA-3A14-5A6E-DC5374C78C58}"/>
              </a:ext>
            </a:extLst>
          </p:cNvPr>
          <p:cNvSpPr/>
          <p:nvPr/>
        </p:nvSpPr>
        <p:spPr>
          <a:xfrm>
            <a:off x="29945214" y="658097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SWOT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24D3B57-E659-76BA-59B4-E34643330280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12883341" y="-17923621"/>
            <a:ext cx="11794377" cy="253690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AA36AE14-77EE-1331-78E5-BCB97431193B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198812" y="-5239092"/>
            <a:ext cx="1179437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6605D1F-5180-AC82-8973-83B9FED3529F}"/>
              </a:ext>
            </a:extLst>
          </p:cNvPr>
          <p:cNvSpPr/>
          <p:nvPr/>
        </p:nvSpPr>
        <p:spPr>
          <a:xfrm>
            <a:off x="982285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Political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18EC01-3E28-F62B-ECCA-1AB1C8B66F9E}"/>
              </a:ext>
            </a:extLst>
          </p:cNvPr>
          <p:cNvSpPr/>
          <p:nvPr/>
        </p:nvSpPr>
        <p:spPr>
          <a:xfrm>
            <a:off x="4576154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Economic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9C97B1-59D5-9A3D-E1D6-1EC94E21E6D7}"/>
              </a:ext>
            </a:extLst>
          </p:cNvPr>
          <p:cNvSpPr/>
          <p:nvPr/>
        </p:nvSpPr>
        <p:spPr>
          <a:xfrm>
            <a:off x="8170023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Social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2258D2-7973-1BFF-7B91-72EA18D87F13}"/>
              </a:ext>
            </a:extLst>
          </p:cNvPr>
          <p:cNvSpPr/>
          <p:nvPr/>
        </p:nvSpPr>
        <p:spPr>
          <a:xfrm>
            <a:off x="14121939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Technological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F64374-4432-A62C-589F-4F0EB820AC2D}"/>
              </a:ext>
            </a:extLst>
          </p:cNvPr>
          <p:cNvSpPr/>
          <p:nvPr/>
        </p:nvSpPr>
        <p:spPr>
          <a:xfrm>
            <a:off x="17715808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Legal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B2E1ED-CE9C-7B19-F849-23AF242C730B}"/>
              </a:ext>
            </a:extLst>
          </p:cNvPr>
          <p:cNvSpPr/>
          <p:nvPr/>
        </p:nvSpPr>
        <p:spPr>
          <a:xfrm>
            <a:off x="21309677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Environmental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6AA4A1-EC0C-7B40-9E56-C0562F45D17C}"/>
              </a:ext>
            </a:extLst>
          </p:cNvPr>
          <p:cNvSpPr/>
          <p:nvPr/>
        </p:nvSpPr>
        <p:spPr>
          <a:xfrm>
            <a:off x="25754215" y="390005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Strength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147773-97D1-2860-63A8-02F23EB91730}"/>
              </a:ext>
            </a:extLst>
          </p:cNvPr>
          <p:cNvSpPr/>
          <p:nvPr/>
        </p:nvSpPr>
        <p:spPr>
          <a:xfrm>
            <a:off x="33929089" y="390005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Weakness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F05D3D-E317-A2CB-AB0F-BD068B78A179}"/>
              </a:ext>
            </a:extLst>
          </p:cNvPr>
          <p:cNvSpPr/>
          <p:nvPr/>
        </p:nvSpPr>
        <p:spPr>
          <a:xfrm>
            <a:off x="41056215" y="390005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Opportunities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B20A96-6282-6B6F-D734-D40CB1F27759}"/>
              </a:ext>
            </a:extLst>
          </p:cNvPr>
          <p:cNvSpPr/>
          <p:nvPr/>
        </p:nvSpPr>
        <p:spPr>
          <a:xfrm>
            <a:off x="48183337" y="390005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Threats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10301855-4961-1561-86AB-F41E0B4DFF0C}"/>
              </a:ext>
            </a:extLst>
          </p:cNvPr>
          <p:cNvCxnSpPr>
            <a:cxnSpLocks/>
          </p:cNvCxnSpPr>
          <p:nvPr/>
        </p:nvCxnSpPr>
        <p:spPr>
          <a:xfrm rot="5400000">
            <a:off x="4111335" y="248695"/>
            <a:ext cx="494606" cy="3474719"/>
          </a:xfrm>
          <a:prstGeom prst="bentConnector3">
            <a:avLst>
              <a:gd name="adj1" fmla="val 407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DBCEEB75-79C0-CFB6-95AA-FB426786D308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5400000">
            <a:off x="5848696" y="1986054"/>
            <a:ext cx="494606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54047FFE-0FD4-FECC-BB37-D97B9C1734FA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rot="16200000" flipH="1">
            <a:off x="7645630" y="189120"/>
            <a:ext cx="494606" cy="3593868"/>
          </a:xfrm>
          <a:prstGeom prst="bentConnector3">
            <a:avLst>
              <a:gd name="adj1" fmla="val 407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374FCA9-CD91-0CE4-365F-D26B11EACB0D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rot="16200000" flipH="1">
            <a:off x="10621588" y="-2786838"/>
            <a:ext cx="494606" cy="9545784"/>
          </a:xfrm>
          <a:prstGeom prst="bentConnector3">
            <a:avLst>
              <a:gd name="adj1" fmla="val 385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BBCB9067-A001-DE40-6DDE-A4CB204510CE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 rot="16200000" flipH="1">
            <a:off x="12418522" y="-4583773"/>
            <a:ext cx="494606" cy="13139653"/>
          </a:xfrm>
          <a:prstGeom prst="bentConnector3">
            <a:avLst>
              <a:gd name="adj1" fmla="val 404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FC108FF3-AB8A-3330-BBCB-E569A8D4EBF9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16200000" flipH="1">
            <a:off x="14215457" y="-6380707"/>
            <a:ext cx="494606" cy="16733522"/>
          </a:xfrm>
          <a:prstGeom prst="bentConnector3">
            <a:avLst>
              <a:gd name="adj1" fmla="val 3952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3F1C8801-BBB5-2890-C83D-14199D6CBCA7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rot="5400000">
            <a:off x="28288905" y="723906"/>
            <a:ext cx="2161308" cy="41909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8C26C2CB-599F-14F8-D7C5-0D12AF08759B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32376341" y="827467"/>
            <a:ext cx="2161308" cy="39838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36E183DD-5536-B57D-0099-072242AB1651}"/>
              </a:ext>
            </a:extLst>
          </p:cNvPr>
          <p:cNvCxnSpPr>
            <a:cxnSpLocks/>
            <a:stCxn id="8" idx="2"/>
            <a:endCxn id="24" idx="0"/>
          </p:cNvCxnSpPr>
          <p:nvPr/>
        </p:nvCxnSpPr>
        <p:spPr>
          <a:xfrm rot="16200000" flipH="1">
            <a:off x="35939904" y="-2736096"/>
            <a:ext cx="2161308" cy="111110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F6965258-5325-49AB-BA50-68D2E1405AA2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 rot="16200000" flipH="1">
            <a:off x="39503465" y="-6299657"/>
            <a:ext cx="2161308" cy="182381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: Diagonal Corners Rounded 83">
            <a:extLst>
              <a:ext uri="{FF2B5EF4-FFF2-40B4-BE49-F238E27FC236}">
                <a16:creationId xmlns:a16="http://schemas.microsoft.com/office/drawing/2014/main" id="{CF583D14-7C25-4C49-A2ED-E57D24BB80EC}"/>
              </a:ext>
            </a:extLst>
          </p:cNvPr>
          <p:cNvSpPr/>
          <p:nvPr/>
        </p:nvSpPr>
        <p:spPr>
          <a:xfrm>
            <a:off x="900196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How governments behave: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are leaders doing? Are countries friends or fighting?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Rules of the game: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laws are in place from countries or groups like the UN?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drama: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conflicts or arguments between countries?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8" name="Rectangle: Diagonal Corners Rounded 97">
            <a:extLst>
              <a:ext uri="{FF2B5EF4-FFF2-40B4-BE49-F238E27FC236}">
                <a16:creationId xmlns:a16="http://schemas.microsoft.com/office/drawing/2014/main" id="{525923CA-0EB7-6A7E-F5C0-772FCC203710}"/>
              </a:ext>
            </a:extLst>
          </p:cNvPr>
          <p:cNvSpPr/>
          <p:nvPr/>
        </p:nvSpPr>
        <p:spPr>
          <a:xfrm>
            <a:off x="4494065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Money matters: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Is the world economy doing well? Are countries rich or poor?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Fairness in money: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Is there a big difference in wealth between countries?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Where the money goes: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is money being spent on aid or development?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9" name="Rectangle: Diagonal Corners Rounded 98">
            <a:extLst>
              <a:ext uri="{FF2B5EF4-FFF2-40B4-BE49-F238E27FC236}">
                <a16:creationId xmlns:a16="http://schemas.microsoft.com/office/drawing/2014/main" id="{9178D77A-F29E-AEC1-40E1-F09AEAA37AB7}"/>
              </a:ext>
            </a:extLst>
          </p:cNvPr>
          <p:cNvSpPr/>
          <p:nvPr/>
        </p:nvSpPr>
        <p:spPr>
          <a:xfrm>
            <a:off x="8087934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People power: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do regular people think about the problem? Are they angry or supportive?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Culture &amp; beliefs: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Do traditions or different ways of life affect the issue?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Moving people: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people having to move from their homes, or are populations changing?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2" name="Freeform 4">
            <a:extLst>
              <a:ext uri="{FF2B5EF4-FFF2-40B4-BE49-F238E27FC236}">
                <a16:creationId xmlns:a16="http://schemas.microsoft.com/office/drawing/2014/main" id="{F169D4CD-4CC6-6BBE-9272-FAA1FB3D0E84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3" name="Freeform 5">
            <a:extLst>
              <a:ext uri="{FF2B5EF4-FFF2-40B4-BE49-F238E27FC236}">
                <a16:creationId xmlns:a16="http://schemas.microsoft.com/office/drawing/2014/main" id="{9E8808C8-B425-C2C2-1B8D-8052FCABBD63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18318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98" grpId="0" animBg="1"/>
      <p:bldP spid="9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A066E8-A11B-3A1D-BE09-C1C84E7DA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31E1BF-BA9C-0DBF-D4B4-751671DE6DDE}"/>
              </a:ext>
            </a:extLst>
          </p:cNvPr>
          <p:cNvSpPr/>
          <p:nvPr/>
        </p:nvSpPr>
        <p:spPr>
          <a:xfrm>
            <a:off x="3136669" y="-12216934"/>
            <a:ext cx="5918662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MUN Committee Global Issue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135D8A6-1EC1-21DA-6BB2-F6AD3E7FBFBE}"/>
              </a:ext>
            </a:extLst>
          </p:cNvPr>
          <p:cNvSpPr/>
          <p:nvPr/>
        </p:nvSpPr>
        <p:spPr>
          <a:xfrm>
            <a:off x="-7996845" y="658097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PESTLE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21E8F5-D99F-65EE-93E5-3C0EF7329187}"/>
              </a:ext>
            </a:extLst>
          </p:cNvPr>
          <p:cNvSpPr/>
          <p:nvPr/>
        </p:nvSpPr>
        <p:spPr>
          <a:xfrm>
            <a:off x="17372214" y="658097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SWOT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C072483-6F93-8954-665F-41DBAEDE64E8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6596841" y="-11637121"/>
            <a:ext cx="11794377" cy="127960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BEA49B6-17CB-D677-8141-2B5162C00E5D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-6087688" y="-11525592"/>
            <a:ext cx="11794377" cy="125730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7BF74EE-0D29-2C00-F499-3AD8681EB74E}"/>
              </a:ext>
            </a:extLst>
          </p:cNvPr>
          <p:cNvSpPr/>
          <p:nvPr/>
        </p:nvSpPr>
        <p:spPr>
          <a:xfrm>
            <a:off x="-11590715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Political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5564CD-22F0-CC2D-F9F0-A5B89650E1D7}"/>
              </a:ext>
            </a:extLst>
          </p:cNvPr>
          <p:cNvSpPr/>
          <p:nvPr/>
        </p:nvSpPr>
        <p:spPr>
          <a:xfrm>
            <a:off x="-7996846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Economic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BCBFB4-5422-9CDC-8134-4629E002C786}"/>
              </a:ext>
            </a:extLst>
          </p:cNvPr>
          <p:cNvSpPr/>
          <p:nvPr/>
        </p:nvSpPr>
        <p:spPr>
          <a:xfrm>
            <a:off x="-4402977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Social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3141A7-1DE8-60DF-CA3C-223108AC237A}"/>
              </a:ext>
            </a:extLst>
          </p:cNvPr>
          <p:cNvSpPr/>
          <p:nvPr/>
        </p:nvSpPr>
        <p:spPr>
          <a:xfrm>
            <a:off x="1548939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Technological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36AF33-1AFC-840F-5284-A7E767E3E238}"/>
              </a:ext>
            </a:extLst>
          </p:cNvPr>
          <p:cNvSpPr/>
          <p:nvPr/>
        </p:nvSpPr>
        <p:spPr>
          <a:xfrm>
            <a:off x="5142808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Legal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8F8403-7C74-CDFF-094A-154158E711F5}"/>
              </a:ext>
            </a:extLst>
          </p:cNvPr>
          <p:cNvSpPr/>
          <p:nvPr/>
        </p:nvSpPr>
        <p:spPr>
          <a:xfrm>
            <a:off x="8736677" y="2233357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Environmental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E61851-2A97-46A0-42BA-556B774742D2}"/>
              </a:ext>
            </a:extLst>
          </p:cNvPr>
          <p:cNvSpPr/>
          <p:nvPr/>
        </p:nvSpPr>
        <p:spPr>
          <a:xfrm>
            <a:off x="13181215" y="390005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Strength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081626-120F-0252-C73D-93E1A459D697}"/>
              </a:ext>
            </a:extLst>
          </p:cNvPr>
          <p:cNvSpPr/>
          <p:nvPr/>
        </p:nvSpPr>
        <p:spPr>
          <a:xfrm>
            <a:off x="21356089" y="390005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Weakness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B97C05-FF57-966F-EED9-969A2F824B5F}"/>
              </a:ext>
            </a:extLst>
          </p:cNvPr>
          <p:cNvSpPr/>
          <p:nvPr/>
        </p:nvSpPr>
        <p:spPr>
          <a:xfrm>
            <a:off x="28483215" y="390005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Opportunities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FFF22A-7E5B-39FD-10C4-F6ACF6DF0C2D}"/>
              </a:ext>
            </a:extLst>
          </p:cNvPr>
          <p:cNvSpPr/>
          <p:nvPr/>
        </p:nvSpPr>
        <p:spPr>
          <a:xfrm>
            <a:off x="35610337" y="390005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Threats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FD9A5F7A-BD31-D200-219C-61A2DAD6361F}"/>
              </a:ext>
            </a:extLst>
          </p:cNvPr>
          <p:cNvCxnSpPr>
            <a:cxnSpLocks/>
          </p:cNvCxnSpPr>
          <p:nvPr/>
        </p:nvCxnSpPr>
        <p:spPr>
          <a:xfrm rot="5400000">
            <a:off x="-8461665" y="248695"/>
            <a:ext cx="494606" cy="3474719"/>
          </a:xfrm>
          <a:prstGeom prst="bentConnector3">
            <a:avLst>
              <a:gd name="adj1" fmla="val 407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6DD305E6-AAB3-C265-BF02-EE62147B9042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5400000">
            <a:off x="-6724304" y="1986054"/>
            <a:ext cx="494606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5FF681C-E356-EAF7-B452-F1566FEE96D5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rot="16200000" flipH="1">
            <a:off x="-4927370" y="189120"/>
            <a:ext cx="494606" cy="3593868"/>
          </a:xfrm>
          <a:prstGeom prst="bentConnector3">
            <a:avLst>
              <a:gd name="adj1" fmla="val 407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D9245A61-2EB2-88A6-1E64-6FF915C77E7A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rot="16200000" flipH="1">
            <a:off x="-1951412" y="-2786838"/>
            <a:ext cx="494606" cy="9545784"/>
          </a:xfrm>
          <a:prstGeom prst="bentConnector3">
            <a:avLst>
              <a:gd name="adj1" fmla="val 385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197EBD26-E598-46B8-BFBC-2D4F434FA8F5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 rot="16200000" flipH="1">
            <a:off x="-154478" y="-4583773"/>
            <a:ext cx="494606" cy="13139653"/>
          </a:xfrm>
          <a:prstGeom prst="bentConnector3">
            <a:avLst>
              <a:gd name="adj1" fmla="val 404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3E78B338-496D-ACA9-CF1D-2D9BEC0A7E04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16200000" flipH="1">
            <a:off x="1642457" y="-6380707"/>
            <a:ext cx="494606" cy="16733522"/>
          </a:xfrm>
          <a:prstGeom prst="bentConnector3">
            <a:avLst>
              <a:gd name="adj1" fmla="val 3952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ED1103FC-32CD-4518-B2A0-E181B758E548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rot="5400000">
            <a:off x="15715905" y="723906"/>
            <a:ext cx="2161308" cy="41909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F7672732-22DF-3FAE-C50A-77B91AFE09B8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19803341" y="827467"/>
            <a:ext cx="2161308" cy="39838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7065545F-6BB1-477F-4145-5F1AD3CCB36F}"/>
              </a:ext>
            </a:extLst>
          </p:cNvPr>
          <p:cNvCxnSpPr>
            <a:cxnSpLocks/>
            <a:stCxn id="8" idx="2"/>
            <a:endCxn id="24" idx="0"/>
          </p:cNvCxnSpPr>
          <p:nvPr/>
        </p:nvCxnSpPr>
        <p:spPr>
          <a:xfrm rot="16200000" flipH="1">
            <a:off x="23366904" y="-2736096"/>
            <a:ext cx="2161308" cy="111110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F9B1257E-1262-3F5A-CB27-D3FB69421A25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 rot="16200000" flipH="1">
            <a:off x="26930465" y="-6299657"/>
            <a:ext cx="2161308" cy="182381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: Diagonal Corners Rounded 83">
            <a:extLst>
              <a:ext uri="{FF2B5EF4-FFF2-40B4-BE49-F238E27FC236}">
                <a16:creationId xmlns:a16="http://schemas.microsoft.com/office/drawing/2014/main" id="{7A9933FB-E02E-AC60-4557-86CB019A6E21}"/>
              </a:ext>
            </a:extLst>
          </p:cNvPr>
          <p:cNvSpPr/>
          <p:nvPr/>
        </p:nvSpPr>
        <p:spPr>
          <a:xfrm>
            <a:off x="-11672804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How governments behave: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are leaders doing? Are countries friends or fighting?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Rules of the game: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laws are in place from countries or groups like the UN?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drama: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conflicts or arguments between countries?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8" name="Rectangle: Diagonal Corners Rounded 97">
            <a:extLst>
              <a:ext uri="{FF2B5EF4-FFF2-40B4-BE49-F238E27FC236}">
                <a16:creationId xmlns:a16="http://schemas.microsoft.com/office/drawing/2014/main" id="{1AA99256-2A5C-BDA2-EB92-B18EA4B10057}"/>
              </a:ext>
            </a:extLst>
          </p:cNvPr>
          <p:cNvSpPr/>
          <p:nvPr/>
        </p:nvSpPr>
        <p:spPr>
          <a:xfrm>
            <a:off x="-8078935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Money matters: Is the world economy doing well? Are countries rich or poor?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Fairness in money: Is there a big difference in wealth between countries?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Where the money goes: How is money being spent on aid or development?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9" name="Rectangle: Diagonal Corners Rounded 98">
            <a:extLst>
              <a:ext uri="{FF2B5EF4-FFF2-40B4-BE49-F238E27FC236}">
                <a16:creationId xmlns:a16="http://schemas.microsoft.com/office/drawing/2014/main" id="{AB0899F1-28CA-6EFA-A4B5-1A0FA1ED3A18}"/>
              </a:ext>
            </a:extLst>
          </p:cNvPr>
          <p:cNvSpPr/>
          <p:nvPr/>
        </p:nvSpPr>
        <p:spPr>
          <a:xfrm>
            <a:off x="-4485066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power: What do regular people think about the problem? Are they angry or supportive?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Culture &amp; beliefs: Do traditions or different ways of life affect the issue?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Moving people: Are people having to move from their homes, or are populations changing?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F647EB90-8352-725E-CDC3-F1266D4B72B8}"/>
              </a:ext>
            </a:extLst>
          </p:cNvPr>
          <p:cNvSpPr/>
          <p:nvPr/>
        </p:nvSpPr>
        <p:spPr>
          <a:xfrm>
            <a:off x="1415585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New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new technologies can help solve the problem? (Like apps or new ways to make energy)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Bad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are bad guys using technology to cause problems? (Like hacking or spreading fake news)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Digital divide: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Do some people have access to technology while others don't?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C1145956-CEB2-4297-9199-F8A3FB165A50}"/>
              </a:ext>
            </a:extLst>
          </p:cNvPr>
          <p:cNvSpPr/>
          <p:nvPr/>
        </p:nvSpPr>
        <p:spPr>
          <a:xfrm>
            <a:off x="5009454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Big agreements: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global laws or treaties that everyone has agreed to?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Local laws: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do a country's own laws affect the issue? </a:t>
            </a:r>
            <a:r>
              <a:rPr lang="en-US" sz="1400" i="1" u="sng" dirty="0">
                <a:solidFill>
                  <a:schemeClr val="tx1"/>
                </a:solidFill>
                <a:highlight>
                  <a:srgbClr val="C0C0C0"/>
                </a:highlight>
                <a:latin typeface="Century Gothic" panose="020B0502020202020204" pitchFamily="34" charset="0"/>
              </a:rPr>
              <a:t>(Lex Loci)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Legal fights: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countries arguing over who is in charge of a legal problem?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229D61AC-263A-A4A1-D582-4455AC36C9A4}"/>
              </a:ext>
            </a:extLst>
          </p:cNvPr>
          <p:cNvSpPr/>
          <p:nvPr/>
        </p:nvSpPr>
        <p:spPr>
          <a:xfrm>
            <a:off x="8603323" y="3169923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changes: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is climate change or pollution affecting the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Using resources: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we running out of water or other important resources?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fury: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natural disasters making the problem worse?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BADDF2EB-BEB5-9D73-9719-62113FF3C875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F4DF92B5-02B9-C92F-C647-FFC45C1A1C83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92912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39888-C613-FA59-C82E-BB85B014A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BA3C5E-204C-ABCB-9651-7FF8488F8D15}"/>
              </a:ext>
            </a:extLst>
          </p:cNvPr>
          <p:cNvSpPr/>
          <p:nvPr/>
        </p:nvSpPr>
        <p:spPr>
          <a:xfrm>
            <a:off x="3136669" y="-12216934"/>
            <a:ext cx="5918662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MUN Committee Global Issue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C8810A-038C-E097-EF86-ED3029D049C3}"/>
              </a:ext>
            </a:extLst>
          </p:cNvPr>
          <p:cNvSpPr/>
          <p:nvPr/>
        </p:nvSpPr>
        <p:spPr>
          <a:xfrm>
            <a:off x="-21081078" y="187038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PESTLE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5FEFCB-4D86-F95C-F081-C8EF50B8CF51}"/>
              </a:ext>
            </a:extLst>
          </p:cNvPr>
          <p:cNvSpPr/>
          <p:nvPr/>
        </p:nvSpPr>
        <p:spPr>
          <a:xfrm>
            <a:off x="4569806" y="437997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SWOT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E1E55C0-8404-0AC9-FC22-871C6718030F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5400000">
            <a:off x="305687" y="-5352317"/>
            <a:ext cx="11574277" cy="63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0418016-F69E-CFC0-01BD-F6AA38E69868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-12394276" y="-18303238"/>
            <a:ext cx="11323318" cy="256572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F6F3762-56EA-D487-C004-18D11B2623A9}"/>
              </a:ext>
            </a:extLst>
          </p:cNvPr>
          <p:cNvSpPr/>
          <p:nvPr/>
        </p:nvSpPr>
        <p:spPr>
          <a:xfrm>
            <a:off x="-24674948" y="1762298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Political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5AA18C-568B-5FAF-A4CC-C9499A4B49E0}"/>
              </a:ext>
            </a:extLst>
          </p:cNvPr>
          <p:cNvSpPr/>
          <p:nvPr/>
        </p:nvSpPr>
        <p:spPr>
          <a:xfrm>
            <a:off x="-21081079" y="1762298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Economic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EC0111-A2E1-4206-C0BA-C91EB5DF201E}"/>
              </a:ext>
            </a:extLst>
          </p:cNvPr>
          <p:cNvSpPr/>
          <p:nvPr/>
        </p:nvSpPr>
        <p:spPr>
          <a:xfrm>
            <a:off x="-17487210" y="1762298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Social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7DC616-6F22-BC32-CC6F-65964B8FA770}"/>
              </a:ext>
            </a:extLst>
          </p:cNvPr>
          <p:cNvSpPr/>
          <p:nvPr/>
        </p:nvSpPr>
        <p:spPr>
          <a:xfrm>
            <a:off x="-11535294" y="1762298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Technological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B8B209-7A0F-A8F7-59AB-803F5CE86938}"/>
              </a:ext>
            </a:extLst>
          </p:cNvPr>
          <p:cNvSpPr/>
          <p:nvPr/>
        </p:nvSpPr>
        <p:spPr>
          <a:xfrm>
            <a:off x="-7941425" y="1762298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Legal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99F8A3-916A-2C83-6410-541A6D117868}"/>
              </a:ext>
            </a:extLst>
          </p:cNvPr>
          <p:cNvSpPr/>
          <p:nvPr/>
        </p:nvSpPr>
        <p:spPr>
          <a:xfrm>
            <a:off x="-4347556" y="1762298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Environmental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7D3383-99FE-A2D9-577B-D3FE202AECB9}"/>
              </a:ext>
            </a:extLst>
          </p:cNvPr>
          <p:cNvSpPr/>
          <p:nvPr/>
        </p:nvSpPr>
        <p:spPr>
          <a:xfrm>
            <a:off x="378807" y="310083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Strength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A7E278-CE84-968D-5432-7D8C30D124C4}"/>
              </a:ext>
            </a:extLst>
          </p:cNvPr>
          <p:cNvSpPr/>
          <p:nvPr/>
        </p:nvSpPr>
        <p:spPr>
          <a:xfrm>
            <a:off x="8553681" y="310083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Weakness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DDED38-B3B9-A783-F1DA-49377FC82540}"/>
              </a:ext>
            </a:extLst>
          </p:cNvPr>
          <p:cNvSpPr/>
          <p:nvPr/>
        </p:nvSpPr>
        <p:spPr>
          <a:xfrm>
            <a:off x="15680807" y="310083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Opportunities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674133-114E-0549-2F08-7EC086352A23}"/>
              </a:ext>
            </a:extLst>
          </p:cNvPr>
          <p:cNvSpPr/>
          <p:nvPr/>
        </p:nvSpPr>
        <p:spPr>
          <a:xfrm>
            <a:off x="22807929" y="310083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Threats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CEFA216-81EE-F378-EC5C-E863CDAABC99}"/>
              </a:ext>
            </a:extLst>
          </p:cNvPr>
          <p:cNvCxnSpPr>
            <a:cxnSpLocks/>
          </p:cNvCxnSpPr>
          <p:nvPr/>
        </p:nvCxnSpPr>
        <p:spPr>
          <a:xfrm rot="5400000">
            <a:off x="-21545898" y="-222364"/>
            <a:ext cx="494606" cy="3474719"/>
          </a:xfrm>
          <a:prstGeom prst="bentConnector3">
            <a:avLst>
              <a:gd name="adj1" fmla="val 407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F22C222-DE47-8387-56C4-E9ACC40F0ACE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5400000">
            <a:off x="-19808537" y="1514995"/>
            <a:ext cx="494606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1F566BA1-04E6-9097-4C63-E893979CAB51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rot="16200000" flipH="1">
            <a:off x="-18011603" y="-281939"/>
            <a:ext cx="494606" cy="3593868"/>
          </a:xfrm>
          <a:prstGeom prst="bentConnector3">
            <a:avLst>
              <a:gd name="adj1" fmla="val 407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94F6D77-CFB1-B67A-4D1A-D7EF642CB492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rot="16200000" flipH="1">
            <a:off x="-15035645" y="-3257897"/>
            <a:ext cx="494606" cy="9545784"/>
          </a:xfrm>
          <a:prstGeom prst="bentConnector3">
            <a:avLst>
              <a:gd name="adj1" fmla="val 385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A038EFD6-E56B-4772-0715-98AE33F9DE6A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 rot="16200000" flipH="1">
            <a:off x="-13238711" y="-5054832"/>
            <a:ext cx="494606" cy="13139653"/>
          </a:xfrm>
          <a:prstGeom prst="bentConnector3">
            <a:avLst>
              <a:gd name="adj1" fmla="val 404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0CF21F77-EB2F-1F96-606C-EAB21E5E2F2F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16200000" flipH="1">
            <a:off x="-11441776" y="-6851766"/>
            <a:ext cx="494606" cy="16733522"/>
          </a:xfrm>
          <a:prstGeom prst="bentConnector3">
            <a:avLst>
              <a:gd name="adj1" fmla="val 3952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50464D8C-5ED0-DA35-EB4C-581A0945F909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rot="5400000">
            <a:off x="3203057" y="214246"/>
            <a:ext cx="1582188" cy="41909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388CBAAB-B91B-20E0-6B57-5282378A844B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7290493" y="317807"/>
            <a:ext cx="1582188" cy="39838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D7075104-B33D-AE00-E17D-DDBEE24BDAEB}"/>
              </a:ext>
            </a:extLst>
          </p:cNvPr>
          <p:cNvCxnSpPr>
            <a:cxnSpLocks/>
            <a:stCxn id="8" idx="2"/>
            <a:endCxn id="24" idx="0"/>
          </p:cNvCxnSpPr>
          <p:nvPr/>
        </p:nvCxnSpPr>
        <p:spPr>
          <a:xfrm rot="16200000" flipH="1">
            <a:off x="10854056" y="-3245756"/>
            <a:ext cx="1582188" cy="111110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67D5C8B4-ED18-43CD-9C9D-96F831CD31FE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 rot="16200000" flipH="1">
            <a:off x="14417617" y="-6809317"/>
            <a:ext cx="1582188" cy="182381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: Diagonal Corners Rounded 83">
            <a:extLst>
              <a:ext uri="{FF2B5EF4-FFF2-40B4-BE49-F238E27FC236}">
                <a16:creationId xmlns:a16="http://schemas.microsoft.com/office/drawing/2014/main" id="{5E17F9A3-EF9F-7997-EC19-A164B0AD8112}"/>
              </a:ext>
            </a:extLst>
          </p:cNvPr>
          <p:cNvSpPr/>
          <p:nvPr/>
        </p:nvSpPr>
        <p:spPr>
          <a:xfrm>
            <a:off x="-24757037" y="2698864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How governments behave: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are leaders doing? Are countries friends or fighting?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Rules of the game: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laws are in place from countries or groups like the UN?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drama: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conflicts or arguments between countries?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8" name="Rectangle: Diagonal Corners Rounded 97">
            <a:extLst>
              <a:ext uri="{FF2B5EF4-FFF2-40B4-BE49-F238E27FC236}">
                <a16:creationId xmlns:a16="http://schemas.microsoft.com/office/drawing/2014/main" id="{28815BF8-34BB-945C-DBEF-486C284C8AEA}"/>
              </a:ext>
            </a:extLst>
          </p:cNvPr>
          <p:cNvSpPr/>
          <p:nvPr/>
        </p:nvSpPr>
        <p:spPr>
          <a:xfrm>
            <a:off x="-21163168" y="2698864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Money matters: Is the world economy doing well? Are countries rich or poor?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Fairness in money: Is there a big difference in wealth between countries?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Where the money goes: How is money being spent on aid or development?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9" name="Rectangle: Diagonal Corners Rounded 98">
            <a:extLst>
              <a:ext uri="{FF2B5EF4-FFF2-40B4-BE49-F238E27FC236}">
                <a16:creationId xmlns:a16="http://schemas.microsoft.com/office/drawing/2014/main" id="{33E9D042-CC59-973B-34DF-D9537FC06FE9}"/>
              </a:ext>
            </a:extLst>
          </p:cNvPr>
          <p:cNvSpPr/>
          <p:nvPr/>
        </p:nvSpPr>
        <p:spPr>
          <a:xfrm>
            <a:off x="-17569299" y="2698864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power: What do regular people think about the problem? Are they angry or supportive?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Culture &amp; beliefs: Do traditions or different ways of life affect the issue?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Moving people: Are people having to move from their homes, or are populations changing?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29003EC0-6D47-E81F-1B42-5A65BC7F397C}"/>
              </a:ext>
            </a:extLst>
          </p:cNvPr>
          <p:cNvSpPr/>
          <p:nvPr/>
        </p:nvSpPr>
        <p:spPr>
          <a:xfrm>
            <a:off x="-11668648" y="2698864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New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new technologies can help solve the problem? (Like apps or new ways to make energy)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Bad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are bad guys using technology to cause problems? (Like hacking or spreading fake news)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Digital divide: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Do some people have access to technology while others don't?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5064CC4A-097E-AC4B-42F7-05DD147B63D2}"/>
              </a:ext>
            </a:extLst>
          </p:cNvPr>
          <p:cNvSpPr/>
          <p:nvPr/>
        </p:nvSpPr>
        <p:spPr>
          <a:xfrm>
            <a:off x="-8074779" y="2698864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Big agreements: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global laws or treaties that everyone has agreed to?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Local laws: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do a country's own laws affect the issue? </a:t>
            </a:r>
            <a:r>
              <a:rPr lang="en-US" sz="1400" i="1" u="sng" dirty="0">
                <a:solidFill>
                  <a:schemeClr val="tx1"/>
                </a:solidFill>
                <a:highlight>
                  <a:srgbClr val="C0C0C0"/>
                </a:highlight>
                <a:latin typeface="Century Gothic" panose="020B0502020202020204" pitchFamily="34" charset="0"/>
              </a:rPr>
              <a:t>(Lex Loci)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Legal fights: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countries arguing over who is in charge of a legal problem?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BACE99A2-6041-E1C5-8800-93E40E58521C}"/>
              </a:ext>
            </a:extLst>
          </p:cNvPr>
          <p:cNvSpPr/>
          <p:nvPr/>
        </p:nvSpPr>
        <p:spPr>
          <a:xfrm>
            <a:off x="-4480910" y="2698864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changes: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is climate change or pollution affecting the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Using resources: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we running out of water or other important resources?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fury: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natural disasters making the problem worse?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C664472B-381D-D754-6E94-9C7D02FFD844}"/>
              </a:ext>
            </a:extLst>
          </p:cNvPr>
          <p:cNvSpPr/>
          <p:nvPr/>
        </p:nvSpPr>
        <p:spPr>
          <a:xfrm flipH="1">
            <a:off x="378807" y="3913639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What we have going for 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Ready-to-go groups like the UN and WHO.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Amazing technology that can help.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around the world who care and are talking about it.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1D83A8B2-A89B-0425-115A-5D6911BF2350}"/>
              </a:ext>
            </a:extLst>
          </p:cNvPr>
          <p:cNvSpPr/>
          <p:nvPr/>
        </p:nvSpPr>
        <p:spPr>
          <a:xfrm>
            <a:off x="6323388" y="3989188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What's holding us back: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Countries don't want others telling them what to 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No one can force a country to follow the rules.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Not enough money or people to get the job done.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arguments and bias get in the way.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Rectangle: Diagonal Corners Rounded 27">
            <a:extLst>
              <a:ext uri="{FF2B5EF4-FFF2-40B4-BE49-F238E27FC236}">
                <a16:creationId xmlns:a16="http://schemas.microsoft.com/office/drawing/2014/main" id="{FD43B76A-5168-C38E-A2E4-872A28C93829}"/>
              </a:ext>
            </a:extLst>
          </p:cNvPr>
          <p:cNvSpPr/>
          <p:nvPr/>
        </p:nvSpPr>
        <p:spPr>
          <a:xfrm flipH="1">
            <a:off x="15680807" y="3989188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Rectangle: Diagonal Corners Rounded 28">
            <a:extLst>
              <a:ext uri="{FF2B5EF4-FFF2-40B4-BE49-F238E27FC236}">
                <a16:creationId xmlns:a16="http://schemas.microsoft.com/office/drawing/2014/main" id="{58639C77-C044-91A7-BCFD-00ED27F0453F}"/>
              </a:ext>
            </a:extLst>
          </p:cNvPr>
          <p:cNvSpPr/>
          <p:nvPr/>
        </p:nvSpPr>
        <p:spPr>
          <a:xfrm>
            <a:off x="21625388" y="4064737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Freeform 4">
            <a:extLst>
              <a:ext uri="{FF2B5EF4-FFF2-40B4-BE49-F238E27FC236}">
                <a16:creationId xmlns:a16="http://schemas.microsoft.com/office/drawing/2014/main" id="{93560485-0FCE-8339-AA81-4FFAACD65A6E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5A48BE8D-D42E-95F0-E4B3-4F46495FE81B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2671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08DECC-384F-875B-1F6C-D5096C6AB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EC3A21-0916-3C90-B789-7981566A7829}"/>
              </a:ext>
            </a:extLst>
          </p:cNvPr>
          <p:cNvSpPr/>
          <p:nvPr/>
        </p:nvSpPr>
        <p:spPr>
          <a:xfrm>
            <a:off x="3136669" y="-12216934"/>
            <a:ext cx="5918662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MUN Committee Global Issue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5FF6EB-2FB3-D34C-919E-7EA31D025CAA}"/>
              </a:ext>
            </a:extLst>
          </p:cNvPr>
          <p:cNvSpPr/>
          <p:nvPr/>
        </p:nvSpPr>
        <p:spPr>
          <a:xfrm>
            <a:off x="-35836228" y="-185841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PESTLE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99A8AC-68EB-B488-9CEB-4A596C33F55B}"/>
              </a:ext>
            </a:extLst>
          </p:cNvPr>
          <p:cNvSpPr/>
          <p:nvPr/>
        </p:nvSpPr>
        <p:spPr>
          <a:xfrm>
            <a:off x="-10185344" y="65118"/>
            <a:ext cx="3039687" cy="108065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SWOT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20DEEE9-1020-14A1-791F-86787652427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5400000">
            <a:off x="-6885449" y="-12916331"/>
            <a:ext cx="11201398" cy="147615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2F39B9C2-EAAC-8393-9A11-46CA41E4C6D6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-19585411" y="-25867253"/>
            <a:ext cx="10950439" cy="404123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F3BD274-4C08-E699-2BBA-895902B58DC9}"/>
              </a:ext>
            </a:extLst>
          </p:cNvPr>
          <p:cNvSpPr/>
          <p:nvPr/>
        </p:nvSpPr>
        <p:spPr>
          <a:xfrm>
            <a:off x="-39430098" y="138941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Political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CED8E7-15FD-6CAA-5859-EBBA58F8B1BA}"/>
              </a:ext>
            </a:extLst>
          </p:cNvPr>
          <p:cNvSpPr/>
          <p:nvPr/>
        </p:nvSpPr>
        <p:spPr>
          <a:xfrm>
            <a:off x="-35836229" y="138941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Economic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C200CA-8695-FC03-ECD3-B00DF4619D56}"/>
              </a:ext>
            </a:extLst>
          </p:cNvPr>
          <p:cNvSpPr/>
          <p:nvPr/>
        </p:nvSpPr>
        <p:spPr>
          <a:xfrm>
            <a:off x="-32242360" y="138941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Social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47E9BD-684B-7832-E9DE-359FE850D417}"/>
              </a:ext>
            </a:extLst>
          </p:cNvPr>
          <p:cNvSpPr/>
          <p:nvPr/>
        </p:nvSpPr>
        <p:spPr>
          <a:xfrm>
            <a:off x="-26290444" y="138941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Technological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9132CB-7256-F641-C755-AE76AA0ED09F}"/>
              </a:ext>
            </a:extLst>
          </p:cNvPr>
          <p:cNvSpPr/>
          <p:nvPr/>
        </p:nvSpPr>
        <p:spPr>
          <a:xfrm>
            <a:off x="-22696575" y="138941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Legal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0AB1DC-B119-7C08-42D6-837AA445C643}"/>
              </a:ext>
            </a:extLst>
          </p:cNvPr>
          <p:cNvSpPr/>
          <p:nvPr/>
        </p:nvSpPr>
        <p:spPr>
          <a:xfrm>
            <a:off x="-19102706" y="1389419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Environmental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F76740-994A-11EE-2696-C2720676D9CD}"/>
              </a:ext>
            </a:extLst>
          </p:cNvPr>
          <p:cNvSpPr/>
          <p:nvPr/>
        </p:nvSpPr>
        <p:spPr>
          <a:xfrm>
            <a:off x="-14376343" y="2727960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Strength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D11B9E-C82A-7C27-31B4-97F8BF3E0375}"/>
              </a:ext>
            </a:extLst>
          </p:cNvPr>
          <p:cNvSpPr/>
          <p:nvPr/>
        </p:nvSpPr>
        <p:spPr>
          <a:xfrm>
            <a:off x="-6201469" y="2727960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Weakness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AC7755-9E44-1134-1301-B9274BE97133}"/>
              </a:ext>
            </a:extLst>
          </p:cNvPr>
          <p:cNvSpPr/>
          <p:nvPr/>
        </p:nvSpPr>
        <p:spPr>
          <a:xfrm>
            <a:off x="925657" y="2727960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Opportunities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664266-2290-B868-CD9D-25CC0FA1EA50}"/>
              </a:ext>
            </a:extLst>
          </p:cNvPr>
          <p:cNvSpPr/>
          <p:nvPr/>
        </p:nvSpPr>
        <p:spPr>
          <a:xfrm>
            <a:off x="8052779" y="2727960"/>
            <a:ext cx="3039687" cy="70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Threats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D1F1646D-D94F-A406-5E8C-6819D387DC0F}"/>
              </a:ext>
            </a:extLst>
          </p:cNvPr>
          <p:cNvCxnSpPr>
            <a:cxnSpLocks/>
          </p:cNvCxnSpPr>
          <p:nvPr/>
        </p:nvCxnSpPr>
        <p:spPr>
          <a:xfrm rot="5400000">
            <a:off x="-36301048" y="-595243"/>
            <a:ext cx="494606" cy="3474719"/>
          </a:xfrm>
          <a:prstGeom prst="bentConnector3">
            <a:avLst>
              <a:gd name="adj1" fmla="val 407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C571181A-88DA-A5DD-C97E-AB4C29C7857A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5400000">
            <a:off x="-34563687" y="1142116"/>
            <a:ext cx="494606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E6722E09-6536-F1A8-88E8-6F6EACB37E5E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rot="16200000" flipH="1">
            <a:off x="-32766753" y="-654818"/>
            <a:ext cx="494606" cy="3593868"/>
          </a:xfrm>
          <a:prstGeom prst="bentConnector3">
            <a:avLst>
              <a:gd name="adj1" fmla="val 407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58C25270-64C1-7FE1-B000-852F7BF77D9E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rot="16200000" flipH="1">
            <a:off x="-29790795" y="-3630776"/>
            <a:ext cx="494606" cy="9545784"/>
          </a:xfrm>
          <a:prstGeom prst="bentConnector3">
            <a:avLst>
              <a:gd name="adj1" fmla="val 385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94C75585-C258-EF1E-8BA3-004D77E9ED4D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 rot="16200000" flipH="1">
            <a:off x="-27993861" y="-5427711"/>
            <a:ext cx="494606" cy="13139653"/>
          </a:xfrm>
          <a:prstGeom prst="bentConnector3">
            <a:avLst>
              <a:gd name="adj1" fmla="val 404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24FE5CC1-B796-C60D-57FC-91DA04EE5C76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16200000" flipH="1">
            <a:off x="-26196926" y="-7224645"/>
            <a:ext cx="494606" cy="16733522"/>
          </a:xfrm>
          <a:prstGeom prst="bentConnector3">
            <a:avLst>
              <a:gd name="adj1" fmla="val 3952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D102A951-1B60-85F4-8919-98246849EB0C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rot="5400000">
            <a:off x="-11552093" y="-158633"/>
            <a:ext cx="1582188" cy="41909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C208BCBB-B093-CF69-FD88-1ED2766447D2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-7464657" y="-55072"/>
            <a:ext cx="1582188" cy="39838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62D7CD1A-26C0-3206-4CC6-056ACF99D0AC}"/>
              </a:ext>
            </a:extLst>
          </p:cNvPr>
          <p:cNvCxnSpPr>
            <a:cxnSpLocks/>
            <a:stCxn id="8" idx="2"/>
            <a:endCxn id="24" idx="0"/>
          </p:cNvCxnSpPr>
          <p:nvPr/>
        </p:nvCxnSpPr>
        <p:spPr>
          <a:xfrm rot="16200000" flipH="1">
            <a:off x="-3901094" y="-3618635"/>
            <a:ext cx="1582188" cy="111110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1BD8A26E-8A4C-06D7-439D-F84A1D7362E3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 rot="16200000" flipH="1">
            <a:off x="-337533" y="-7182196"/>
            <a:ext cx="1582188" cy="182381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: Diagonal Corners Rounded 83">
            <a:extLst>
              <a:ext uri="{FF2B5EF4-FFF2-40B4-BE49-F238E27FC236}">
                <a16:creationId xmlns:a16="http://schemas.microsoft.com/office/drawing/2014/main" id="{135F9CE4-20C9-E257-514D-EBB71D76F36D}"/>
              </a:ext>
            </a:extLst>
          </p:cNvPr>
          <p:cNvSpPr/>
          <p:nvPr/>
        </p:nvSpPr>
        <p:spPr>
          <a:xfrm>
            <a:off x="-39512187" y="23259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How governments behave: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are leaders doing? Are countries friends or fighting?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Rules of the game: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laws are in place from countries or groups like the UN?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drama: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conflicts or arguments between countries?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8" name="Rectangle: Diagonal Corners Rounded 97">
            <a:extLst>
              <a:ext uri="{FF2B5EF4-FFF2-40B4-BE49-F238E27FC236}">
                <a16:creationId xmlns:a16="http://schemas.microsoft.com/office/drawing/2014/main" id="{15C5E638-03D8-F195-7FC7-0E2913D6DA73}"/>
              </a:ext>
            </a:extLst>
          </p:cNvPr>
          <p:cNvSpPr/>
          <p:nvPr/>
        </p:nvSpPr>
        <p:spPr>
          <a:xfrm>
            <a:off x="-35918318" y="23259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Money matters: Is the world economy doing well? Are countries rich or poor?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Fairness in money: Is there a big difference in wealth between countries?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Where the money goes: How is money being spent on aid or development?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9" name="Rectangle: Diagonal Corners Rounded 98">
            <a:extLst>
              <a:ext uri="{FF2B5EF4-FFF2-40B4-BE49-F238E27FC236}">
                <a16:creationId xmlns:a16="http://schemas.microsoft.com/office/drawing/2014/main" id="{30FD6835-C993-573A-7058-E342A39FA102}"/>
              </a:ext>
            </a:extLst>
          </p:cNvPr>
          <p:cNvSpPr/>
          <p:nvPr/>
        </p:nvSpPr>
        <p:spPr>
          <a:xfrm>
            <a:off x="-32324449" y="23259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power: What do regular people think about the problem? Are they angry or supportive?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Culture &amp; beliefs: Do traditions or different ways of life affect the issue?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Moving people: Are people having to move from their homes, or are populations changing?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F45BB3A9-D537-1D5E-E39B-C4750A238124}"/>
              </a:ext>
            </a:extLst>
          </p:cNvPr>
          <p:cNvSpPr/>
          <p:nvPr/>
        </p:nvSpPr>
        <p:spPr>
          <a:xfrm>
            <a:off x="-26423798" y="23259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New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What new technologies can help solve the problem? (Like apps or new ways to make energy)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Bad tools: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are bad guys using technology to cause problems? (Like hacking or spreading fake news)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Digital divide: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Do some people have access to technology while others don't?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3C54B9A3-D441-CC8A-B00B-1817E9AC7E34}"/>
              </a:ext>
            </a:extLst>
          </p:cNvPr>
          <p:cNvSpPr/>
          <p:nvPr/>
        </p:nvSpPr>
        <p:spPr>
          <a:xfrm>
            <a:off x="-22829929" y="23259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Big agreements: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there global laws or treaties that everyone has agreed to?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Local laws: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do a country's own laws affect the issue? </a:t>
            </a:r>
            <a:r>
              <a:rPr lang="en-US" sz="1400" i="1" u="sng" dirty="0">
                <a:solidFill>
                  <a:schemeClr val="tx1"/>
                </a:solidFill>
                <a:highlight>
                  <a:srgbClr val="C0C0C0"/>
                </a:highlight>
                <a:latin typeface="Century Gothic" panose="020B0502020202020204" pitchFamily="34" charset="0"/>
              </a:rPr>
              <a:t>(Lex Loci)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Legal fights: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countries arguing over who is in charge of a legal problem?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BEA436FD-4807-6191-20DE-5883E41B86E1}"/>
              </a:ext>
            </a:extLst>
          </p:cNvPr>
          <p:cNvSpPr/>
          <p:nvPr/>
        </p:nvSpPr>
        <p:spPr>
          <a:xfrm>
            <a:off x="-19236060" y="2325985"/>
            <a:ext cx="3203864" cy="321868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changes: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How is climate change or pollution affecting the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Using resources: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we running out of water or other important resources?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Nature's fury: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Are natural disasters making the problem worse?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6D1A67C6-A46F-681E-B6CD-38A58114DF41}"/>
              </a:ext>
            </a:extLst>
          </p:cNvPr>
          <p:cNvSpPr/>
          <p:nvPr/>
        </p:nvSpPr>
        <p:spPr>
          <a:xfrm flipH="1">
            <a:off x="-14376343" y="3540760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What we have going for 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Ready-to-go groups like the UN and WHO.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Amazing technology that can help.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around the world who care and are talking about it.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CB6A45AD-8E04-97C3-6707-FB26FA4C326E}"/>
              </a:ext>
            </a:extLst>
          </p:cNvPr>
          <p:cNvSpPr/>
          <p:nvPr/>
        </p:nvSpPr>
        <p:spPr>
          <a:xfrm>
            <a:off x="-8431762" y="3616309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What's holding us back: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Countries don't want others telling them what to 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No one can force a country to follow the rules.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Not enough money or people to get the job done.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arguments and bias get in the way.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Rectangle: Diagonal Corners Rounded 27">
            <a:extLst>
              <a:ext uri="{FF2B5EF4-FFF2-40B4-BE49-F238E27FC236}">
                <a16:creationId xmlns:a16="http://schemas.microsoft.com/office/drawing/2014/main" id="{0829D05F-F4A2-604E-7E4E-BF6730080B08}"/>
              </a:ext>
            </a:extLst>
          </p:cNvPr>
          <p:cNvSpPr/>
          <p:nvPr/>
        </p:nvSpPr>
        <p:spPr>
          <a:xfrm flipH="1">
            <a:off x="925657" y="3616309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Good chances we can take: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diplomatic talks could start.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technology could create a breakthrough 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People are more active and want to help.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New ways of doing business could lead to a solution.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Rectangle: Diagonal Corners Rounded 28">
            <a:extLst>
              <a:ext uri="{FF2B5EF4-FFF2-40B4-BE49-F238E27FC236}">
                <a16:creationId xmlns:a16="http://schemas.microsoft.com/office/drawing/2014/main" id="{F864D953-221A-21A2-4365-3989EA6C9028}"/>
              </a:ext>
            </a:extLst>
          </p:cNvPr>
          <p:cNvSpPr/>
          <p:nvPr/>
        </p:nvSpPr>
        <p:spPr>
          <a:xfrm>
            <a:off x="6870238" y="3691858"/>
            <a:ext cx="5321762" cy="1928361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Risks we need to watch out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Political chaos in a country.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 worldwide money problem (like a recession).New diseases or global security risks.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Worsening environmental disasters.</a:t>
            </a:r>
            <a:endParaRPr lang="en-IN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BEC0A0F4-3DAD-4ACB-3AC6-55B3A70A1E41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84EDB35D-C682-B02D-2C04-FEED5B31C827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7449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AA58-B514-B93F-7F2F-CF395C0A2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3217264"/>
          </a:xfrm>
        </p:spPr>
        <p:txBody>
          <a:bodyPr>
            <a:noAutofit/>
          </a:bodyPr>
          <a:lstStyle/>
          <a:p>
            <a:pPr algn="ctr"/>
            <a:r>
              <a:rPr lang="en-IN" sz="136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THANK YOU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EE8CD1A-9742-12A3-30FD-A0B885C44C14}"/>
              </a:ext>
            </a:extLst>
          </p:cNvPr>
          <p:cNvSpPr/>
          <p:nvPr/>
        </p:nvSpPr>
        <p:spPr>
          <a:xfrm>
            <a:off x="947730" y="592402"/>
            <a:ext cx="977899" cy="962078"/>
          </a:xfrm>
          <a:custGeom>
            <a:avLst/>
            <a:gdLst/>
            <a:ahLst/>
            <a:cxnLst/>
            <a:rect l="l" t="t" r="r" b="b"/>
            <a:pathLst>
              <a:path w="1503085" h="1660867">
                <a:moveTo>
                  <a:pt x="0" y="0"/>
                </a:moveTo>
                <a:lnTo>
                  <a:pt x="1503085" y="0"/>
                </a:lnTo>
                <a:lnTo>
                  <a:pt x="1503085" y="1660867"/>
                </a:lnTo>
                <a:lnTo>
                  <a:pt x="0" y="1660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71B3383-3AD7-C7D8-1237-E954F2FCE77F}"/>
              </a:ext>
            </a:extLst>
          </p:cNvPr>
          <p:cNvSpPr/>
          <p:nvPr/>
        </p:nvSpPr>
        <p:spPr>
          <a:xfrm>
            <a:off x="10035309" y="592402"/>
            <a:ext cx="1265382" cy="962078"/>
          </a:xfrm>
          <a:custGeom>
            <a:avLst/>
            <a:gdLst/>
            <a:ahLst/>
            <a:cxnLst/>
            <a:rect l="l" t="t" r="r" b="b"/>
            <a:pathLst>
              <a:path w="1625300" h="1631418">
                <a:moveTo>
                  <a:pt x="0" y="0"/>
                </a:moveTo>
                <a:lnTo>
                  <a:pt x="1625300" y="0"/>
                </a:lnTo>
                <a:lnTo>
                  <a:pt x="1625300" y="1631418"/>
                </a:lnTo>
                <a:lnTo>
                  <a:pt x="0" y="1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31839" b="-3054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98435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1790</Words>
  <Application>Microsoft Office PowerPoint</Application>
  <PresentationFormat>Widescreen</PresentationFormat>
  <Paragraphs>217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Aharoni</vt:lpstr>
      <vt:lpstr>Arial</vt:lpstr>
      <vt:lpstr>Calibri</vt:lpstr>
      <vt:lpstr>Calibri Light</vt:lpstr>
      <vt:lpstr>Century Gothic</vt:lpstr>
      <vt:lpstr>Open Sans</vt:lpstr>
      <vt:lpstr>Unbounded Bold</vt:lpstr>
      <vt:lpstr>Unbounded Light</vt:lpstr>
      <vt:lpstr>Office Theme</vt:lpstr>
      <vt:lpstr>PowerPoint Presentation</vt:lpstr>
      <vt:lpstr>MUN WORKSHOP SERIES DAY 3</vt:lpstr>
      <vt:lpstr>MASTERING  STRATEGIC RESEARCH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MASTERING  STRATEGIC RESEARCH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Sambuddha Das</dc:creator>
  <cp:lastModifiedBy>Sambuddha Das</cp:lastModifiedBy>
  <cp:revision>2</cp:revision>
  <dcterms:created xsi:type="dcterms:W3CDTF">2025-09-24T15:16:06Z</dcterms:created>
  <dcterms:modified xsi:type="dcterms:W3CDTF">2025-09-24T17:27:30Z</dcterms:modified>
</cp:coreProperties>
</file>