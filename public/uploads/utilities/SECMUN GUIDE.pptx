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310.xml" ContentType="application/vnd.openxmlformats-officedocument.presentationml.slide+xml"/>
  <Override PartName="/ppt/slides/slide60.xml" ContentType="application/vnd.openxmlformats-officedocument.presentationml.slide+xml"/>
  <Override PartName="/ppt/slides/slide120.xml" ContentType="application/vnd.openxmlformats-officedocument.presentationml.slide+xml"/>
  <Override PartName="/ppt/slides/slide63.xml" ContentType="application/vnd.openxmlformats-officedocument.presentationml.slide+xml"/>
  <Override PartName="/ppt/slideLayouts/slideLayout70.xml" ContentType="application/vnd.openxmlformats-officedocument.presentationml.slideLayout+xml"/>
  <Override PartName="/ppt/slideMasters/slideMaster10.xml" ContentType="application/vnd.openxmlformats-officedocument.presentationml.slideMaster+xml"/>
  <Override PartName="/ppt/slideLayouts/slideLayout80.xml" ContentType="application/vnd.openxmlformats-officedocument.presentationml.slideLayout+xml"/>
  <Override PartName="/ppt/slideLayouts/slideLayout130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120.xml" ContentType="application/vnd.openxmlformats-officedocument.presentationml.slideLayout+xml"/>
  <Override PartName="/ppt/theme/theme10.xml" ContentType="application/vnd.openxmlformats-officedocument.theme+xml"/>
  <Override PartName="/ppt/slideLayouts/slideLayout20.xml" ContentType="application/vnd.openxmlformats-officedocument.presentationml.slideLayout+xml"/>
  <Override PartName="/ppt/slideLayouts/slideLayout160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150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140.xml" ContentType="application/vnd.openxmlformats-officedocument.presentationml.slideLayout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1" r:id="rId1"/>
  </p:sldMasterIdLst>
  <p:notesMasterIdLst>
    <p:notesMasterId r:id="rId46"/>
  </p:notesMasterIdLst>
  <p:sldIdLst>
    <p:sldId id="339" r:id="rId2"/>
    <p:sldId id="340" r:id="rId3"/>
    <p:sldId id="341" r:id="rId4"/>
    <p:sldId id="342" r:id="rId5"/>
    <p:sldId id="296" r:id="rId6"/>
    <p:sldId id="295" r:id="rId7"/>
    <p:sldId id="294" r:id="rId8"/>
    <p:sldId id="257" r:id="rId9"/>
    <p:sldId id="297" r:id="rId10"/>
    <p:sldId id="299" r:id="rId11"/>
    <p:sldId id="290" r:id="rId12"/>
    <p:sldId id="265" r:id="rId13"/>
    <p:sldId id="308" r:id="rId14"/>
    <p:sldId id="301" r:id="rId15"/>
    <p:sldId id="258" r:id="rId16"/>
    <p:sldId id="261" r:id="rId17"/>
    <p:sldId id="291" r:id="rId18"/>
    <p:sldId id="316" r:id="rId19"/>
    <p:sldId id="315" r:id="rId20"/>
    <p:sldId id="317" r:id="rId21"/>
    <p:sldId id="262" r:id="rId22"/>
    <p:sldId id="329" r:id="rId23"/>
    <p:sldId id="335" r:id="rId24"/>
    <p:sldId id="263" r:id="rId25"/>
    <p:sldId id="330" r:id="rId26"/>
    <p:sldId id="336" r:id="rId27"/>
    <p:sldId id="270" r:id="rId28"/>
    <p:sldId id="271" r:id="rId29"/>
    <p:sldId id="331" r:id="rId30"/>
    <p:sldId id="337" r:id="rId31"/>
    <p:sldId id="277" r:id="rId32"/>
    <p:sldId id="309" r:id="rId33"/>
    <p:sldId id="302" r:id="rId34"/>
    <p:sldId id="278" r:id="rId35"/>
    <p:sldId id="279" r:id="rId36"/>
    <p:sldId id="310" r:id="rId37"/>
    <p:sldId id="303" r:id="rId38"/>
    <p:sldId id="281" r:id="rId39"/>
    <p:sldId id="282" r:id="rId40"/>
    <p:sldId id="311" r:id="rId41"/>
    <p:sldId id="304" r:id="rId42"/>
    <p:sldId id="283" r:id="rId43"/>
    <p:sldId id="284" r:id="rId44"/>
    <p:sldId id="285" r:id="rId4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2BB675BC-1A6D-4A3A-8D5E-C63CBF03229B}">
          <p14:sldIdLst>
            <p14:sldId id="339"/>
            <p14:sldId id="340"/>
          </p14:sldIdLst>
        </p14:section>
        <p14:section name="CONTENT" id="{7A266386-9ED6-4C6C-9922-CDBB211DCF21}">
          <p14:sldIdLst>
            <p14:sldId id="341"/>
            <p14:sldId id="342"/>
          </p14:sldIdLst>
        </p14:section>
        <p14:section name="Summary Section" id="{CA9F3D8B-6153-4087-81BC-55E031496E23}">
          <p14:sldIdLst/>
        </p14:section>
        <p14:section name="BRIEF" id="{4EE7DEA6-D017-4EF6-8B05-834394FDF034}">
          <p14:sldIdLst>
            <p14:sldId id="296"/>
            <p14:sldId id="295"/>
            <p14:sldId id="294"/>
            <p14:sldId id="257"/>
          </p14:sldIdLst>
        </p14:section>
        <p14:section name="MOTIONS" id="{387287FD-D4C0-4725-83CF-C821A1A50C67}">
          <p14:sldIdLst>
            <p14:sldId id="297"/>
            <p14:sldId id="299"/>
            <p14:sldId id="290"/>
            <p14:sldId id="265"/>
          </p14:sldIdLst>
        </p14:section>
        <p14:section name="ROP" id="{2EB85532-5A60-485A-BB0F-A58A3A45DDF3}">
          <p14:sldIdLst>
            <p14:sldId id="308"/>
            <p14:sldId id="301"/>
            <p14:sldId id="258"/>
            <p14:sldId id="261"/>
            <p14:sldId id="291"/>
            <p14:sldId id="316"/>
          </p14:sldIdLst>
        </p14:section>
        <p14:section name="Roll Call" id="{A665A6E0-9ABE-4E8B-B4A4-15D36CE59A98}">
          <p14:sldIdLst>
            <p14:sldId id="315"/>
            <p14:sldId id="317"/>
            <p14:sldId id="262"/>
          </p14:sldIdLst>
        </p14:section>
        <p14:section name="The GSL" id="{5E6F099A-0F2C-4765-88A6-6792EB1E4876}">
          <p14:sldIdLst>
            <p14:sldId id="329"/>
            <p14:sldId id="335"/>
            <p14:sldId id="263"/>
          </p14:sldIdLst>
        </p14:section>
        <p14:section name="Caucuses" id="{0CC3CD08-014A-478C-B166-B6E8D4F56630}">
          <p14:sldIdLst>
            <p14:sldId id="330"/>
            <p14:sldId id="336"/>
            <p14:sldId id="270"/>
            <p14:sldId id="271"/>
          </p14:sldIdLst>
        </p14:section>
        <p14:section name="Suspension Of The Debate" id="{4ADB10B5-4443-452E-964F-F06F50569FD2}">
          <p14:sldIdLst>
            <p14:sldId id="331"/>
            <p14:sldId id="337"/>
            <p14:sldId id="277"/>
          </p14:sldIdLst>
        </p14:section>
        <p14:section name="POINTS &amp; RIGHTS" id="{667ABC28-0843-4D80-987F-8997A50A4879}">
          <p14:sldIdLst>
            <p14:sldId id="309"/>
            <p14:sldId id="302"/>
            <p14:sldId id="278"/>
            <p14:sldId id="279"/>
          </p14:sldIdLst>
        </p14:section>
        <p14:section name="YIELDS" id="{AF7124D6-0228-4FE0-A726-FBB1CD48D8F9}">
          <p14:sldIdLst>
            <p14:sldId id="310"/>
            <p14:sldId id="303"/>
            <p14:sldId id="281"/>
            <p14:sldId id="282"/>
          </p14:sldIdLst>
        </p14:section>
        <p14:section name="PAPERWORK" id="{401ABBC8-5586-4E90-A2CE-B11A7896F06E}">
          <p14:sldIdLst>
            <p14:sldId id="311"/>
            <p14:sldId id="304"/>
            <p14:sldId id="283"/>
            <p14:sldId id="284"/>
            <p14:sldId id="28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204" autoAdjust="0"/>
    <p:restoredTop sz="94660"/>
  </p:normalViewPr>
  <p:slideViewPr>
    <p:cSldViewPr snapToGrid="0">
      <p:cViewPr varScale="1">
        <p:scale>
          <a:sx n="71" d="100"/>
          <a:sy n="71" d="100"/>
        </p:scale>
        <p:origin x="1051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74193C-A2D9-4242-AC33-6BA11C98A6EF}" type="datetimeFigureOut">
              <a:rPr lang="en-IN" smtClean="0"/>
              <a:t>16-09-2025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83A4E66-F0C0-41EB-8093-533970C2670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260415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1D42E9-947B-456B-871A-C3D6DCFF8243}" type="datetimeFigureOut">
              <a:rPr lang="en-IN" smtClean="0"/>
              <a:t>16-09-2025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128FE198-F22E-4F95-A487-ACDDF508BF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928389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1D42E9-947B-456B-871A-C3D6DCFF8243}" type="datetimeFigureOut">
              <a:rPr lang="en-IN" smtClean="0"/>
              <a:t>16-09-2025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8FE198-F22E-4F95-A487-ACDDF508BF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784154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1D42E9-947B-456B-871A-C3D6DCFF8243}" type="datetimeFigureOut">
              <a:rPr lang="en-IN" smtClean="0"/>
              <a:t>16-09-2025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128FE198-F22E-4F95-A487-ACDDF508BF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172307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1D42E9-947B-456B-871A-C3D6DCFF8243}" type="datetimeFigureOut">
              <a:rPr lang="en-IN" smtClean="0"/>
              <a:t>16-09-2025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128FE198-F22E-4F95-A487-ACDDF508BF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044302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1D42E9-947B-456B-871A-C3D6DCFF8243}" type="datetimeFigureOut">
              <a:rPr lang="en-IN" smtClean="0"/>
              <a:t>16-09-2025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128FE198-F22E-4F95-A487-ACDDF508BF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345275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1D42E9-947B-456B-871A-C3D6DCFF8243}" type="datetimeFigureOut">
              <a:rPr lang="en-IN" smtClean="0"/>
              <a:t>16-09-2025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8FE198-F22E-4F95-A487-ACDDF508BF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645398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1D42E9-947B-456B-871A-C3D6DCFF8243}" type="datetimeFigureOut">
              <a:rPr lang="en-IN" smtClean="0"/>
              <a:t>16-09-2025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8FE198-F22E-4F95-A487-ACDDF508BF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60459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1D42E9-947B-456B-871A-C3D6DCFF8243}" type="datetimeFigureOut">
              <a:rPr lang="en-IN" smtClean="0"/>
              <a:t>16-09-2025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8FE198-F22E-4F95-A487-ACDDF508BF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343427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1D42E9-947B-456B-871A-C3D6DCFF8243}" type="datetimeFigureOut">
              <a:rPr lang="en-IN" smtClean="0"/>
              <a:t>16-09-2025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128FE198-F22E-4F95-A487-ACDDF508BF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143367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1D42E9-947B-456B-871A-C3D6DCFF8243}" type="datetimeFigureOut">
              <a:rPr lang="en-IN" smtClean="0"/>
              <a:t>16-09-2025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128FE198-F22E-4F95-A487-ACDDF508BF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220115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1D42E9-947B-456B-871A-C3D6DCFF8243}" type="datetimeFigureOut">
              <a:rPr lang="en-IN" smtClean="0"/>
              <a:t>16-09-2025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128FE198-F22E-4F95-A487-ACDDF508BF0E}" type="slidenum">
              <a:rPr lang="en-IN" smtClean="0"/>
              <a:t>‹#›</a:t>
            </a:fld>
            <a:endParaRPr lang="en-IN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99171496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1D42E9-947B-456B-871A-C3D6DCFF8243}" type="datetimeFigureOut">
              <a:rPr lang="en-IN" smtClean="0"/>
              <a:t>16-09-2025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128FE198-F22E-4F95-A487-ACDDF508BF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2213940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1D42E9-947B-456B-871A-C3D6DCFF8243}" type="datetimeFigureOut">
              <a:rPr lang="en-IN" smtClean="0"/>
              <a:t>16-09-2025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128FE198-F22E-4F95-A487-ACDDF508BF0E}" type="slidenum">
              <a:rPr lang="en-IN" smtClean="0"/>
              <a:t>‹#›</a:t>
            </a:fld>
            <a:endParaRPr lang="en-IN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97416466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1D42E9-947B-456B-871A-C3D6DCFF8243}" type="datetimeFigureOut">
              <a:rPr lang="en-IN" smtClean="0"/>
              <a:t>16-09-2025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128FE198-F22E-4F95-A487-ACDDF508BF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5680816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1D42E9-947B-456B-871A-C3D6DCFF8243}" type="datetimeFigureOut">
              <a:rPr lang="en-IN" smtClean="0"/>
              <a:t>16-09-2025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8FE198-F22E-4F95-A487-ACDDF508BF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9471706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1D42E9-947B-456B-871A-C3D6DCFF8243}" type="datetimeFigureOut">
              <a:rPr lang="en-IN" smtClean="0"/>
              <a:t>16-09-2025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8FE198-F22E-4F95-A487-ACDDF508BF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240347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1D42E9-947B-456B-871A-C3D6DCFF8243}" type="datetimeFigureOut">
              <a:rPr lang="en-IN" smtClean="0"/>
              <a:t>28-03-2024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8FE198-F22E-4F95-A487-ACDDF508BF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2109321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1D42E9-947B-456B-871A-C3D6DCFF8243}" type="datetimeFigureOut">
              <a:rPr lang="en-IN" smtClean="0"/>
              <a:t>28-03-2024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8FE198-F22E-4F95-A487-ACDDF508BF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25064727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1D42E9-947B-456B-871A-C3D6DCFF8243}" type="datetimeFigureOut">
              <a:rPr lang="en-IN" smtClean="0"/>
              <a:t>28-03-2024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8FE198-F22E-4F95-A487-ACDDF508BF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86380749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1D42E9-947B-456B-871A-C3D6DCFF8243}" type="datetimeFigureOut">
              <a:rPr lang="en-IN" smtClean="0"/>
              <a:t>28-03-2024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8FE198-F22E-4F95-A487-ACDDF508BF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56795255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1D42E9-947B-456B-871A-C3D6DCFF8243}" type="datetimeFigureOut">
              <a:rPr lang="en-IN" smtClean="0"/>
              <a:t>28-03-2024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8FE198-F22E-4F95-A487-ACDDF508BF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18279340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1D42E9-947B-456B-871A-C3D6DCFF8243}" type="datetimeFigureOut">
              <a:rPr lang="en-IN" smtClean="0"/>
              <a:t>28-03-2024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8FE198-F22E-4F95-A487-ACDDF508BF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76610262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1D42E9-947B-456B-871A-C3D6DCFF8243}" type="datetimeFigureOut">
              <a:rPr lang="en-IN" smtClean="0"/>
              <a:t>28-03-2024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8FE198-F22E-4F95-A487-ACDDF508BF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05205786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1D42E9-947B-456B-871A-C3D6DCFF8243}" type="datetimeFigureOut">
              <a:rPr lang="en-IN" smtClean="0"/>
              <a:t>28-03-2024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8FE198-F22E-4F95-A487-ACDDF508BF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67207801"/>
      </p:ext>
    </p:extLst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8FE198-F22E-4F95-A487-ACDDF508BF0E}" type="slidenum">
              <a:rPr lang="en-IN" smtClean="0"/>
              <a:t>‹#›</a:t>
            </a:fld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1D42E9-947B-456B-871A-C3D6DCFF8243}" type="datetimeFigureOut">
              <a:rPr lang="en-IN" smtClean="0"/>
              <a:t>28-03-2024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00783259"/>
      </p:ext>
    </p:extLst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1D42E9-947B-456B-871A-C3D6DCFF8243}" type="datetimeFigureOut">
              <a:rPr lang="en-IN" smtClean="0"/>
              <a:t>28-03-2024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8FE198-F22E-4F95-A487-ACDDF508BF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1953657"/>
      </p:ext>
    </p:extLst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1D42E9-947B-456B-871A-C3D6DCFF8243}" type="datetimeFigureOut">
              <a:rPr lang="en-IN" smtClean="0"/>
              <a:t>28-03-2024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8FE198-F22E-4F95-A487-ACDDF508BF0E}" type="slidenum">
              <a:rPr lang="en-IN" smtClean="0"/>
              <a:t>‹#›</a:t>
            </a:fld>
            <a:endParaRPr lang="en-IN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032680302"/>
      </p:ext>
    </p:extLst>
  </p:cSld>
  <p:clrMapOvr>
    <a:masterClrMapping/>
  </p:clrMapOvr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1D42E9-947B-456B-871A-C3D6DCFF8243}" type="datetimeFigureOut">
              <a:rPr lang="en-IN" smtClean="0"/>
              <a:t>28-03-2024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8FE198-F22E-4F95-A487-ACDDF508BF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37745700"/>
      </p:ext>
    </p:extLst>
  </p:cSld>
  <p:clrMapOvr>
    <a:masterClrMapping/>
  </p:clrMapOvr>
</p:sldLayout>
</file>

<file path=ppt/slideLayouts/slideLayout1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1D42E9-947B-456B-871A-C3D6DCFF8243}" type="datetimeFigureOut">
              <a:rPr lang="en-IN" smtClean="0"/>
              <a:t>28-03-2024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8FE198-F22E-4F95-A487-ACDDF508BF0E}" type="slidenum">
              <a:rPr lang="en-IN" smtClean="0"/>
              <a:t>‹#›</a:t>
            </a:fld>
            <a:endParaRPr lang="en-IN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913669686"/>
      </p:ext>
    </p:extLst>
  </p:cSld>
  <p:clrMapOvr>
    <a:masterClrMapping/>
  </p:clrMapOvr>
</p:sldLayout>
</file>

<file path=ppt/slideLayouts/slideLayout1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1D42E9-947B-456B-871A-C3D6DCFF8243}" type="datetimeFigureOut">
              <a:rPr lang="en-IN" smtClean="0"/>
              <a:t>28-03-2024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8FE198-F22E-4F95-A487-ACDDF508BF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91677716"/>
      </p:ext>
    </p:extLst>
  </p:cSld>
  <p:clrMapOvr>
    <a:masterClrMapping/>
  </p:clrMapOvr>
</p:sldLayout>
</file>

<file path=ppt/slideLayouts/slideLayout15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1D42E9-947B-456B-871A-C3D6DCFF8243}" type="datetimeFigureOut">
              <a:rPr lang="en-IN" smtClean="0"/>
              <a:t>28-03-2024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8FE198-F22E-4F95-A487-ACDDF508BF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43392503"/>
      </p:ext>
    </p:extLst>
  </p:cSld>
  <p:clrMapOvr>
    <a:masterClrMapping/>
  </p:clrMapOvr>
</p:sldLayout>
</file>

<file path=ppt/slideLayouts/slideLayout16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1D42E9-947B-456B-871A-C3D6DCFF8243}" type="datetimeFigureOut">
              <a:rPr lang="en-IN" smtClean="0"/>
              <a:t>28-03-2024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8FE198-F22E-4F95-A487-ACDDF508BF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692015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10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0.xml"/><Relationship Id="rId13" Type="http://schemas.openxmlformats.org/officeDocument/2006/relationships/slideLayout" Target="../slideLayouts/slideLayout130.xml"/><Relationship Id="rId3" Type="http://schemas.openxmlformats.org/officeDocument/2006/relationships/slideLayout" Target="../slideLayouts/slideLayout30.xml"/><Relationship Id="rId7" Type="http://schemas.openxmlformats.org/officeDocument/2006/relationships/slideLayout" Target="../slideLayouts/slideLayout70.xml"/><Relationship Id="rId12" Type="http://schemas.openxmlformats.org/officeDocument/2006/relationships/slideLayout" Target="../slideLayouts/slideLayout120.xml"/><Relationship Id="rId17" Type="http://schemas.openxmlformats.org/officeDocument/2006/relationships/theme" Target="../theme/theme10.xml"/><Relationship Id="rId2" Type="http://schemas.openxmlformats.org/officeDocument/2006/relationships/slideLayout" Target="../slideLayouts/slideLayout20.xml"/><Relationship Id="rId16" Type="http://schemas.openxmlformats.org/officeDocument/2006/relationships/slideLayout" Target="../slideLayouts/slideLayout160.xml"/><Relationship Id="rId1" Type="http://schemas.openxmlformats.org/officeDocument/2006/relationships/slideLayout" Target="../slideLayouts/slideLayout17.xml"/><Relationship Id="rId6" Type="http://schemas.openxmlformats.org/officeDocument/2006/relationships/slideLayout" Target="../slideLayouts/slideLayout60.xml"/><Relationship Id="rId11" Type="http://schemas.openxmlformats.org/officeDocument/2006/relationships/slideLayout" Target="../slideLayouts/slideLayout110.xml"/><Relationship Id="rId5" Type="http://schemas.openxmlformats.org/officeDocument/2006/relationships/slideLayout" Target="../slideLayouts/slideLayout50.xml"/><Relationship Id="rId15" Type="http://schemas.openxmlformats.org/officeDocument/2006/relationships/slideLayout" Target="../slideLayouts/slideLayout150.xml"/><Relationship Id="rId10" Type="http://schemas.openxmlformats.org/officeDocument/2006/relationships/slideLayout" Target="../slideLayouts/slideLayout100.xml"/><Relationship Id="rId4" Type="http://schemas.openxmlformats.org/officeDocument/2006/relationships/slideLayout" Target="../slideLayouts/slideLayout40.xml"/><Relationship Id="rId9" Type="http://schemas.openxmlformats.org/officeDocument/2006/relationships/slideLayout" Target="../slideLayouts/slideLayout90.xml"/><Relationship Id="rId14" Type="http://schemas.openxmlformats.org/officeDocument/2006/relationships/slideLayout" Target="../slideLayouts/slideLayout14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157"/>
            <a:ext cx="2356674" cy="6853096"/>
            <a:chOff x="6627813" y="195610"/>
            <a:chExt cx="1952625" cy="5678141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5610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1D42E9-947B-456B-871A-C3D6DCFF8243}" type="datetimeFigureOut">
              <a:rPr lang="en-IN" smtClean="0"/>
              <a:t>16-09-2025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128FE198-F22E-4F95-A487-ACDDF508BF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529580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2" r:id="rId1"/>
    <p:sldLayoutId id="2147483713" r:id="rId2"/>
    <p:sldLayoutId id="2147483714" r:id="rId3"/>
    <p:sldLayoutId id="2147483715" r:id="rId4"/>
    <p:sldLayoutId id="2147483716" r:id="rId5"/>
    <p:sldLayoutId id="2147483717" r:id="rId6"/>
    <p:sldLayoutId id="2147483718" r:id="rId7"/>
    <p:sldLayoutId id="2147483719" r:id="rId8"/>
    <p:sldLayoutId id="2147483720" r:id="rId9"/>
    <p:sldLayoutId id="2147483721" r:id="rId10"/>
    <p:sldLayoutId id="2147483722" r:id="rId11"/>
    <p:sldLayoutId id="2147483723" r:id="rId12"/>
    <p:sldLayoutId id="2147483724" r:id="rId13"/>
    <p:sldLayoutId id="2147483725" r:id="rId14"/>
    <p:sldLayoutId id="2147483726" r:id="rId15"/>
    <p:sldLayoutId id="2147483727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2">
              <a:lumMod val="7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1D42E9-947B-456B-871A-C3D6DCFF8243}" type="datetimeFigureOut">
              <a:rPr lang="en-IN" smtClean="0"/>
              <a:t>28-03-2024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128FE198-F22E-4F95-A487-ACDDF508BF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137577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  <p:sldLayoutId id="2147483689" r:id="rId12"/>
    <p:sldLayoutId id="2147483690" r:id="rId13"/>
    <p:sldLayoutId id="2147483691" r:id="rId14"/>
    <p:sldLayoutId id="2147483692" r:id="rId15"/>
    <p:sldLayoutId id="2147483693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slide" Target="slide5.xml"/><Relationship Id="rId13" Type="http://schemas.openxmlformats.org/officeDocument/2006/relationships/slide" Target="slide40.xml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12" Type="http://schemas.openxmlformats.org/officeDocument/2006/relationships/slide" Target="slide36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11" Type="http://schemas.openxmlformats.org/officeDocument/2006/relationships/slide" Target="slide32.xml"/><Relationship Id="rId5" Type="http://schemas.openxmlformats.org/officeDocument/2006/relationships/image" Target="../media/image5.png"/><Relationship Id="rId10" Type="http://schemas.openxmlformats.org/officeDocument/2006/relationships/slide" Target="slide13.xml"/><Relationship Id="rId4" Type="http://schemas.openxmlformats.org/officeDocument/2006/relationships/image" Target="../media/image4.png"/><Relationship Id="rId9" Type="http://schemas.openxmlformats.org/officeDocument/2006/relationships/slide" Target="slide9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slide" Target="slide25.xml"/><Relationship Id="rId3" Type="http://schemas.openxmlformats.org/officeDocument/2006/relationships/slide" Target="slide19.xml"/><Relationship Id="rId21" Type="http://schemas.openxmlformats.org/officeDocument/2006/relationships/slide" Target="slide310.xml"/><Relationship Id="rId7" Type="http://schemas.openxmlformats.org/officeDocument/2006/relationships/image" Target="../media/image10.png"/><Relationship Id="rId17" Type="http://schemas.openxmlformats.org/officeDocument/2006/relationships/image" Target="../media/image12.png"/><Relationship Id="rId2" Type="http://schemas.openxmlformats.org/officeDocument/2006/relationships/image" Target="../media/image8.png"/><Relationship Id="rId16" Type="http://schemas.openxmlformats.org/officeDocument/2006/relationships/image" Target="../media/image14.png"/><Relationship Id="rId20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0.png"/><Relationship Id="rId5" Type="http://schemas.openxmlformats.org/officeDocument/2006/relationships/image" Target="../media/image9.png"/><Relationship Id="rId15" Type="http://schemas.openxmlformats.org/officeDocument/2006/relationships/slide" Target="slide29.xml"/><Relationship Id="rId10" Type="http://schemas.openxmlformats.org/officeDocument/2006/relationships/image" Target="../media/image11.png"/><Relationship Id="rId4" Type="http://schemas.openxmlformats.org/officeDocument/2006/relationships/image" Target="../media/image100.png"/><Relationship Id="rId9" Type="http://schemas.openxmlformats.org/officeDocument/2006/relationships/image" Target="../media/image101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0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0.xml"/></Relationships>
</file>

<file path=ppt/slides/_rels/slide1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0.xml"/></Relationships>
</file>

<file path=ppt/slides/_rels/slide3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png"/><Relationship Id="rId13" Type="http://schemas.openxmlformats.org/officeDocument/2006/relationships/image" Target="../media/image40.png"/><Relationship Id="rId18" Type="http://schemas.openxmlformats.org/officeDocument/2006/relationships/slide" Target="slide36.xml"/><Relationship Id="rId3" Type="http://schemas.openxmlformats.org/officeDocument/2006/relationships/slide" Target="slide5.xml"/><Relationship Id="rId21" Type="http://schemas.openxmlformats.org/officeDocument/2006/relationships/slide" Target="slide40.xml"/><Relationship Id="rId7" Type="http://schemas.openxmlformats.org/officeDocument/2006/relationships/image" Target="../media/image20.png"/><Relationship Id="rId12" Type="http://schemas.openxmlformats.org/officeDocument/2006/relationships/slide" Target="slide13.xml"/><Relationship Id="rId17" Type="http://schemas.openxmlformats.org/officeDocument/2006/relationships/image" Target="../media/image71.png"/><Relationship Id="rId25" Type="http://schemas.openxmlformats.org/officeDocument/2006/relationships/image" Target="../media/image80.png"/><Relationship Id="rId2" Type="http://schemas.openxmlformats.org/officeDocument/2006/relationships/image" Target="../media/image21.png"/><Relationship Id="rId16" Type="http://schemas.openxmlformats.org/officeDocument/2006/relationships/image" Target="../media/image50.png"/><Relationship Id="rId20" Type="http://schemas.openxmlformats.org/officeDocument/2006/relationships/image" Target="../media/image81.png"/><Relationship Id="rId1" Type="http://schemas.openxmlformats.org/officeDocument/2006/relationships/slideLayout" Target="../slideLayouts/slideLayout7.xml"/><Relationship Id="rId6" Type="http://schemas.openxmlformats.org/officeDocument/2006/relationships/slide" Target="slide9.xml"/><Relationship Id="rId11" Type="http://schemas.openxmlformats.org/officeDocument/2006/relationships/image" Target="../media/image51.png"/><Relationship Id="rId24" Type="http://schemas.openxmlformats.org/officeDocument/2006/relationships/slide" Target="slide60.xml"/><Relationship Id="rId5" Type="http://schemas.openxmlformats.org/officeDocument/2006/relationships/image" Target="../media/image31.png"/><Relationship Id="rId15" Type="http://schemas.openxmlformats.org/officeDocument/2006/relationships/slide" Target="slide32.xml"/><Relationship Id="rId28" Type="http://schemas.openxmlformats.org/officeDocument/2006/relationships/image" Target="../media/image900.png"/><Relationship Id="rId10" Type="http://schemas.openxmlformats.org/officeDocument/2006/relationships/image" Target="../media/image30.png"/><Relationship Id="rId19" Type="http://schemas.openxmlformats.org/officeDocument/2006/relationships/image" Target="../media/image60.png"/><Relationship Id="rId4" Type="http://schemas.openxmlformats.org/officeDocument/2006/relationships/image" Target="../media/image17.png"/><Relationship Id="rId9" Type="http://schemas.openxmlformats.org/officeDocument/2006/relationships/slide" Target="slide120.xml"/><Relationship Id="rId14" Type="http://schemas.openxmlformats.org/officeDocument/2006/relationships/image" Target="../media/image61.png"/><Relationship Id="rId22" Type="http://schemas.openxmlformats.org/officeDocument/2006/relationships/image" Target="../media/image70.png"/><Relationship Id="rId27" Type="http://schemas.openxmlformats.org/officeDocument/2006/relationships/slide" Target="slide6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563B77B-75B8-7D35-F8E4-A5D7245C39E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9940" y="-1565442"/>
            <a:ext cx="7062847" cy="99888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004483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DA3B0D-BA2D-B40E-05A1-EE6AC01D512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85828" y="3429000"/>
            <a:ext cx="8915399" cy="2067232"/>
          </a:xfrm>
        </p:spPr>
        <p:txBody>
          <a:bodyPr/>
          <a:lstStyle/>
          <a:p>
            <a:r>
              <a:rPr lang="en-IN" dirty="0"/>
              <a:t>MUN Orientation Program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7FD673D-6177-0979-2F03-EA097F37547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85828" y="5731717"/>
            <a:ext cx="8915399" cy="1126283"/>
          </a:xfrm>
        </p:spPr>
        <p:txBody>
          <a:bodyPr/>
          <a:lstStyle/>
          <a:p>
            <a:r>
              <a:rPr lang="en-IN" dirty="0"/>
              <a:t>                                                       </a:t>
            </a:r>
            <a:r>
              <a:rPr lang="en-IN" sz="2400" b="1" dirty="0"/>
              <a:t>30</a:t>
            </a:r>
            <a:r>
              <a:rPr lang="en-IN" sz="2400" b="1" baseline="30000" dirty="0"/>
              <a:t>th</a:t>
            </a:r>
            <a:r>
              <a:rPr lang="en-IN" sz="2400" b="1" dirty="0"/>
              <a:t> April 2024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563B77B-75B8-7D35-F8E4-A5D7245C39E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01780" y="-1814331"/>
            <a:ext cx="5483494" cy="77552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316077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BCC266-0B0F-8E32-4F40-F880854353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extBox 37">
            <a:extLst>
              <a:ext uri="{FF2B5EF4-FFF2-40B4-BE49-F238E27FC236}">
                <a16:creationId xmlns:a16="http://schemas.microsoft.com/office/drawing/2014/main" id="{33B4EFB7-03CE-C5CF-D8B7-48AF352F5885}"/>
              </a:ext>
            </a:extLst>
          </p:cNvPr>
          <p:cNvSpPr txBox="1"/>
          <p:nvPr/>
        </p:nvSpPr>
        <p:spPr>
          <a:xfrm>
            <a:off x="1171177" y="2853333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  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096AE162-4F38-1458-0001-E9435FF95E67}"/>
              </a:ext>
            </a:extLst>
          </p:cNvPr>
          <p:cNvSpPr/>
          <p:nvPr/>
        </p:nvSpPr>
        <p:spPr>
          <a:xfrm>
            <a:off x="3525394" y="2595552"/>
            <a:ext cx="4349269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>
                <a:ln w="22225">
                  <a:noFill/>
                  <a:prstDash val="solid"/>
                </a:ln>
                <a:solidFill>
                  <a:schemeClr val="accent1">
                    <a:lumMod val="40000"/>
                    <a:lumOff val="60000"/>
                  </a:schemeClr>
                </a:solidFill>
                <a:effectLst/>
              </a:rPr>
              <a:t>CONTENTS</a:t>
            </a:r>
          </a:p>
        </p:txBody>
      </p:sp>
    </p:spTree>
    <p:extLst>
      <p:ext uri="{BB962C8B-B14F-4D97-AF65-F5344CB8AC3E}">
        <p14:creationId xmlns:p14="http://schemas.microsoft.com/office/powerpoint/2010/main" val="413249265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>
        <p159:morph option="byObject"/>
      </p:transition>
    </mc:Choice>
    <mc:Fallback xmlns="">
      <p:transition spd="slow" advClick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suz="http://schemas.microsoft.com/office/powerpoint/2016/summaryzoom" Requires="psuz">
          <p:graphicFrame>
            <p:nvGraphicFramePr>
              <p:cNvPr id="5" name="Summary Zoom 4">
                <a:extLst>
                  <a:ext uri="{FF2B5EF4-FFF2-40B4-BE49-F238E27FC236}">
                    <a16:creationId xmlns:a16="http://schemas.microsoft.com/office/drawing/2014/main" id="{D9C8D49E-CF85-B46D-8190-573E756C39E7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468343563"/>
                  </p:ext>
                </p:extLst>
              </p:nvPr>
            </p:nvGraphicFramePr>
            <p:xfrm>
              <a:off x="961046" y="1656080"/>
              <a:ext cx="10425774" cy="4418330"/>
            </p:xfrm>
            <a:graphic>
              <a:graphicData uri="http://schemas.microsoft.com/office/powerpoint/2016/summaryzoom">
                <psuz:summaryZm>
                  <psuz:summaryZmObj sectionId="{4EE7DEA6-D017-4EF6-8B05-834394FDF034}">
                    <psuz:zmPr id="{17A023F0-53C1-46DE-A82B-4CA63BF0ABE2}" transitionDur="1000">
                      <p166:blipFill xmlns:p166="http://schemas.microsoft.com/office/powerpoint/2016/6/main">
                        <a:blip r:embed="rId2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403999" y="391171"/>
                          <a:ext cx="3127732" cy="1759349"/>
                        </a:xfrm>
                        <a:prstGeom prst="roundRect">
                          <a:avLst>
                            <a:gd name="adj" fmla="val 16667"/>
                          </a:avLst>
                        </a:prstGeom>
                        <a:ln>
                          <a:noFill/>
                        </a:ln>
                        <a:effectLst>
                          <a:outerShdw blurRad="76200" dist="38100" dir="7800000" algn="tl" rotWithShape="0">
                            <a:srgbClr val="000000">
                              <a:alpha val="40000"/>
                            </a:srgbClr>
                          </a:outerShdw>
                        </a:effectLst>
                        <a:scene3d>
                          <a:camera prst="orthographicFront"/>
                          <a:lightRig rig="contrasting" dir="t">
                            <a:rot lat="0" lon="0" rev="4200000"/>
                          </a:lightRig>
                        </a:scene3d>
                        <a:sp3d prstMaterial="plastic">
                          <a:bevelT w="381000" h="114300" prst="relaxedInset"/>
                          <a:contourClr>
                            <a:srgbClr val="969696"/>
                          </a:contourClr>
                        </a:sp3d>
                      </p166:spPr>
                    </psuz:zmPr>
                  </psuz:summaryZmObj>
                  <psuz:summaryZmObj sectionId="{387287FD-D4C0-4725-83CF-C821A1A50C67}">
                    <psuz:zmPr id="{2551C319-1A4F-49F0-8FB1-E6BBB25909BE}" transitionDur="1000">
                      <p166:blipFill xmlns:p166="http://schemas.microsoft.com/office/powerpoint/2016/6/main">
                        <a:blip r:embed="rId3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3649021" y="391171"/>
                          <a:ext cx="3127732" cy="1759349"/>
                        </a:xfrm>
                        <a:prstGeom prst="roundRect">
                          <a:avLst>
                            <a:gd name="adj" fmla="val 16667"/>
                          </a:avLst>
                        </a:prstGeom>
                        <a:ln>
                          <a:noFill/>
                        </a:ln>
                        <a:effectLst>
                          <a:outerShdw blurRad="76200" dist="38100" dir="7800000" algn="tl" rotWithShape="0">
                            <a:srgbClr val="000000">
                              <a:alpha val="40000"/>
                            </a:srgbClr>
                          </a:outerShdw>
                        </a:effectLst>
                        <a:scene3d>
                          <a:camera prst="orthographicFront"/>
                          <a:lightRig rig="contrasting" dir="t">
                            <a:rot lat="0" lon="0" rev="4200000"/>
                          </a:lightRig>
                        </a:scene3d>
                        <a:sp3d prstMaterial="plastic">
                          <a:bevelT w="381000" h="114300" prst="relaxedInset"/>
                          <a:contourClr>
                            <a:srgbClr val="969696"/>
                          </a:contourClr>
                        </a:sp3d>
                      </p166:spPr>
                    </psuz:zmPr>
                  </psuz:summaryZmObj>
                  <psuz:summaryZmObj sectionId="{2EB85532-5A60-485A-BB0F-A58A3A45DDF3}">
                    <psuz:zmPr id="{AB50B280-BB12-477B-A188-03230A806702}" transitionDur="1000">
                      <p166:blipFill xmlns:p166="http://schemas.microsoft.com/office/powerpoint/2016/6/main">
                        <a:blip r:embed="rId4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6894043" y="391171"/>
                          <a:ext cx="3127732" cy="1759349"/>
                        </a:xfrm>
                        <a:prstGeom prst="roundRect">
                          <a:avLst>
                            <a:gd name="adj" fmla="val 16667"/>
                          </a:avLst>
                        </a:prstGeom>
                        <a:ln>
                          <a:noFill/>
                        </a:ln>
                        <a:effectLst>
                          <a:outerShdw blurRad="76200" dist="38100" dir="7800000" algn="tl" rotWithShape="0">
                            <a:srgbClr val="000000">
                              <a:alpha val="40000"/>
                            </a:srgbClr>
                          </a:outerShdw>
                        </a:effectLst>
                        <a:scene3d>
                          <a:camera prst="orthographicFront"/>
                          <a:lightRig rig="contrasting" dir="t">
                            <a:rot lat="0" lon="0" rev="4200000"/>
                          </a:lightRig>
                        </a:scene3d>
                        <a:sp3d prstMaterial="plastic">
                          <a:bevelT w="381000" h="114300" prst="relaxedInset"/>
                          <a:contourClr>
                            <a:srgbClr val="969696"/>
                          </a:contourClr>
                        </a:sp3d>
                      </p166:spPr>
                    </psuz:zmPr>
                  </psuz:summaryZmObj>
                  <psuz:summaryZmObj sectionId="{667ABC28-0843-4D80-987F-8997A50A4879}">
                    <psuz:zmPr id="{8AA38134-5831-4653-9D4B-BA32E6674C61}" transitionDur="1000">
                      <p166:blipFill xmlns:p166="http://schemas.microsoft.com/office/powerpoint/2016/6/main">
                        <a:blip r:embed="rId5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403999" y="2267810"/>
                          <a:ext cx="3127732" cy="1759349"/>
                        </a:xfrm>
                        <a:prstGeom prst="roundRect">
                          <a:avLst>
                            <a:gd name="adj" fmla="val 16667"/>
                          </a:avLst>
                        </a:prstGeom>
                        <a:ln>
                          <a:noFill/>
                        </a:ln>
                        <a:effectLst>
                          <a:outerShdw blurRad="76200" dist="38100" dir="7800000" algn="tl" rotWithShape="0">
                            <a:srgbClr val="000000">
                              <a:alpha val="40000"/>
                            </a:srgbClr>
                          </a:outerShdw>
                        </a:effectLst>
                        <a:scene3d>
                          <a:camera prst="orthographicFront"/>
                          <a:lightRig rig="contrasting" dir="t">
                            <a:rot lat="0" lon="0" rev="4200000"/>
                          </a:lightRig>
                        </a:scene3d>
                        <a:sp3d prstMaterial="plastic">
                          <a:bevelT w="381000" h="114300" prst="relaxedInset"/>
                          <a:contourClr>
                            <a:srgbClr val="969696"/>
                          </a:contourClr>
                        </a:sp3d>
                      </p166:spPr>
                    </psuz:zmPr>
                  </psuz:summaryZmObj>
                  <psuz:summaryZmObj sectionId="{AF7124D6-0228-4FE0-A726-FBB1CD48D8F9}">
                    <psuz:zmPr id="{528B6DF3-49FD-4EE2-BF0C-A0025B014BA1}" transitionDur="1000">
                      <p166:blipFill xmlns:p166="http://schemas.microsoft.com/office/powerpoint/2016/6/main">
                        <a:blip r:embed="rId6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3649021" y="2267810"/>
                          <a:ext cx="3127732" cy="1759349"/>
                        </a:xfrm>
                        <a:prstGeom prst="roundRect">
                          <a:avLst>
                            <a:gd name="adj" fmla="val 16667"/>
                          </a:avLst>
                        </a:prstGeom>
                        <a:ln>
                          <a:noFill/>
                        </a:ln>
                        <a:effectLst>
                          <a:outerShdw blurRad="76200" dist="38100" dir="7800000" algn="tl" rotWithShape="0">
                            <a:srgbClr val="000000">
                              <a:alpha val="40000"/>
                            </a:srgbClr>
                          </a:outerShdw>
                        </a:effectLst>
                        <a:scene3d>
                          <a:camera prst="orthographicFront"/>
                          <a:lightRig rig="contrasting" dir="t">
                            <a:rot lat="0" lon="0" rev="4200000"/>
                          </a:lightRig>
                        </a:scene3d>
                        <a:sp3d prstMaterial="plastic">
                          <a:bevelT w="381000" h="114300" prst="relaxedInset"/>
                          <a:contourClr>
                            <a:srgbClr val="969696"/>
                          </a:contourClr>
                        </a:sp3d>
                      </p166:spPr>
                    </psuz:zmPr>
                  </psuz:summaryZmObj>
                  <psuz:summaryZmObj sectionId="{401ABBC8-5586-4E90-A2CE-B11A7896F06E}">
                    <psuz:zmPr id="{E34995F6-A823-495B-8882-67A440936D9F}" transitionDur="1000">
                      <p166:blipFill xmlns:p166="http://schemas.microsoft.com/office/powerpoint/2016/6/main">
                        <a:blip r:embed="rId7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6894043" y="2267810"/>
                          <a:ext cx="3127732" cy="1759349"/>
                        </a:xfrm>
                        <a:prstGeom prst="roundRect">
                          <a:avLst>
                            <a:gd name="adj" fmla="val 16667"/>
                          </a:avLst>
                        </a:prstGeom>
                        <a:ln>
                          <a:noFill/>
                        </a:ln>
                        <a:effectLst>
                          <a:outerShdw blurRad="76200" dist="38100" dir="7800000" algn="tl" rotWithShape="0">
                            <a:srgbClr val="000000">
                              <a:alpha val="40000"/>
                            </a:srgbClr>
                          </a:outerShdw>
                        </a:effectLst>
                        <a:scene3d>
                          <a:camera prst="orthographicFront"/>
                          <a:lightRig rig="contrasting" dir="t">
                            <a:rot lat="0" lon="0" rev="4200000"/>
                          </a:lightRig>
                        </a:scene3d>
                        <a:sp3d prstMaterial="plastic">
                          <a:bevelT w="381000" h="114300" prst="relaxedInset"/>
                          <a:contourClr>
                            <a:srgbClr val="969696"/>
                          </a:contourClr>
                        </a:sp3d>
                      </p166:spPr>
                    </psuz:zmPr>
                  </psuz:summaryZmObj>
                  <psuz:gridLayout/>
                </psuz:summaryZm>
              </a:graphicData>
            </a:graphic>
          </p:graphicFrame>
        </mc:Choice>
        <mc:Fallback>
          <p:grpSp>
            <p:nvGrpSpPr>
              <p:cNvPr id="5" name="Summary Zoom 4">
                <a:extLst>
                  <a:ext uri="{FF2B5EF4-FFF2-40B4-BE49-F238E27FC236}">
                    <a16:creationId xmlns:a16="http://schemas.microsoft.com/office/drawing/2014/main" id="{D9C8D49E-CF85-B46D-8190-573E756C39E7}"/>
                  </a:ext>
                </a:extLst>
              </p:cNvPr>
              <p:cNvGrpSpPr>
                <a:grpSpLocks noGrp="1" noUngrp="1" noRot="1" noChangeAspect="1" noMove="1" noResize="1"/>
              </p:cNvGrpSpPr>
              <p:nvPr/>
            </p:nvGrpSpPr>
            <p:grpSpPr>
              <a:xfrm>
                <a:off x="961046" y="1656080"/>
                <a:ext cx="10425774" cy="4418330"/>
                <a:chOff x="961046" y="1656080"/>
                <a:chExt cx="10425774" cy="4418330"/>
              </a:xfrm>
            </p:grpSpPr>
            <p:pic>
              <p:nvPicPr>
                <p:cNvPr id="2" name="Picture 2">
                  <a:hlinkClick r:id="rId8" action="ppaction://hlinksldjump"/>
                </p:cNvPr>
                <p:cNvPicPr>
                  <a:picLocks noSelect="1" noRot="1" noChangeAspect="1" noMove="1" noResize="1" noEditPoints="1" noAdjustHandles="1" noChangeArrowheads="1" noChangeShapeType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1365045" y="2047251"/>
                  <a:ext cx="3127732" cy="1759349"/>
                </a:xfrm>
                <a:prstGeom prst="roundRect">
                  <a:avLst>
                    <a:gd name="adj" fmla="val 16667"/>
                  </a:avLst>
                </a:prstGeom>
                <a:ln>
                  <a:noFill/>
                </a:ln>
                <a:effectLst>
                  <a:outerShdw blurRad="76200" dist="38100" dir="7800000" algn="tl" rotWithShape="0">
                    <a:srgbClr val="000000">
                      <a:alpha val="40000"/>
                    </a:srgbClr>
                  </a:outerShdw>
                </a:effectLst>
                <a:scene3d>
                  <a:camera prst="orthographicFront"/>
                  <a:lightRig rig="contrasting" dir="t">
                    <a:rot lat="0" lon="0" rev="4200000"/>
                  </a:lightRig>
                </a:scene3d>
                <a:sp3d prstMaterial="plastic">
                  <a:bevelT w="381000" h="114300" prst="relaxedInset"/>
                  <a:contourClr>
                    <a:srgbClr val="969696"/>
                  </a:contourClr>
                </a:sp3d>
              </p:spPr>
            </p:pic>
            <p:pic>
              <p:nvPicPr>
                <p:cNvPr id="3" name="Picture 3">
                  <a:hlinkClick r:id="rId9" action="ppaction://hlinksldjump"/>
                </p:cNvPr>
                <p:cNvPicPr>
                  <a:picLocks noSelect="1" noRot="1" noChangeAspect="1" noMove="1" noResize="1" noEditPoints="1" noAdjustHandles="1" noChangeArrowheads="1" noChangeShapeType="1"/>
                </p:cNvPicPr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4610067" y="2047251"/>
                  <a:ext cx="3127732" cy="1759349"/>
                </a:xfrm>
                <a:prstGeom prst="roundRect">
                  <a:avLst>
                    <a:gd name="adj" fmla="val 16667"/>
                  </a:avLst>
                </a:prstGeom>
                <a:ln>
                  <a:noFill/>
                </a:ln>
                <a:effectLst>
                  <a:outerShdw blurRad="76200" dist="38100" dir="7800000" algn="tl" rotWithShape="0">
                    <a:srgbClr val="000000">
                      <a:alpha val="40000"/>
                    </a:srgbClr>
                  </a:outerShdw>
                </a:effectLst>
                <a:scene3d>
                  <a:camera prst="orthographicFront"/>
                  <a:lightRig rig="contrasting" dir="t">
                    <a:rot lat="0" lon="0" rev="4200000"/>
                  </a:lightRig>
                </a:scene3d>
                <a:sp3d prstMaterial="plastic">
                  <a:bevelT w="381000" h="114300" prst="relaxedInset"/>
                  <a:contourClr>
                    <a:srgbClr val="969696"/>
                  </a:contourClr>
                </a:sp3d>
              </p:spPr>
            </p:pic>
            <p:pic>
              <p:nvPicPr>
                <p:cNvPr id="4" name="Picture 4">
                  <a:hlinkClick r:id="rId10" action="ppaction://hlinksldjump"/>
                </p:cNvPr>
                <p:cNvPicPr>
                  <a:picLocks noSelect="1" noRot="1" noChangeAspect="1" noMove="1" noResize="1" noEditPoints="1" noAdjustHandles="1" noChangeArrowheads="1" noChangeShapeType="1"/>
                </p:cNvPicPr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7855089" y="2047251"/>
                  <a:ext cx="3127732" cy="1759349"/>
                </a:xfrm>
                <a:prstGeom prst="roundRect">
                  <a:avLst>
                    <a:gd name="adj" fmla="val 16667"/>
                  </a:avLst>
                </a:prstGeom>
                <a:ln>
                  <a:noFill/>
                </a:ln>
                <a:effectLst>
                  <a:outerShdw blurRad="76200" dist="38100" dir="7800000" algn="tl" rotWithShape="0">
                    <a:srgbClr val="000000">
                      <a:alpha val="40000"/>
                    </a:srgbClr>
                  </a:outerShdw>
                </a:effectLst>
                <a:scene3d>
                  <a:camera prst="orthographicFront"/>
                  <a:lightRig rig="contrasting" dir="t">
                    <a:rot lat="0" lon="0" rev="4200000"/>
                  </a:lightRig>
                </a:scene3d>
                <a:sp3d prstMaterial="plastic">
                  <a:bevelT w="381000" h="114300" prst="relaxedInset"/>
                  <a:contourClr>
                    <a:srgbClr val="969696"/>
                  </a:contourClr>
                </a:sp3d>
              </p:spPr>
            </p:pic>
            <p:pic>
              <p:nvPicPr>
                <p:cNvPr id="6" name="Picture 6">
                  <a:hlinkClick r:id="rId11" action="ppaction://hlinksldjump"/>
                </p:cNvPr>
                <p:cNvPicPr>
                  <a:picLocks noSelect="1" noRot="1" noChangeAspect="1" noMove="1" noResize="1" noEditPoints="1" noAdjustHandles="1" noChangeArrowheads="1" noChangeShapeType="1"/>
                </p:cNvPicPr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365045" y="3923890"/>
                  <a:ext cx="3127732" cy="1759349"/>
                </a:xfrm>
                <a:prstGeom prst="roundRect">
                  <a:avLst>
                    <a:gd name="adj" fmla="val 16667"/>
                  </a:avLst>
                </a:prstGeom>
                <a:ln>
                  <a:noFill/>
                </a:ln>
                <a:effectLst>
                  <a:outerShdw blurRad="76200" dist="38100" dir="7800000" algn="tl" rotWithShape="0">
                    <a:srgbClr val="000000">
                      <a:alpha val="40000"/>
                    </a:srgbClr>
                  </a:outerShdw>
                </a:effectLst>
                <a:scene3d>
                  <a:camera prst="orthographicFront"/>
                  <a:lightRig rig="contrasting" dir="t">
                    <a:rot lat="0" lon="0" rev="4200000"/>
                  </a:lightRig>
                </a:scene3d>
                <a:sp3d prstMaterial="plastic">
                  <a:bevelT w="381000" h="114300" prst="relaxedInset"/>
                  <a:contourClr>
                    <a:srgbClr val="969696"/>
                  </a:contourClr>
                </a:sp3d>
              </p:spPr>
            </p:pic>
            <p:pic>
              <p:nvPicPr>
                <p:cNvPr id="7" name="Picture 7">
                  <a:hlinkClick r:id="rId12" action="ppaction://hlinksldjump"/>
                </p:cNvPr>
                <p:cNvPicPr>
                  <a:picLocks noSelect="1" noRot="1" noChangeAspect="1" noMove="1" noResize="1" noEditPoints="1" noAdjustHandles="1" noChangeArrowheads="1" noChangeShapeType="1"/>
                </p:cNvPicPr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4610067" y="3923890"/>
                  <a:ext cx="3127732" cy="1759349"/>
                </a:xfrm>
                <a:prstGeom prst="roundRect">
                  <a:avLst>
                    <a:gd name="adj" fmla="val 16667"/>
                  </a:avLst>
                </a:prstGeom>
                <a:ln>
                  <a:noFill/>
                </a:ln>
                <a:effectLst>
                  <a:outerShdw blurRad="76200" dist="38100" dir="7800000" algn="tl" rotWithShape="0">
                    <a:srgbClr val="000000">
                      <a:alpha val="40000"/>
                    </a:srgbClr>
                  </a:outerShdw>
                </a:effectLst>
                <a:scene3d>
                  <a:camera prst="orthographicFront"/>
                  <a:lightRig rig="contrasting" dir="t">
                    <a:rot lat="0" lon="0" rev="4200000"/>
                  </a:lightRig>
                </a:scene3d>
                <a:sp3d prstMaterial="plastic">
                  <a:bevelT w="381000" h="114300" prst="relaxedInset"/>
                  <a:contourClr>
                    <a:srgbClr val="969696"/>
                  </a:contourClr>
                </a:sp3d>
              </p:spPr>
            </p:pic>
            <p:pic>
              <p:nvPicPr>
                <p:cNvPr id="9" name="Picture 9">
                  <a:hlinkClick r:id="rId13" action="ppaction://hlinksldjump"/>
                </p:cNvPr>
                <p:cNvPicPr>
                  <a:picLocks noSelect="1" noRot="1" noChangeAspect="1" noMove="1" noResize="1" noEditPoints="1" noAdjustHandles="1" noChangeArrowheads="1" noChangeShapeType="1"/>
                </p:cNvPicPr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7855089" y="3923890"/>
                  <a:ext cx="3127732" cy="1759349"/>
                </a:xfrm>
                <a:prstGeom prst="roundRect">
                  <a:avLst>
                    <a:gd name="adj" fmla="val 16667"/>
                  </a:avLst>
                </a:prstGeom>
                <a:ln>
                  <a:noFill/>
                </a:ln>
                <a:effectLst>
                  <a:outerShdw blurRad="76200" dist="38100" dir="7800000" algn="tl" rotWithShape="0">
                    <a:srgbClr val="000000">
                      <a:alpha val="40000"/>
                    </a:srgbClr>
                  </a:outerShdw>
                </a:effectLst>
                <a:scene3d>
                  <a:camera prst="orthographicFront"/>
                  <a:lightRig rig="contrasting" dir="t">
                    <a:rot lat="0" lon="0" rev="4200000"/>
                  </a:lightRig>
                </a:scene3d>
                <a:sp3d prstMaterial="plastic">
                  <a:bevelT w="381000" h="114300" prst="relaxedInset"/>
                  <a:contourClr>
                    <a:srgbClr val="969696"/>
                  </a:contourClr>
                </a:sp3d>
              </p:spPr>
            </p:pic>
          </p:grpSp>
        </mc:Fallback>
      </mc:AlternateContent>
      <p:sp>
        <p:nvSpPr>
          <p:cNvPr id="8" name="Rectangle 7">
            <a:extLst>
              <a:ext uri="{FF2B5EF4-FFF2-40B4-BE49-F238E27FC236}">
                <a16:creationId xmlns:a16="http://schemas.microsoft.com/office/drawing/2014/main" id="{8F19B61C-7BA7-436E-3561-862D11F8886B}"/>
              </a:ext>
            </a:extLst>
          </p:cNvPr>
          <p:cNvSpPr/>
          <p:nvPr/>
        </p:nvSpPr>
        <p:spPr>
          <a:xfrm>
            <a:off x="3921365" y="615295"/>
            <a:ext cx="4349269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>
                <a:ln w="22225">
                  <a:noFill/>
                  <a:prstDash val="solid"/>
                </a:ln>
                <a:solidFill>
                  <a:schemeClr val="accent1">
                    <a:lumMod val="40000"/>
                    <a:lumOff val="60000"/>
                  </a:schemeClr>
                </a:solidFill>
                <a:effectLst/>
              </a:rPr>
              <a:t>CONTENTS</a:t>
            </a:r>
          </a:p>
        </p:txBody>
      </p:sp>
    </p:spTree>
    <p:extLst>
      <p:ext uri="{BB962C8B-B14F-4D97-AF65-F5344CB8AC3E}">
        <p14:creationId xmlns:p14="http://schemas.microsoft.com/office/powerpoint/2010/main" val="36435196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22C20AF-9D96-B75F-11C8-96B859252BE4}"/>
              </a:ext>
            </a:extLst>
          </p:cNvPr>
          <p:cNvSpPr/>
          <p:nvPr/>
        </p:nvSpPr>
        <p:spPr>
          <a:xfrm>
            <a:off x="-508820" y="-1039762"/>
            <a:ext cx="13209640" cy="8937524"/>
          </a:xfrm>
          <a:prstGeom prst="rect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54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4400" dirty="0">
              <a:latin typeface="+mj-lt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B80503B-06AE-7C9C-A7EA-6C9CCCA356A3}"/>
              </a:ext>
            </a:extLst>
          </p:cNvPr>
          <p:cNvSpPr/>
          <p:nvPr/>
        </p:nvSpPr>
        <p:spPr>
          <a:xfrm>
            <a:off x="2893010" y="2644170"/>
            <a:ext cx="6405980" cy="156966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9600" b="1" cap="none" spc="50" dirty="0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</a:rPr>
              <a:t>BRIEFING</a:t>
            </a:r>
          </a:p>
        </p:txBody>
      </p:sp>
    </p:spTree>
    <p:extLst>
      <p:ext uri="{BB962C8B-B14F-4D97-AF65-F5344CB8AC3E}">
        <p14:creationId xmlns:p14="http://schemas.microsoft.com/office/powerpoint/2010/main" val="28614699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 advTm="0">
        <p:fade/>
      </p:transition>
    </mc:Choice>
    <mc:Fallback xmlns="">
      <p:transition spd="med" advClick="0" advTm="0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100000">
              <a:schemeClr val="accent1">
                <a:lumMod val="45000"/>
                <a:lumOff val="55000"/>
              </a:schemeClr>
            </a:gs>
            <a:gs pos="88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36CFF1B-D126-627E-4456-C7E07A7B4DE8}"/>
              </a:ext>
            </a:extLst>
          </p:cNvPr>
          <p:cNvSpPr txBox="1"/>
          <p:nvPr/>
        </p:nvSpPr>
        <p:spPr>
          <a:xfrm>
            <a:off x="3352800" y="1828800"/>
            <a:ext cx="49161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0285706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 advTm="0">
        <p:fade/>
      </p:transition>
    </mc:Choice>
    <mc:Fallback xmlns="">
      <p:transition spd="med" advClick="0" advTm="0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04773E-292C-1CFB-926D-37678F378B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5346" y="2768600"/>
            <a:ext cx="8596668" cy="1320800"/>
          </a:xfrm>
        </p:spPr>
        <p:txBody>
          <a:bodyPr>
            <a:normAutofit/>
          </a:bodyPr>
          <a:lstStyle/>
          <a:p>
            <a:pPr algn="ctr"/>
            <a:r>
              <a:rPr lang="en-IN" sz="4400" b="1" dirty="0"/>
              <a:t>BRIEFING </a:t>
            </a:r>
          </a:p>
        </p:txBody>
      </p:sp>
    </p:spTree>
    <p:extLst>
      <p:ext uri="{BB962C8B-B14F-4D97-AF65-F5344CB8AC3E}">
        <p14:creationId xmlns:p14="http://schemas.microsoft.com/office/powerpoint/2010/main" val="233800695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 advTm="0">
        <p159:morph option="byObject"/>
      </p:transition>
    </mc:Choice>
    <mc:Fallback xmlns="">
      <p:transition spd="slow" advClick="0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5AD803-924E-4A78-9B98-D3D3ACC853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 Brief About MUN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A8042E-9CCF-F898-B809-BC661ECCBF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IN" dirty="0"/>
              <a:t>Model United Nations aka MUN is a simulation of the actual UN proceedings and UN committees.</a:t>
            </a:r>
          </a:p>
          <a:p>
            <a:r>
              <a:rPr lang="en-IN" dirty="0"/>
              <a:t>It is an educational model where you learn about diplomacy, international relations and the United Nations agenda, helping you understand the current world issues and world politics.</a:t>
            </a:r>
          </a:p>
          <a:p>
            <a:r>
              <a:rPr lang="en-IN" dirty="0"/>
              <a:t>Apart from the above mentioned, the MUN also helps with your personal skill development, such as public speaking, debating, writing, critical thinking, research, teamwork, leadership, problem solving and much more.</a:t>
            </a:r>
          </a:p>
          <a:p>
            <a:r>
              <a:rPr lang="en-IN" dirty="0"/>
              <a:t>In an MUN Conference, You work as a representative country, organisation or person and must solve a problem (Agenda*) with your co-delegates.</a:t>
            </a:r>
          </a:p>
          <a:p>
            <a:r>
              <a:rPr lang="en-IN" dirty="0"/>
              <a:t>Lastly, MUN helps in creating a Strong Network across various circuits (places) with different and experienced people for not just MUN but more.</a:t>
            </a:r>
          </a:p>
        </p:txBody>
      </p:sp>
    </p:spTree>
    <p:extLst>
      <p:ext uri="{BB962C8B-B14F-4D97-AF65-F5344CB8AC3E}">
        <p14:creationId xmlns:p14="http://schemas.microsoft.com/office/powerpoint/2010/main" val="32244677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22C20AF-9D96-B75F-11C8-96B859252BE4}"/>
              </a:ext>
            </a:extLst>
          </p:cNvPr>
          <p:cNvSpPr/>
          <p:nvPr/>
        </p:nvSpPr>
        <p:spPr>
          <a:xfrm>
            <a:off x="-508820" y="-1039762"/>
            <a:ext cx="13209640" cy="8937524"/>
          </a:xfrm>
          <a:prstGeom prst="rect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54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4400" dirty="0">
              <a:latin typeface="+mj-lt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B80503B-06AE-7C9C-A7EA-6C9CCCA356A3}"/>
              </a:ext>
            </a:extLst>
          </p:cNvPr>
          <p:cNvSpPr/>
          <p:nvPr/>
        </p:nvSpPr>
        <p:spPr>
          <a:xfrm>
            <a:off x="2551887" y="2644170"/>
            <a:ext cx="7088225" cy="156966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9600" b="1" cap="none" spc="50" dirty="0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</a:rPr>
              <a:t>MOTIONS</a:t>
            </a:r>
          </a:p>
        </p:txBody>
      </p:sp>
    </p:spTree>
    <p:extLst>
      <p:ext uri="{BB962C8B-B14F-4D97-AF65-F5344CB8AC3E}">
        <p14:creationId xmlns:p14="http://schemas.microsoft.com/office/powerpoint/2010/main" val="11823106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 advTm="0">
        <p:fade/>
      </p:transition>
    </mc:Choice>
    <mc:Fallback xmlns="">
      <p:transition spd="med" advClick="0" advTm="0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100000">
              <a:schemeClr val="accent1">
                <a:lumMod val="45000"/>
                <a:lumOff val="55000"/>
              </a:schemeClr>
            </a:gs>
            <a:gs pos="88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36CFF1B-D126-627E-4456-C7E07A7B4DE8}"/>
              </a:ext>
            </a:extLst>
          </p:cNvPr>
          <p:cNvSpPr txBox="1"/>
          <p:nvPr/>
        </p:nvSpPr>
        <p:spPr>
          <a:xfrm>
            <a:off x="3352800" y="1828800"/>
            <a:ext cx="49161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5744103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 advTm="0">
        <p:fade/>
      </p:transition>
    </mc:Choice>
    <mc:Fallback xmlns="">
      <p:transition spd="med" advClick="0" advTm="0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04773E-292C-1CFB-926D-37678F378B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5346" y="2768600"/>
            <a:ext cx="8596668" cy="1320800"/>
          </a:xfrm>
        </p:spPr>
        <p:txBody>
          <a:bodyPr>
            <a:normAutofit/>
          </a:bodyPr>
          <a:lstStyle/>
          <a:p>
            <a:pPr algn="ctr"/>
            <a:r>
              <a:rPr lang="en-IN" sz="4400" b="1" dirty="0"/>
              <a:t>MOTIONS </a:t>
            </a:r>
          </a:p>
        </p:txBody>
      </p:sp>
    </p:spTree>
    <p:extLst>
      <p:ext uri="{BB962C8B-B14F-4D97-AF65-F5344CB8AC3E}">
        <p14:creationId xmlns:p14="http://schemas.microsoft.com/office/powerpoint/2010/main" val="429059925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 advTm="0">
        <p159:morph option="byObject"/>
      </p:transition>
    </mc:Choice>
    <mc:Fallback xmlns="">
      <p:transition spd="slow" advClick="0" advTm="0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CA6C1F-B5A4-6A31-A6DF-A37C6F2FC9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Types of Motion raising in MUN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F971AE-A995-AC02-2721-0CDD302068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97666" y="1895475"/>
            <a:ext cx="8596668" cy="4110962"/>
          </a:xfrm>
        </p:spPr>
        <p:txBody>
          <a:bodyPr>
            <a:normAutofit/>
          </a:bodyPr>
          <a:lstStyle/>
          <a:p>
            <a:r>
              <a:rPr lang="en-IN" dirty="0"/>
              <a:t>“I, (</a:t>
            </a:r>
            <a:r>
              <a:rPr lang="en-IN" i="1" dirty="0"/>
              <a:t>your delegation</a:t>
            </a:r>
            <a:r>
              <a:rPr lang="en-IN" dirty="0"/>
              <a:t>) would like to raise a motion to establish/introduce the General Speakers List”</a:t>
            </a:r>
          </a:p>
          <a:p>
            <a:r>
              <a:rPr lang="en-IN" dirty="0"/>
              <a:t>“I, (</a:t>
            </a:r>
            <a:r>
              <a:rPr lang="en-IN" i="1" dirty="0"/>
              <a:t>your delegation</a:t>
            </a:r>
            <a:r>
              <a:rPr lang="en-IN" dirty="0"/>
              <a:t>) would like to raise a motion to suspend formal debates and move the committee in a moderated caucus on the sub-agenda of _______ for a total time of __ mins where each speaker gets __ of speaking time/to speak”</a:t>
            </a:r>
          </a:p>
          <a:p>
            <a:r>
              <a:rPr lang="en-IN" dirty="0"/>
              <a:t>“I, (</a:t>
            </a:r>
            <a:r>
              <a:rPr lang="en-IN" i="1" dirty="0"/>
              <a:t>your delegation</a:t>
            </a:r>
            <a:r>
              <a:rPr lang="en-IN" dirty="0"/>
              <a:t>) would like to raise a motion to suspend formal debates and move the committee in an un-moderated caucus for a total time of __ mins”</a:t>
            </a:r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898734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22C20AF-9D96-B75F-11C8-96B859252BE4}"/>
              </a:ext>
            </a:extLst>
          </p:cNvPr>
          <p:cNvSpPr/>
          <p:nvPr/>
        </p:nvSpPr>
        <p:spPr>
          <a:xfrm>
            <a:off x="-508820" y="-1039762"/>
            <a:ext cx="13209640" cy="8937524"/>
          </a:xfrm>
          <a:prstGeom prst="rect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54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4400" dirty="0">
              <a:latin typeface="+mj-lt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B80503B-06AE-7C9C-A7EA-6C9CCCA356A3}"/>
              </a:ext>
            </a:extLst>
          </p:cNvPr>
          <p:cNvSpPr/>
          <p:nvPr/>
        </p:nvSpPr>
        <p:spPr>
          <a:xfrm>
            <a:off x="367331" y="1905506"/>
            <a:ext cx="11457337" cy="3046988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9600" b="1" cap="none" spc="50" dirty="0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</a:rPr>
              <a:t>RULES OF PROCEDURE</a:t>
            </a:r>
          </a:p>
        </p:txBody>
      </p:sp>
    </p:spTree>
    <p:extLst>
      <p:ext uri="{BB962C8B-B14F-4D97-AF65-F5344CB8AC3E}">
        <p14:creationId xmlns:p14="http://schemas.microsoft.com/office/powerpoint/2010/main" val="39821479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 advTm="0">
        <p:fade/>
      </p:transition>
    </mc:Choice>
    <mc:Fallback xmlns="">
      <p:transition spd="med" advClick="0" advTm="0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100000">
              <a:schemeClr val="accent1">
                <a:lumMod val="45000"/>
                <a:lumOff val="55000"/>
              </a:schemeClr>
            </a:gs>
            <a:gs pos="88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36CFF1B-D126-627E-4456-C7E07A7B4DE8}"/>
              </a:ext>
            </a:extLst>
          </p:cNvPr>
          <p:cNvSpPr txBox="1"/>
          <p:nvPr/>
        </p:nvSpPr>
        <p:spPr>
          <a:xfrm>
            <a:off x="3352800" y="1828800"/>
            <a:ext cx="49161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1613111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 advTm="0">
        <p:fade/>
      </p:transition>
    </mc:Choice>
    <mc:Fallback xmlns="">
      <p:transition spd="med" advClick="0" advTm="0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04773E-292C-1CFB-926D-37678F378B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5346" y="2768600"/>
            <a:ext cx="8596668" cy="1320800"/>
          </a:xfrm>
        </p:spPr>
        <p:txBody>
          <a:bodyPr>
            <a:normAutofit/>
          </a:bodyPr>
          <a:lstStyle/>
          <a:p>
            <a:r>
              <a:rPr lang="en-IN" sz="4400" b="1" dirty="0"/>
              <a:t>The Rules Of Procedure (ROP)</a:t>
            </a:r>
          </a:p>
        </p:txBody>
      </p:sp>
    </p:spTree>
    <p:extLst>
      <p:ext uri="{BB962C8B-B14F-4D97-AF65-F5344CB8AC3E}">
        <p14:creationId xmlns:p14="http://schemas.microsoft.com/office/powerpoint/2010/main" val="180939298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 advTm="0">
        <p159:morph option="byObject"/>
      </p:transition>
    </mc:Choice>
    <mc:Fallback xmlns="">
      <p:transition spd="slow" advClick="0" advTm="0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16AE7-89E8-659A-B0B7-A57FCFBA9C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					Two Types of ROP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B9D496-80E9-129B-3DB1-8F91DD858B9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UN4MUN	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514826B-5B84-C3C3-E58D-730F868E4B98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IN" dirty="0"/>
              <a:t>A more formal and accurate UN ROP</a:t>
            </a:r>
          </a:p>
          <a:p>
            <a:r>
              <a:rPr lang="en-IN" dirty="0"/>
              <a:t>Brought forth by the UN themselves</a:t>
            </a: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C1EA695-F77A-ED8B-A1BD-BD3F2333D52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IN" dirty="0"/>
              <a:t>UNA-USA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B3D5424-56F4-EF6B-13A5-D4784135BBCD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en-IN" dirty="0"/>
              <a:t>A rather simpler format of the ROP</a:t>
            </a:r>
          </a:p>
          <a:p>
            <a:r>
              <a:rPr lang="en-IN" dirty="0"/>
              <a:t>It’s a derivative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D9B034D-C7EF-E475-BB32-74471D469C3A}"/>
              </a:ext>
            </a:extLst>
          </p:cNvPr>
          <p:cNvSpPr txBox="1"/>
          <p:nvPr/>
        </p:nvSpPr>
        <p:spPr>
          <a:xfrm>
            <a:off x="481425" y="4204637"/>
            <a:ext cx="9208739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The General ROPs remains the same with subtle changes to the formalities and other Points*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The ROP that shall be used within the committee is at the discretion of the EB</a:t>
            </a:r>
          </a:p>
          <a:p>
            <a:r>
              <a:rPr lang="en-IN" dirty="0"/>
              <a:t>		</a:t>
            </a:r>
          </a:p>
          <a:p>
            <a:r>
              <a:rPr lang="en-IN" dirty="0"/>
              <a:t>					</a:t>
            </a:r>
            <a:r>
              <a:rPr lang="en-IN" sz="1400" i="1" dirty="0"/>
              <a:t>The ROP that follows is a mixture of both for your better understanding. </a:t>
            </a:r>
          </a:p>
          <a:p>
            <a:r>
              <a:rPr lang="en-IN" sz="1400" i="1" dirty="0"/>
              <a:t>					You need not know more about  the types of ROPs but rather the ROP</a:t>
            </a:r>
          </a:p>
          <a:p>
            <a:r>
              <a:rPr lang="en-IN" dirty="0"/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21237225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  <p:bldP spid="5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0478EF-4ED8-E132-6762-6A37332F4D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DCFE78-46C6-20AA-73FC-FCED649F22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/>
              <a:t>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740012F-EC0A-7A9D-0509-A4E6464A6DBB}"/>
              </a:ext>
            </a:extLst>
          </p:cNvPr>
          <p:cNvSpPr/>
          <p:nvPr/>
        </p:nvSpPr>
        <p:spPr>
          <a:xfrm>
            <a:off x="2428136" y="2967335"/>
            <a:ext cx="7335727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ELEMENTS OF THE ROP</a:t>
            </a:r>
          </a:p>
        </p:txBody>
      </p:sp>
    </p:spTree>
    <p:extLst>
      <p:ext uri="{BB962C8B-B14F-4D97-AF65-F5344CB8AC3E}">
        <p14:creationId xmlns:p14="http://schemas.microsoft.com/office/powerpoint/2010/main" val="33162740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0"/>
    </mc:Choice>
    <mc:Fallback xmlns="">
      <p:transition spd="slow" advClick="0" advTm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Connector: Curved 4">
            <a:extLst>
              <a:ext uri="{FF2B5EF4-FFF2-40B4-BE49-F238E27FC236}">
                <a16:creationId xmlns:a16="http://schemas.microsoft.com/office/drawing/2014/main" id="{D2E6288A-3305-EED8-CC51-7E5134FF22C5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1514548" y="2424666"/>
            <a:ext cx="1671561" cy="1268093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Flowchart: Connector 11">
            <a:extLst>
              <a:ext uri="{FF2B5EF4-FFF2-40B4-BE49-F238E27FC236}">
                <a16:creationId xmlns:a16="http://schemas.microsoft.com/office/drawing/2014/main" id="{E1E62050-A0A9-C467-008F-EDA8969389D0}"/>
              </a:ext>
            </a:extLst>
          </p:cNvPr>
          <p:cNvSpPr/>
          <p:nvPr/>
        </p:nvSpPr>
        <p:spPr>
          <a:xfrm>
            <a:off x="928435" y="3667432"/>
            <a:ext cx="1549373" cy="1516133"/>
          </a:xfrm>
          <a:prstGeom prst="flowChartConnector">
            <a:avLst/>
          </a:prstGeom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8" name="Flowchart: Connector 7">
            <a:extLst>
              <a:ext uri="{FF2B5EF4-FFF2-40B4-BE49-F238E27FC236}">
                <a16:creationId xmlns:a16="http://schemas.microsoft.com/office/drawing/2014/main" id="{A7B208F7-0F92-0679-A878-B9D63C3BD3A8}"/>
              </a:ext>
            </a:extLst>
          </p:cNvPr>
          <p:cNvSpPr/>
          <p:nvPr/>
        </p:nvSpPr>
        <p:spPr>
          <a:xfrm>
            <a:off x="2862572" y="1847420"/>
            <a:ext cx="1549373" cy="1516133"/>
          </a:xfrm>
          <a:prstGeom prst="flowChartConnector">
            <a:avLst/>
          </a:prstGeom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6" name="Flowchart: Connector 15">
            <a:extLst>
              <a:ext uri="{FF2B5EF4-FFF2-40B4-BE49-F238E27FC236}">
                <a16:creationId xmlns:a16="http://schemas.microsoft.com/office/drawing/2014/main" id="{9C963313-A2B3-0D4E-0933-EDD7E4035CBC}"/>
              </a:ext>
            </a:extLst>
          </p:cNvPr>
          <p:cNvSpPr/>
          <p:nvPr/>
        </p:nvSpPr>
        <p:spPr>
          <a:xfrm>
            <a:off x="5665587" y="3317984"/>
            <a:ext cx="1549373" cy="1516133"/>
          </a:xfrm>
          <a:prstGeom prst="flowChartConnector">
            <a:avLst/>
          </a:prstGeom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8" name="Flowchart: Connector 17">
            <a:extLst>
              <a:ext uri="{FF2B5EF4-FFF2-40B4-BE49-F238E27FC236}">
                <a16:creationId xmlns:a16="http://schemas.microsoft.com/office/drawing/2014/main" id="{20E346A1-2378-D87B-A7A1-7B387596F225}"/>
              </a:ext>
            </a:extLst>
          </p:cNvPr>
          <p:cNvSpPr/>
          <p:nvPr/>
        </p:nvSpPr>
        <p:spPr>
          <a:xfrm>
            <a:off x="8675300" y="1491062"/>
            <a:ext cx="1549373" cy="1516133"/>
          </a:xfrm>
          <a:prstGeom prst="flowChartConnector">
            <a:avLst/>
          </a:prstGeom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mc:AlternateContent xmlns:mc="http://schemas.openxmlformats.org/markup-compatibility/2006" xmlns:psez="http://schemas.microsoft.com/office/powerpoint/2016/sectionzoom">
        <mc:Choice Requires="psez">
          <p:graphicFrame>
            <p:nvGraphicFramePr>
              <p:cNvPr id="22" name="Section Zoom 21">
                <a:extLst>
                  <a:ext uri="{FF2B5EF4-FFF2-40B4-BE49-F238E27FC236}">
                    <a16:creationId xmlns:a16="http://schemas.microsoft.com/office/drawing/2014/main" id="{99EA369E-95F3-C825-2A69-CEBACECDD42A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669444121"/>
                  </p:ext>
                </p:extLst>
              </p:nvPr>
            </p:nvGraphicFramePr>
            <p:xfrm>
              <a:off x="1030672" y="3742998"/>
              <a:ext cx="1344900" cy="1364998"/>
            </p:xfrm>
            <a:graphic>
              <a:graphicData uri="http://schemas.microsoft.com/office/powerpoint/2016/sectionzoom">
                <psez:sectionZm>
                  <psez:sectionZmObj sectionId="{A665A6E0-9ABE-4E8B-B4A4-15D36CE59A98}">
                    <psez:zmPr id="{382EBF9B-0C05-4ED4-B45E-A04A3A2832B5}" transitionDur="1000">
                      <p166:blipFill xmlns:p166="http://schemas.microsoft.com/office/powerpoint/2016/6/main">
                        <a:blip r:embed="rId2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1344900" cy="1364998"/>
                        </a:xfrm>
                        <a:prstGeom prst="ellipse">
                          <a:avLst/>
                        </a:prstGeom>
                        <a:ln>
                          <a:noFill/>
                        </a:ln>
                        <a:effectLst>
                          <a:softEdge rad="112500"/>
                        </a:effectLst>
                      </p166:spPr>
                    </psez:zmPr>
                  </psez:sectionZmObj>
                </psez:sectionZm>
              </a:graphicData>
            </a:graphic>
          </p:graphicFrame>
        </mc:Choice>
        <mc:Fallback xmlns="">
          <p:pic>
            <p:nvPicPr>
              <p:cNvPr id="22" name="Section Zoom 21">
                <a:hlinkClick r:id="rId3" action="ppaction://hlinksldjump"/>
                <a:extLst>
                  <a:ext uri="{FF2B5EF4-FFF2-40B4-BE49-F238E27FC236}">
                    <a16:creationId xmlns:a16="http://schemas.microsoft.com/office/drawing/2014/main" id="{99EA369E-95F3-C825-2A69-CEBACECDD42A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030672" y="3742998"/>
                <a:ext cx="1344900" cy="1364998"/>
              </a:xfrm>
              <a:prstGeom prst="ellipse">
                <a:avLst/>
              </a:prstGeom>
              <a:ln>
                <a:noFill/>
              </a:ln>
              <a:effectLst>
                <a:softEdge rad="112500"/>
              </a:effectLst>
            </p:spPr>
          </p:pic>
        </mc:Fallback>
      </mc:AlternateContent>
      <mc:AlternateContent xmlns:mc="http://schemas.openxmlformats.org/markup-compatibility/2006" xmlns:psez="http://schemas.microsoft.com/office/powerpoint/2016/sectionzoom">
        <mc:Choice Requires="psez">
          <p:graphicFrame>
            <p:nvGraphicFramePr>
              <p:cNvPr id="26" name="Section Zoom 25">
                <a:extLst>
                  <a:ext uri="{FF2B5EF4-FFF2-40B4-BE49-F238E27FC236}">
                    <a16:creationId xmlns:a16="http://schemas.microsoft.com/office/drawing/2014/main" id="{F847EFAF-2436-42D4-DA95-9C70F533822B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478428810"/>
                  </p:ext>
                </p:extLst>
              </p:nvPr>
            </p:nvGraphicFramePr>
            <p:xfrm>
              <a:off x="5661965" y="3317984"/>
              <a:ext cx="1552995" cy="1516133"/>
            </p:xfrm>
            <a:graphic>
              <a:graphicData uri="http://schemas.microsoft.com/office/powerpoint/2016/sectionzoom">
                <psez:sectionZm>
                  <psez:sectionZmObj sectionId="{5E6F099A-0F2C-4765-88A6-6792EB1E4876}">
                    <psez:zmPr id="{040F1027-D401-4E4D-B023-F23734BEF69C}" transitionDur="1000">
                      <p166:blipFill xmlns:p166="http://schemas.microsoft.com/office/powerpoint/2016/6/main">
                        <a:blip r:embed="rId5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1552995" cy="1516133"/>
                        </a:xfrm>
                        <a:prstGeom prst="ellipse">
                          <a:avLst/>
                        </a:prstGeom>
                        <a:ln>
                          <a:noFill/>
                        </a:ln>
                        <a:effectLst>
                          <a:softEdge rad="112500"/>
                        </a:effectLst>
                      </p166:spPr>
                    </psez:zmPr>
                  </psez:sectionZmObj>
                </psez:sectionZm>
              </a:graphicData>
            </a:graphic>
          </p:graphicFrame>
        </mc:Choice>
        <mc:Fallback xmlns="">
          <p:pic>
            <p:nvPicPr>
              <p:cNvPr id="26" name="Section Zoom 25">
                <a:hlinkClick r:id="rId3" action="ppaction://hlinksldjump"/>
                <a:extLst>
                  <a:ext uri="{FF2B5EF4-FFF2-40B4-BE49-F238E27FC236}">
                    <a16:creationId xmlns:a16="http://schemas.microsoft.com/office/drawing/2014/main" id="{F847EFAF-2436-42D4-DA95-9C70F533822B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661965" y="3317984"/>
                <a:ext cx="1552995" cy="1516133"/>
              </a:xfrm>
              <a:prstGeom prst="ellipse">
                <a:avLst/>
              </a:prstGeom>
              <a:ln>
                <a:noFill/>
              </a:ln>
              <a:effectLst>
                <a:softEdge rad="112500"/>
              </a:effectLst>
            </p:spPr>
          </p:pic>
        </mc:Fallback>
      </mc:AlternateContent>
      <mc:AlternateContent xmlns:mc="http://schemas.openxmlformats.org/markup-compatibility/2006" xmlns:psez="http://schemas.microsoft.com/office/powerpoint/2016/sectionzoom">
        <mc:Choice Requires="psez">
          <p:graphicFrame>
            <p:nvGraphicFramePr>
              <p:cNvPr id="28" name="Section Zoom 27">
                <a:extLst>
                  <a:ext uri="{FF2B5EF4-FFF2-40B4-BE49-F238E27FC236}">
                    <a16:creationId xmlns:a16="http://schemas.microsoft.com/office/drawing/2014/main" id="{5BC12BBD-5DA8-94FE-8176-1B6B7CD6AB19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906046439"/>
                  </p:ext>
                </p:extLst>
              </p:nvPr>
            </p:nvGraphicFramePr>
            <p:xfrm>
              <a:off x="2862572" y="1854403"/>
              <a:ext cx="1651479" cy="1509150"/>
            </p:xfrm>
            <a:graphic>
              <a:graphicData uri="http://schemas.microsoft.com/office/powerpoint/2016/sectionzoom">
                <psez:sectionZm>
                  <psez:sectionZmObj sectionId="{0CC3CD08-014A-478C-B166-B6E8D4F56630}">
                    <psez:zmPr id="{FEEF0026-F2BB-486A-B739-119A6A9EA6B2}" transitionDur="1000">
                      <p166:blipFill xmlns:p166="http://schemas.microsoft.com/office/powerpoint/2016/6/main">
                        <a:blip r:embed="rId7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1651479" cy="1509150"/>
                        </a:xfrm>
                        <a:prstGeom prst="ellipse">
                          <a:avLst/>
                        </a:prstGeom>
                        <a:ln>
                          <a:noFill/>
                        </a:ln>
                        <a:effectLst>
                          <a:softEdge rad="112500"/>
                        </a:effectLst>
                      </p166:spPr>
                    </psez:zmPr>
                  </psez:sectionZmObj>
                </psez:sectionZm>
              </a:graphicData>
            </a:graphic>
          </p:graphicFrame>
        </mc:Choice>
        <mc:Fallback xmlns="">
          <p:pic>
            <p:nvPicPr>
              <p:cNvPr id="28" name="Section Zoom 27">
                <a:hlinkClick r:id="rId8" action="ppaction://hlinksldjump"/>
                <a:extLst>
                  <a:ext uri="{FF2B5EF4-FFF2-40B4-BE49-F238E27FC236}">
                    <a16:creationId xmlns:a16="http://schemas.microsoft.com/office/drawing/2014/main" id="{5BC12BBD-5DA8-94FE-8176-1B6B7CD6AB19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2862572" y="1854403"/>
                <a:ext cx="1651479" cy="1509150"/>
              </a:xfrm>
              <a:prstGeom prst="ellipse">
                <a:avLst/>
              </a:prstGeom>
              <a:ln>
                <a:noFill/>
              </a:ln>
              <a:effectLst>
                <a:softEdge rad="112500"/>
              </a:effectLst>
            </p:spPr>
          </p:pic>
        </mc:Fallback>
      </mc:AlternateContent>
      <mc:AlternateContent xmlns:mc="http://schemas.openxmlformats.org/markup-compatibility/2006" xmlns:psez="http://schemas.microsoft.com/office/powerpoint/2016/sectionzoom">
        <mc:Choice Requires="psez">
          <p:graphicFrame>
            <p:nvGraphicFramePr>
              <p:cNvPr id="30" name="Section Zoom 29">
                <a:extLst>
                  <a:ext uri="{FF2B5EF4-FFF2-40B4-BE49-F238E27FC236}">
                    <a16:creationId xmlns:a16="http://schemas.microsoft.com/office/drawing/2014/main" id="{83428708-15CE-77EC-57D1-C600F7084111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487416184"/>
                  </p:ext>
                </p:extLst>
              </p:nvPr>
            </p:nvGraphicFramePr>
            <p:xfrm>
              <a:off x="8660429" y="1483801"/>
              <a:ext cx="1635570" cy="1516133"/>
            </p:xfrm>
            <a:graphic>
              <a:graphicData uri="http://schemas.microsoft.com/office/powerpoint/2016/sectionzoom">
                <psez:sectionZm>
                  <psez:sectionZmObj sectionId="{4ADB10B5-4443-452E-964F-F06F50569FD2}">
                    <psez:zmPr id="{461426BA-D367-4375-810F-1D9483AD9267}" transitionDur="1000">
                      <p166:blipFill xmlns:p166="http://schemas.microsoft.com/office/powerpoint/2016/6/main">
                        <a:blip r:embed="rId10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1635570" cy="1516133"/>
                        </a:xfrm>
                        <a:prstGeom prst="ellipse">
                          <a:avLst/>
                        </a:prstGeom>
                        <a:ln>
                          <a:noFill/>
                        </a:ln>
                        <a:effectLst>
                          <a:softEdge rad="112500"/>
                        </a:effectLst>
                      </p166:spPr>
                    </psez:zmPr>
                  </psez:sectionZmObj>
                </psez:sectionZm>
              </a:graphicData>
            </a:graphic>
          </p:graphicFrame>
        </mc:Choice>
        <mc:Fallback xmlns="">
          <p:pic>
            <p:nvPicPr>
              <p:cNvPr id="30" name="Section Zoom 29">
                <a:hlinkClick r:id="rId15" action="ppaction://hlinksldjump"/>
                <a:extLst>
                  <a:ext uri="{FF2B5EF4-FFF2-40B4-BE49-F238E27FC236}">
                    <a16:creationId xmlns:a16="http://schemas.microsoft.com/office/drawing/2014/main" id="{83428708-15CE-77EC-57D1-C600F7084111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8660429" y="1483801"/>
                <a:ext cx="1635570" cy="1516133"/>
              </a:xfrm>
              <a:prstGeom prst="ellipse">
                <a:avLst/>
              </a:prstGeom>
              <a:ln>
                <a:noFill/>
              </a:ln>
              <a:effectLst>
                <a:softEdge rad="112500"/>
              </a:effectLst>
            </p:spPr>
          </p:pic>
        </mc:Fallback>
      </mc:AlternateContent>
      <p:cxnSp>
        <p:nvCxnSpPr>
          <p:cNvPr id="9" name="Connector: Curved 8">
            <a:extLst>
              <a:ext uri="{FF2B5EF4-FFF2-40B4-BE49-F238E27FC236}">
                <a16:creationId xmlns:a16="http://schemas.microsoft.com/office/drawing/2014/main" id="{94D65663-AF4A-EB74-0075-4ADD8A17E1F5}"/>
              </a:ext>
            </a:extLst>
          </p:cNvPr>
          <p:cNvCxnSpPr>
            <a:cxnSpLocks/>
            <a:stCxn id="28" idx="4"/>
            <a:endCxn id="26" idx="2"/>
          </p:cNvCxnSpPr>
          <p:nvPr/>
        </p:nvCxnSpPr>
        <p:spPr>
          <a:xfrm rot="16200000" flipH="1">
            <a:off x="4318889" y="2732975"/>
            <a:ext cx="712498" cy="1973653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nector: Curved 24">
            <a:extLst>
              <a:ext uri="{FF2B5EF4-FFF2-40B4-BE49-F238E27FC236}">
                <a16:creationId xmlns:a16="http://schemas.microsoft.com/office/drawing/2014/main" id="{082F694A-EDF6-7C72-0074-1448486B4320}"/>
              </a:ext>
            </a:extLst>
          </p:cNvPr>
          <p:cNvCxnSpPr>
            <a:cxnSpLocks/>
            <a:endCxn id="30" idx="4"/>
          </p:cNvCxnSpPr>
          <p:nvPr/>
        </p:nvCxnSpPr>
        <p:spPr>
          <a:xfrm flipV="1">
            <a:off x="7182563" y="2999934"/>
            <a:ext cx="2295651" cy="1076116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EE58E4B3-B8C2-0AF8-753C-7A3BB69836F5}"/>
              </a:ext>
            </a:extLst>
          </p:cNvPr>
          <p:cNvSpPr/>
          <p:nvPr/>
        </p:nvSpPr>
        <p:spPr>
          <a:xfrm>
            <a:off x="8427870" y="5559407"/>
            <a:ext cx="1868129" cy="1033392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mc:AlternateContent xmlns:mc="http://schemas.openxmlformats.org/markup-compatibility/2006" xmlns:psez="http://schemas.microsoft.com/office/powerpoint/2016/sectionzoom">
        <mc:Choice Requires="psez">
          <p:graphicFrame>
            <p:nvGraphicFramePr>
              <p:cNvPr id="27" name="Section Zoom 26">
                <a:extLst>
                  <a:ext uri="{FF2B5EF4-FFF2-40B4-BE49-F238E27FC236}">
                    <a16:creationId xmlns:a16="http://schemas.microsoft.com/office/drawing/2014/main" id="{CB66BAD8-FFEA-B0A4-3298-4519E3873F25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894418719"/>
                  </p:ext>
                </p:extLst>
              </p:nvPr>
            </p:nvGraphicFramePr>
            <p:xfrm>
              <a:off x="8427869" y="5559407"/>
              <a:ext cx="1868129" cy="1050823"/>
            </p:xfrm>
            <a:graphic>
              <a:graphicData uri="http://schemas.microsoft.com/office/powerpoint/2016/sectionzoom">
                <psez:sectionZm>
                  <psez:sectionZmObj sectionId="{7A266386-9ED6-4C6C-9922-CDBB211DCF21}">
                    <psez:zmPr id="{854980CB-6719-4D83-9E01-95B5BDCB92A6}" transitionDur="1000">
                      <p166:blipFill xmlns:p166="http://schemas.microsoft.com/office/powerpoint/2016/6/main">
                        <a:blip r:embed="rId17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1868129" cy="1050823"/>
                        </a:xfrm>
                        <a:prstGeom prst="rect">
                          <a:avLst/>
                        </a:prstGeom>
                        <a:ln>
                          <a:noFill/>
                        </a:ln>
                        <a:effectLst>
                          <a:softEdge rad="112500"/>
                        </a:effectLst>
                      </p166:spPr>
                    </psez:zmPr>
                  </psez:sectionZmObj>
                </psez:sectionZm>
              </a:graphicData>
            </a:graphic>
          </p:graphicFrame>
        </mc:Choice>
        <mc:Fallback xmlns="">
          <p:pic>
            <p:nvPicPr>
              <p:cNvPr id="27" name="Section Zoom 26">
                <a:hlinkClick r:id="rId21" action="ppaction://hlinksldjump"/>
                <a:extLst>
                  <a:ext uri="{FF2B5EF4-FFF2-40B4-BE49-F238E27FC236}">
                    <a16:creationId xmlns:a16="http://schemas.microsoft.com/office/drawing/2014/main" id="{CB66BAD8-FFEA-B0A4-3298-4519E3873F25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8427869" y="5559407"/>
                <a:ext cx="1868129" cy="1050823"/>
              </a:xfrm>
              <a:prstGeom prst="rect">
                <a:avLst/>
              </a:prstGeom>
              <a:ln>
                <a:noFill/>
              </a:ln>
              <a:effectLst>
                <a:softEdge rad="112500"/>
              </a:effectLst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4868319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>
          <a:gsLst>
            <a:gs pos="100000">
              <a:srgbClr val="07B2F0"/>
            </a:gs>
            <a:gs pos="0">
              <a:schemeClr val="accent1">
                <a:lumMod val="5000"/>
                <a:lumOff val="95000"/>
              </a:schemeClr>
            </a:gs>
            <a:gs pos="100000">
              <a:schemeClr val="accent1">
                <a:lumMod val="45000"/>
                <a:lumOff val="55000"/>
              </a:schemeClr>
            </a:gs>
            <a:gs pos="52000">
              <a:schemeClr val="accent1">
                <a:lumMod val="7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F981099E-9893-A16F-05AE-4BF02D378937}"/>
              </a:ext>
            </a:extLst>
          </p:cNvPr>
          <p:cNvSpPr/>
          <p:nvPr/>
        </p:nvSpPr>
        <p:spPr>
          <a:xfrm>
            <a:off x="2832556" y="2644170"/>
            <a:ext cx="6526888" cy="156966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9600" b="1" cap="none" spc="50" dirty="0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</a:rPr>
              <a:t>Roll Call</a:t>
            </a:r>
          </a:p>
        </p:txBody>
      </p:sp>
    </p:spTree>
    <p:extLst>
      <p:ext uri="{BB962C8B-B14F-4D97-AF65-F5344CB8AC3E}">
        <p14:creationId xmlns:p14="http://schemas.microsoft.com/office/powerpoint/2010/main" val="362447830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 advTm="0">
        <p159:morph option="byObject"/>
      </p:transition>
    </mc:Choice>
    <mc:Fallback xmlns="">
      <p:transition spd="slow" advClick="0" advTm="0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81000">
              <a:schemeClr val="accent1">
                <a:lumMod val="75000"/>
              </a:schemeClr>
            </a:gs>
            <a:gs pos="2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122544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 advTm="0">
        <p:fade/>
      </p:transition>
    </mc:Choice>
    <mc:Fallback xmlns="">
      <p:transition spd="med" advClick="0" advTm="0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8DD3E7-D068-F91C-4E13-0BDDE302AC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dirty="0"/>
              <a:t>A.		Roll Call</a:t>
            </a:r>
            <a:br>
              <a:rPr lang="en-IN" dirty="0"/>
            </a:br>
            <a:endParaRPr lang="en-IN" sz="2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C073B7-9098-4C64-1041-B3CFCAD826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838961"/>
            <a:ext cx="8596668" cy="4202402"/>
          </a:xfrm>
        </p:spPr>
        <p:txBody>
          <a:bodyPr>
            <a:normAutofit/>
          </a:bodyPr>
          <a:lstStyle/>
          <a:p>
            <a:r>
              <a:rPr lang="en-IN" dirty="0"/>
              <a:t>The Committee begins with the Roll Call / Attendance.</a:t>
            </a:r>
          </a:p>
          <a:p>
            <a:r>
              <a:rPr lang="en-IN" dirty="0"/>
              <a:t>The EB shall call out your portfolio to mark your attendance</a:t>
            </a:r>
          </a:p>
          <a:p>
            <a:r>
              <a:rPr lang="en-IN" dirty="0"/>
              <a:t>There are two types of responses and you should know the differences between them. This should be the first thing that you do.</a:t>
            </a:r>
          </a:p>
          <a:p>
            <a:pPr marL="1714500" lvl="3" indent="-342900">
              <a:buFont typeface="+mj-lt"/>
              <a:buAutoNum type="arabicPeriod"/>
            </a:pPr>
            <a:r>
              <a:rPr lang="en-IN" sz="1600" dirty="0"/>
              <a:t>Present – if you say this, you shall only be marked present but will have no right to caste your vote nor to raise any motion. This is highly not recommended by me. </a:t>
            </a:r>
          </a:p>
          <a:p>
            <a:pPr marL="1714500" lvl="3" indent="-342900">
              <a:buFont typeface="+mj-lt"/>
              <a:buAutoNum type="arabicPeriod"/>
            </a:pPr>
            <a:r>
              <a:rPr lang="en-IN" sz="1600" dirty="0"/>
              <a:t>Present and voting – if you say this, you shall be marked present and may now be a full-fledged member of the committee along with all rights to vote, raise motion, etc.</a:t>
            </a:r>
          </a:p>
        </p:txBody>
      </p:sp>
    </p:spTree>
    <p:extLst>
      <p:ext uri="{BB962C8B-B14F-4D97-AF65-F5344CB8AC3E}">
        <p14:creationId xmlns:p14="http://schemas.microsoft.com/office/powerpoint/2010/main" val="412740902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>
          <a:gsLst>
            <a:gs pos="100000">
              <a:srgbClr val="07B2F0"/>
            </a:gs>
            <a:gs pos="0">
              <a:schemeClr val="accent1">
                <a:lumMod val="5000"/>
                <a:lumOff val="95000"/>
              </a:schemeClr>
            </a:gs>
            <a:gs pos="100000">
              <a:schemeClr val="accent1">
                <a:lumMod val="45000"/>
                <a:lumOff val="55000"/>
              </a:schemeClr>
            </a:gs>
            <a:gs pos="52000">
              <a:schemeClr val="accent1">
                <a:lumMod val="7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F981099E-9893-A16F-05AE-4BF02D378937}"/>
              </a:ext>
            </a:extLst>
          </p:cNvPr>
          <p:cNvSpPr/>
          <p:nvPr/>
        </p:nvSpPr>
        <p:spPr>
          <a:xfrm>
            <a:off x="2832556" y="2644170"/>
            <a:ext cx="6526888" cy="156966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9600" b="1" cap="none" spc="50" dirty="0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</a:rPr>
              <a:t>The GSL</a:t>
            </a:r>
          </a:p>
        </p:txBody>
      </p:sp>
    </p:spTree>
    <p:extLst>
      <p:ext uri="{BB962C8B-B14F-4D97-AF65-F5344CB8AC3E}">
        <p14:creationId xmlns:p14="http://schemas.microsoft.com/office/powerpoint/2010/main" val="40992737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 advTm="0">
        <p:fade/>
      </p:transition>
    </mc:Choice>
    <mc:Fallback xmlns="">
      <p:transition spd="med" advClick="0" advTm="0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81000">
              <a:schemeClr val="accent1">
                <a:lumMod val="75000"/>
              </a:schemeClr>
            </a:gs>
            <a:gs pos="2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703369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 advTm="0">
        <p:fade/>
      </p:transition>
    </mc:Choice>
    <mc:Fallback xmlns="">
      <p:transition spd="med" advClick="0" advTm="0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8BBC9-AAAD-0682-F01A-9C86A6E137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dirty="0"/>
              <a:t>B1. 		The GSL</a:t>
            </a:r>
            <a:br>
              <a:rPr lang="en-IN" dirty="0"/>
            </a:br>
            <a:endParaRPr lang="en-IN" sz="1800" i="1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1AE332-AD84-7AEF-13F8-143C179759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2659" y="1905000"/>
            <a:ext cx="8596668" cy="4110962"/>
          </a:xfrm>
        </p:spPr>
        <p:txBody>
          <a:bodyPr>
            <a:normAutofit fontScale="92500" lnSpcReduction="20000"/>
          </a:bodyPr>
          <a:lstStyle/>
          <a:p>
            <a:r>
              <a:rPr lang="en-IN" dirty="0"/>
              <a:t>After the roll call/attendance is done with, the EB shall ask, “Are there are any motions on the floor” and to this, any one recognised delegate shall raise the motion of GSL</a:t>
            </a:r>
          </a:p>
          <a:p>
            <a:r>
              <a:rPr lang="en-IN" dirty="0"/>
              <a:t>The default time for a GSL is 90secs, although under the discretion of the EB, the time may range from 60secs to 120secs.</a:t>
            </a:r>
          </a:p>
          <a:p>
            <a:r>
              <a:rPr lang="en-IN" dirty="0"/>
              <a:t>Since you may speak about any relevant topic, pre-prepare your speeches for this. Although do not say everything. Keep somethings hidden under your sleeve for as they may be used against other delegates at any other time.</a:t>
            </a:r>
          </a:p>
          <a:p>
            <a:r>
              <a:rPr lang="en-IN" dirty="0"/>
              <a:t>Even though you may speak about any relevant topics, be mindful of the house and the topic that may be much concerning at the time</a:t>
            </a:r>
          </a:p>
          <a:p>
            <a:r>
              <a:rPr lang="en-IN" dirty="0"/>
              <a:t>The GSL is what drives the conference. Therefore if it is exhausted, the conference is ends as well.  Therefore try along with you lobby to never exhaust the GSL</a:t>
            </a:r>
          </a:p>
          <a:p>
            <a:r>
              <a:rPr lang="en-IN" dirty="0"/>
              <a:t>GSLs are made to be exhausted after the last committee session of the last day of the conference.</a:t>
            </a:r>
            <a:br>
              <a:rPr lang="en-IN" dirty="0"/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9824797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>
          <a:gsLst>
            <a:gs pos="100000">
              <a:srgbClr val="07B2F0"/>
            </a:gs>
            <a:gs pos="0">
              <a:schemeClr val="accent1">
                <a:lumMod val="5000"/>
                <a:lumOff val="95000"/>
              </a:schemeClr>
            </a:gs>
            <a:gs pos="100000">
              <a:schemeClr val="accent1">
                <a:lumMod val="45000"/>
                <a:lumOff val="55000"/>
              </a:schemeClr>
            </a:gs>
            <a:gs pos="52000">
              <a:schemeClr val="accent1">
                <a:lumMod val="7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F981099E-9893-A16F-05AE-4BF02D378937}"/>
              </a:ext>
            </a:extLst>
          </p:cNvPr>
          <p:cNvSpPr/>
          <p:nvPr/>
        </p:nvSpPr>
        <p:spPr>
          <a:xfrm>
            <a:off x="2832556" y="1905506"/>
            <a:ext cx="6526888" cy="3046988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9600" b="1" spc="50" dirty="0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</a:rPr>
              <a:t>The Caucuses</a:t>
            </a:r>
            <a:endParaRPr lang="en-US" sz="9600" b="1" cap="none" spc="50" dirty="0">
              <a:ln w="9525" cmpd="sng">
                <a:solidFill>
                  <a:schemeClr val="accent1"/>
                </a:solidFill>
                <a:prstDash val="solid"/>
              </a:ln>
              <a:solidFill>
                <a:srgbClr val="70AD47">
                  <a:tint val="1000"/>
                </a:srgbClr>
              </a:solidFill>
              <a:effectLst>
                <a:glow rad="38100">
                  <a:schemeClr val="accent1">
                    <a:alpha val="40000"/>
                  </a:schemeClr>
                </a:glo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1591825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 advTm="0">
        <p:fade/>
      </p:transition>
    </mc:Choice>
    <mc:Fallback xmlns="">
      <p:transition spd="med" advClick="0" advTm="0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81000">
              <a:schemeClr val="accent1">
                <a:lumMod val="75000"/>
              </a:schemeClr>
            </a:gs>
            <a:gs pos="2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375443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 advTm="0">
        <p:fade/>
      </p:transition>
    </mc:Choice>
    <mc:Fallback xmlns="">
      <p:transition spd="med" advClick="0" advTm="0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8BBC9-AAAD-0682-F01A-9C86A6E137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dirty="0"/>
              <a:t>B2.1. 		The Moderated Caucus</a:t>
            </a:r>
            <a:br>
              <a:rPr lang="en-IN" dirty="0"/>
            </a:br>
            <a:r>
              <a:rPr lang="en-IN" sz="1800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		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1AE332-AD84-7AEF-13F8-143C179759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97666" y="2037810"/>
            <a:ext cx="8596668" cy="4196080"/>
          </a:xfrm>
        </p:spPr>
        <p:txBody>
          <a:bodyPr>
            <a:normAutofit/>
          </a:bodyPr>
          <a:lstStyle/>
          <a:p>
            <a:r>
              <a:rPr lang="en-IN" dirty="0"/>
              <a:t>After someone raises a motion for a Mod Caus., you are then called to speak on the topic that has been chosen by the person who raised the motion </a:t>
            </a:r>
          </a:p>
          <a:p>
            <a:r>
              <a:rPr lang="en-IN" dirty="0"/>
              <a:t>The </a:t>
            </a:r>
            <a:r>
              <a:rPr lang="en-IN" dirty="0" err="1"/>
              <a:t>Mod.Caus</a:t>
            </a:r>
            <a:r>
              <a:rPr lang="en-IN" dirty="0"/>
              <a:t>. requires you to calculate a timing when you wish to raise the motion for this.</a:t>
            </a:r>
            <a:br>
              <a:rPr lang="en-IN" dirty="0"/>
            </a:br>
            <a:r>
              <a:rPr lang="en-IN" dirty="0"/>
              <a:t>For </a:t>
            </a:r>
            <a:r>
              <a:rPr lang="en-IN" dirty="0" err="1"/>
              <a:t>eg.</a:t>
            </a:r>
            <a:r>
              <a:rPr lang="en-IN" dirty="0"/>
              <a:t> -&gt; The total time for the </a:t>
            </a:r>
            <a:r>
              <a:rPr lang="en-IN" dirty="0" err="1"/>
              <a:t>Mod.Caus</a:t>
            </a:r>
            <a:r>
              <a:rPr lang="en-IN" dirty="0"/>
              <a:t>. If is 180 secs and there are 25 delegates, you may give each speaker a time of 90secs. </a:t>
            </a:r>
          </a:p>
          <a:p>
            <a:r>
              <a:rPr lang="en-IN" dirty="0"/>
              <a:t>The Mod. Caus. Is used to essentially discuss on a voted agenda. Every delegate shall have to speak on that topic only. Therefore it becomes a turning point in the conference if you can hit big in this</a:t>
            </a:r>
            <a:br>
              <a:rPr lang="en-IN" dirty="0"/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7765731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8BBC9-AAAD-0682-F01A-9C86A6E137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dirty="0"/>
              <a:t>B2.2. 		The Un-Moderated Caucus</a:t>
            </a:r>
            <a:br>
              <a:rPr lang="en-IN" dirty="0"/>
            </a:br>
            <a:r>
              <a:rPr lang="en-IN" sz="1800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	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1AE332-AD84-7AEF-13F8-143C179759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8384" y="1905000"/>
            <a:ext cx="8596668" cy="4110962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IN" dirty="0"/>
              <a:t>	</a:t>
            </a:r>
          </a:p>
          <a:p>
            <a:r>
              <a:rPr lang="en-IN" dirty="0"/>
              <a:t>Use this time wisely and form blocks/alliances with your real allies (as your delegation and not just your friends)</a:t>
            </a:r>
          </a:p>
          <a:p>
            <a:r>
              <a:rPr lang="en-IN" dirty="0"/>
              <a:t>Do not form an alliance with the opposition, instead try to manipulate the opposition to join your party. Be mindful that they could and would also do the same.</a:t>
            </a:r>
          </a:p>
          <a:p>
            <a:r>
              <a:rPr lang="en-IN" dirty="0"/>
              <a:t>Make working papers during this time and present them to the EB if asked or by raising a motion.</a:t>
            </a:r>
          </a:p>
          <a:p>
            <a:r>
              <a:rPr lang="en-IN" dirty="0"/>
              <a:t>During your last committee sessions, use this time to form your draft resolutions.</a:t>
            </a:r>
          </a:p>
          <a:p>
            <a:r>
              <a:rPr lang="en-IN" dirty="0">
                <a:solidFill>
                  <a:schemeClr val="tx1">
                    <a:lumMod val="95000"/>
                    <a:lumOff val="5000"/>
                  </a:schemeClr>
                </a:solidFill>
              </a:rPr>
              <a:t>The Un-Mod. Caus.  are held in between the Mod. Caus. and/or after the Mod. Caus.</a:t>
            </a:r>
            <a:br>
              <a:rPr lang="en-IN" dirty="0">
                <a:solidFill>
                  <a:srgbClr val="FF0000"/>
                </a:solidFill>
              </a:rPr>
            </a:br>
            <a:endParaRPr lang="en-IN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703740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>
          <a:gsLst>
            <a:gs pos="100000">
              <a:srgbClr val="07B2F0"/>
            </a:gs>
            <a:gs pos="0">
              <a:schemeClr val="accent1">
                <a:lumMod val="5000"/>
                <a:lumOff val="95000"/>
              </a:schemeClr>
            </a:gs>
            <a:gs pos="100000">
              <a:schemeClr val="accent1">
                <a:lumMod val="45000"/>
                <a:lumOff val="55000"/>
              </a:schemeClr>
            </a:gs>
            <a:gs pos="52000">
              <a:schemeClr val="accent1">
                <a:lumMod val="7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F981099E-9893-A16F-05AE-4BF02D378937}"/>
              </a:ext>
            </a:extLst>
          </p:cNvPr>
          <p:cNvSpPr/>
          <p:nvPr/>
        </p:nvSpPr>
        <p:spPr>
          <a:xfrm>
            <a:off x="1966884" y="1905506"/>
            <a:ext cx="8258231" cy="3046988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9600" b="1" spc="50" dirty="0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</a:rPr>
              <a:t>Suspension of  The Debate</a:t>
            </a:r>
            <a:endParaRPr lang="en-US" sz="9600" b="1" cap="none" spc="50" dirty="0">
              <a:ln w="9525" cmpd="sng">
                <a:solidFill>
                  <a:schemeClr val="accent1"/>
                </a:solidFill>
                <a:prstDash val="solid"/>
              </a:ln>
              <a:solidFill>
                <a:srgbClr val="70AD47">
                  <a:tint val="1000"/>
                </a:srgbClr>
              </a:solidFill>
              <a:effectLst>
                <a:glow rad="38100">
                  <a:schemeClr val="accent1">
                    <a:alpha val="40000"/>
                  </a:schemeClr>
                </a:glo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099992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 advTm="0">
        <p:fade/>
      </p:transition>
    </mc:Choice>
    <mc:Fallback xmlns="">
      <p:transition spd="med" advClick="0" advTm="0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81000">
              <a:schemeClr val="accent1">
                <a:lumMod val="75000"/>
              </a:schemeClr>
            </a:gs>
            <a:gs pos="2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154109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 advTm="0">
        <p:fade/>
      </p:transition>
    </mc:Choice>
    <mc:Fallback xmlns="">
      <p:transition spd="med" advClick="0" advTm="0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D4ACBE-0A9D-F57B-D60F-CC6FD5ACF5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C. 	Suspension of the Debate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EAA54D-F545-540A-82FD-1091B28BCF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Similarly to raising a motion for the house to move into formal/informal debate procedures, a delegate is required to raise a motion, informing the EB that the committee has been temporarily/permanently suspended.</a:t>
            </a:r>
          </a:p>
          <a:p>
            <a:r>
              <a:rPr lang="en-IN" dirty="0"/>
              <a:t>After this motion is passed, all committee meetings comes to an end and therefore marks the end of the conference. </a:t>
            </a:r>
          </a:p>
          <a:p>
            <a:r>
              <a:rPr lang="en-IN" dirty="0"/>
              <a:t>This motion is to be raised when delegates want to move out for lunch or at the end of each session. Not at the end of the last session</a:t>
            </a:r>
          </a:p>
        </p:txBody>
      </p:sp>
    </p:spTree>
    <p:extLst>
      <p:ext uri="{BB962C8B-B14F-4D97-AF65-F5344CB8AC3E}">
        <p14:creationId xmlns:p14="http://schemas.microsoft.com/office/powerpoint/2010/main" val="423940867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22C20AF-9D96-B75F-11C8-96B859252BE4}"/>
              </a:ext>
            </a:extLst>
          </p:cNvPr>
          <p:cNvSpPr/>
          <p:nvPr/>
        </p:nvSpPr>
        <p:spPr>
          <a:xfrm>
            <a:off x="-508820" y="-1039762"/>
            <a:ext cx="13209640" cy="8937524"/>
          </a:xfrm>
          <a:prstGeom prst="rect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54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4400" dirty="0">
              <a:latin typeface="+mj-lt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B80503B-06AE-7C9C-A7EA-6C9CCCA356A3}"/>
              </a:ext>
            </a:extLst>
          </p:cNvPr>
          <p:cNvSpPr/>
          <p:nvPr/>
        </p:nvSpPr>
        <p:spPr>
          <a:xfrm>
            <a:off x="367331" y="1166842"/>
            <a:ext cx="11457337" cy="452431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9600" b="1" cap="none" spc="50" dirty="0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</a:rPr>
              <a:t>POINTS </a:t>
            </a:r>
          </a:p>
          <a:p>
            <a:pPr algn="ctr"/>
            <a:r>
              <a:rPr lang="en-US" sz="9600" b="1" cap="none" spc="50" dirty="0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</a:rPr>
              <a:t>&amp; </a:t>
            </a:r>
          </a:p>
          <a:p>
            <a:pPr algn="ctr"/>
            <a:r>
              <a:rPr lang="en-US" sz="9600" b="1" cap="none" spc="50" dirty="0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</a:rPr>
              <a:t>RIGHTS</a:t>
            </a:r>
          </a:p>
        </p:txBody>
      </p:sp>
    </p:spTree>
    <p:extLst>
      <p:ext uri="{BB962C8B-B14F-4D97-AF65-F5344CB8AC3E}">
        <p14:creationId xmlns:p14="http://schemas.microsoft.com/office/powerpoint/2010/main" val="26240406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 advTm="0">
        <p:fade/>
      </p:transition>
    </mc:Choice>
    <mc:Fallback xmlns="">
      <p:transition spd="med" advClick="0" advTm="0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100000">
              <a:schemeClr val="accent1">
                <a:lumMod val="45000"/>
                <a:lumOff val="55000"/>
              </a:schemeClr>
            </a:gs>
            <a:gs pos="88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36CFF1B-D126-627E-4456-C7E07A7B4DE8}"/>
              </a:ext>
            </a:extLst>
          </p:cNvPr>
          <p:cNvSpPr txBox="1"/>
          <p:nvPr/>
        </p:nvSpPr>
        <p:spPr>
          <a:xfrm>
            <a:off x="3352800" y="1828800"/>
            <a:ext cx="49161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9990708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 advTm="0">
        <p:fade/>
      </p:transition>
    </mc:Choice>
    <mc:Fallback xmlns="">
      <p:transition spd="med" advClick="0" advTm="0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04773E-292C-1CFB-926D-37678F378B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5346" y="2768600"/>
            <a:ext cx="8596668" cy="1320800"/>
          </a:xfrm>
        </p:spPr>
        <p:txBody>
          <a:bodyPr>
            <a:normAutofit/>
          </a:bodyPr>
          <a:lstStyle/>
          <a:p>
            <a:pPr algn="ctr"/>
            <a:r>
              <a:rPr lang="en-IN" sz="4400" b="1" dirty="0"/>
              <a:t>POINTS &amp; RIGHTS</a:t>
            </a:r>
          </a:p>
        </p:txBody>
      </p:sp>
    </p:spTree>
    <p:extLst>
      <p:ext uri="{BB962C8B-B14F-4D97-AF65-F5344CB8AC3E}">
        <p14:creationId xmlns:p14="http://schemas.microsoft.com/office/powerpoint/2010/main" val="379958704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 advTm="0">
        <p159:morph option="byObject"/>
      </p:transition>
    </mc:Choice>
    <mc:Fallback xmlns="">
      <p:transition spd="slow" advClick="0" advTm="0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DAD263-B375-3B6E-AF8F-D87E3F7004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Types of points &amp; rights and their usage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2A9D88-5E83-BD44-451D-59A9030E50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44159" y="1432325"/>
            <a:ext cx="9228666" cy="4801565"/>
          </a:xfrm>
        </p:spPr>
        <p:txBody>
          <a:bodyPr>
            <a:normAutofit/>
          </a:bodyPr>
          <a:lstStyle/>
          <a:p>
            <a:pPr>
              <a:buFont typeface="+mj-lt"/>
              <a:buAutoNum type="arabicPeriod"/>
            </a:pPr>
            <a:r>
              <a:rPr lang="en-IN" dirty="0"/>
              <a:t>Point of Order - Raised when there is a fault of ROP by the EB. Also used for factual 					       inaccuracies. </a:t>
            </a:r>
          </a:p>
          <a:p>
            <a:pPr>
              <a:buFont typeface="+mj-lt"/>
              <a:buAutoNum type="arabicPeriod"/>
            </a:pP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Point of Information – Raised to ask questions to a delegate or the EB</a:t>
            </a:r>
          </a:p>
          <a:p>
            <a:pPr>
              <a:buFont typeface="+mj-lt"/>
              <a:buAutoNum type="arabicPeriod"/>
            </a:pP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Point of Personal Privilege –Raised when you want to Go out of the committee 							during its proceedings. </a:t>
            </a:r>
          </a:p>
          <a:p>
            <a:pPr>
              <a:buFont typeface="+mj-lt"/>
              <a:buAutoNum type="arabicPeriod"/>
            </a:pPr>
            <a:r>
              <a:rPr lang="en-IN" dirty="0">
                <a:solidFill>
                  <a:schemeClr val="tx1">
                    <a:lumMod val="95000"/>
                    <a:lumOff val="5000"/>
                  </a:schemeClr>
                </a:solidFill>
              </a:rPr>
              <a:t>Point of Parliamentary Enquiry – Raised to ask the EB about the agenda, </a:t>
            </a:r>
            <a:r>
              <a:rPr lang="en-IN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no.of</a:t>
            </a:r>
            <a:r>
              <a:rPr lang="en-IN" dirty="0">
                <a:solidFill>
                  <a:schemeClr val="tx1">
                    <a:lumMod val="95000"/>
                    <a:lumOff val="5000"/>
                  </a:schemeClr>
                </a:solidFill>
              </a:rPr>
              <a:t> 								speakers left, when is your turn to speak, etc</a:t>
            </a:r>
          </a:p>
          <a:p>
            <a:pPr>
              <a:buFont typeface="+mj-lt"/>
              <a:buAutoNum type="arabicPeriod"/>
            </a:pPr>
            <a:r>
              <a:rPr lang="en-IN" dirty="0">
                <a:solidFill>
                  <a:schemeClr val="tx1">
                    <a:lumMod val="95000"/>
                    <a:lumOff val="5000"/>
                  </a:schemeClr>
                </a:solidFill>
              </a:rPr>
              <a:t>Right to Reply – raised if the nation’s (portfolio) integrity is attacked</a:t>
            </a:r>
          </a:p>
          <a:p>
            <a:pPr marL="0" indent="0">
              <a:buNone/>
            </a:pPr>
            <a:r>
              <a:rPr lang="en-IN" sz="1700" i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NOTE:  The Point of Personal Privilege is the ONLY point that can interrupt a speaker</a:t>
            </a:r>
          </a:p>
        </p:txBody>
      </p:sp>
    </p:spTree>
    <p:extLst>
      <p:ext uri="{BB962C8B-B14F-4D97-AF65-F5344CB8AC3E}">
        <p14:creationId xmlns:p14="http://schemas.microsoft.com/office/powerpoint/2010/main" val="38261285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22C20AF-9D96-B75F-11C8-96B859252BE4}"/>
              </a:ext>
            </a:extLst>
          </p:cNvPr>
          <p:cNvSpPr/>
          <p:nvPr/>
        </p:nvSpPr>
        <p:spPr>
          <a:xfrm>
            <a:off x="-508820" y="-1039762"/>
            <a:ext cx="13209640" cy="8937524"/>
          </a:xfrm>
          <a:prstGeom prst="rect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54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4400" dirty="0">
              <a:latin typeface="+mj-lt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B80503B-06AE-7C9C-A7EA-6C9CCCA356A3}"/>
              </a:ext>
            </a:extLst>
          </p:cNvPr>
          <p:cNvSpPr/>
          <p:nvPr/>
        </p:nvSpPr>
        <p:spPr>
          <a:xfrm>
            <a:off x="367331" y="2644170"/>
            <a:ext cx="11457337" cy="156966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9600" b="1" cap="none" spc="50" dirty="0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</a:rPr>
              <a:t>YIELDS</a:t>
            </a:r>
          </a:p>
        </p:txBody>
      </p:sp>
    </p:spTree>
    <p:extLst>
      <p:ext uri="{BB962C8B-B14F-4D97-AF65-F5344CB8AC3E}">
        <p14:creationId xmlns:p14="http://schemas.microsoft.com/office/powerpoint/2010/main" val="5696395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 advTm="0">
        <p:fade/>
      </p:transition>
    </mc:Choice>
    <mc:Fallback xmlns="">
      <p:transition spd="med" advClick="0" advTm="0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100000">
              <a:schemeClr val="accent1">
                <a:lumMod val="45000"/>
                <a:lumOff val="55000"/>
              </a:schemeClr>
            </a:gs>
            <a:gs pos="88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36CFF1B-D126-627E-4456-C7E07A7B4DE8}"/>
              </a:ext>
            </a:extLst>
          </p:cNvPr>
          <p:cNvSpPr txBox="1"/>
          <p:nvPr/>
        </p:nvSpPr>
        <p:spPr>
          <a:xfrm>
            <a:off x="3352800" y="1828800"/>
            <a:ext cx="49161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162393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 advTm="0">
        <p:fade/>
      </p:transition>
    </mc:Choice>
    <mc:Fallback xmlns="">
      <p:transition spd="med" advClick="0" advTm="0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04773E-292C-1CFB-926D-37678F378B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5346" y="2768600"/>
            <a:ext cx="8596668" cy="1320800"/>
          </a:xfrm>
        </p:spPr>
        <p:txBody>
          <a:bodyPr>
            <a:normAutofit/>
          </a:bodyPr>
          <a:lstStyle/>
          <a:p>
            <a:pPr algn="ctr"/>
            <a:r>
              <a:rPr lang="en-IN" sz="4400" b="1" dirty="0"/>
              <a:t>YIELDS </a:t>
            </a:r>
          </a:p>
        </p:txBody>
      </p:sp>
    </p:spTree>
    <p:extLst>
      <p:ext uri="{BB962C8B-B14F-4D97-AF65-F5344CB8AC3E}">
        <p14:creationId xmlns:p14="http://schemas.microsoft.com/office/powerpoint/2010/main" val="171017063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 advTm="0">
        <p159:morph option="byObject"/>
      </p:transition>
    </mc:Choice>
    <mc:Fallback xmlns="">
      <p:transition spd="slow" advClick="0" advTm="0"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754DAE-D1EB-2DCF-ED19-46D2515A00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Types of yields and their usage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EC8B32-668F-938D-D408-19B27FD433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04925" y="2133600"/>
            <a:ext cx="10199687" cy="3777622"/>
          </a:xfrm>
        </p:spPr>
        <p:txBody>
          <a:bodyPr/>
          <a:lstStyle/>
          <a:p>
            <a:r>
              <a:rPr lang="en-IN" dirty="0"/>
              <a:t>Yielding to Executive Board – yields remaining time to the EB and the EB decides what 								to be done with the remaining time</a:t>
            </a:r>
          </a:p>
          <a:p>
            <a:r>
              <a:rPr lang="en-IN" dirty="0"/>
              <a:t>Yielding to Another Delegate – yields remaining time to another delegate</a:t>
            </a:r>
          </a:p>
          <a:p>
            <a:r>
              <a:rPr lang="en-IN" dirty="0"/>
              <a:t>Yielding to Questions </a:t>
            </a:r>
            <a:r>
              <a:rPr lang="en-IN" i="1" dirty="0"/>
              <a:t>(Point of Information) – </a:t>
            </a:r>
            <a:r>
              <a:rPr lang="en-IN" dirty="0"/>
              <a:t>yielding this indicates you’re open to 										     questions asked</a:t>
            </a:r>
          </a:p>
        </p:txBody>
      </p:sp>
    </p:spTree>
    <p:extLst>
      <p:ext uri="{BB962C8B-B14F-4D97-AF65-F5344CB8AC3E}">
        <p14:creationId xmlns:p14="http://schemas.microsoft.com/office/powerpoint/2010/main" val="31241132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22C20AF-9D96-B75F-11C8-96B859252BE4}"/>
              </a:ext>
            </a:extLst>
          </p:cNvPr>
          <p:cNvSpPr/>
          <p:nvPr/>
        </p:nvSpPr>
        <p:spPr>
          <a:xfrm>
            <a:off x="-508820" y="-1039762"/>
            <a:ext cx="13209640" cy="8937524"/>
          </a:xfrm>
          <a:prstGeom prst="rect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54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4400" dirty="0">
              <a:latin typeface="+mj-lt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B80503B-06AE-7C9C-A7EA-6C9CCCA356A3}"/>
              </a:ext>
            </a:extLst>
          </p:cNvPr>
          <p:cNvSpPr/>
          <p:nvPr/>
        </p:nvSpPr>
        <p:spPr>
          <a:xfrm>
            <a:off x="367331" y="2644170"/>
            <a:ext cx="11457337" cy="156966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9600" b="1" cap="none" spc="50" dirty="0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</a:rPr>
              <a:t>PAPERWORK</a:t>
            </a:r>
          </a:p>
        </p:txBody>
      </p:sp>
    </p:spTree>
    <p:extLst>
      <p:ext uri="{BB962C8B-B14F-4D97-AF65-F5344CB8AC3E}">
        <p14:creationId xmlns:p14="http://schemas.microsoft.com/office/powerpoint/2010/main" val="1583184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 advTm="0">
        <p:fade/>
      </p:transition>
    </mc:Choice>
    <mc:Fallback xmlns="">
      <p:transition spd="med" advClick="0" advTm="0">
        <p:fade/>
      </p:transition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100000">
              <a:schemeClr val="accent1">
                <a:lumMod val="45000"/>
                <a:lumOff val="55000"/>
              </a:schemeClr>
            </a:gs>
            <a:gs pos="88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36CFF1B-D126-627E-4456-C7E07A7B4DE8}"/>
              </a:ext>
            </a:extLst>
          </p:cNvPr>
          <p:cNvSpPr txBox="1"/>
          <p:nvPr/>
        </p:nvSpPr>
        <p:spPr>
          <a:xfrm>
            <a:off x="3352800" y="1828800"/>
            <a:ext cx="49161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806064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 advTm="0">
        <p:fade/>
      </p:transition>
    </mc:Choice>
    <mc:Fallback xmlns="">
      <p:transition spd="med" advClick="0" advTm="0">
        <p:fade/>
      </p:transition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04773E-292C-1CFB-926D-37678F378B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5346" y="2768600"/>
            <a:ext cx="8596668" cy="1320800"/>
          </a:xfrm>
        </p:spPr>
        <p:txBody>
          <a:bodyPr>
            <a:normAutofit/>
          </a:bodyPr>
          <a:lstStyle/>
          <a:p>
            <a:pPr algn="ctr"/>
            <a:r>
              <a:rPr lang="en-IN" sz="4400" b="1" dirty="0"/>
              <a:t>PAPERWORK </a:t>
            </a:r>
          </a:p>
        </p:txBody>
      </p:sp>
    </p:spTree>
    <p:extLst>
      <p:ext uri="{BB962C8B-B14F-4D97-AF65-F5344CB8AC3E}">
        <p14:creationId xmlns:p14="http://schemas.microsoft.com/office/powerpoint/2010/main" val="191590270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 advTm="0">
        <p159:morph option="byObject"/>
      </p:transition>
    </mc:Choice>
    <mc:Fallback xmlns="">
      <p:transition spd="slow" advClick="0" advTm="0">
        <p:fade/>
      </p:transition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48B9F0-5575-666B-515F-DDA8327B10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A. 	WORKING PAPER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C4C7E8-195A-B832-A3B9-F76E78C551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Written at the end of every </a:t>
            </a:r>
            <a:r>
              <a:rPr lang="en-IN" dirty="0" err="1"/>
              <a:t>Mod.Caus</a:t>
            </a:r>
            <a:r>
              <a:rPr lang="en-IN" dirty="0"/>
              <a:t>. , it is a set of solutions that have been concluded with unanimously amongst the lobby.</a:t>
            </a:r>
            <a:br>
              <a:rPr lang="en-IN" dirty="0"/>
            </a:br>
            <a:r>
              <a:rPr lang="en-IN" dirty="0"/>
              <a:t>		This should be written during the Un-Mod. Caus. Sessions. </a:t>
            </a:r>
          </a:p>
          <a:p>
            <a:r>
              <a:rPr lang="en-IN" dirty="0"/>
              <a:t>The working paper has no particular format. Although it should be noted that it should not be extremely informal. It may be semi-formal. </a:t>
            </a:r>
          </a:p>
          <a:p>
            <a:r>
              <a:rPr lang="en-IN" dirty="0"/>
              <a:t>The idea behind the working paper is to discuss solutions amongst your allies in written format</a:t>
            </a:r>
          </a:p>
          <a:p>
            <a:r>
              <a:rPr lang="en-IN" dirty="0"/>
              <a:t>It is a predecessor of the Draft Resolution</a:t>
            </a:r>
          </a:p>
        </p:txBody>
      </p:sp>
    </p:spTree>
    <p:extLst>
      <p:ext uri="{BB962C8B-B14F-4D97-AF65-F5344CB8AC3E}">
        <p14:creationId xmlns:p14="http://schemas.microsoft.com/office/powerpoint/2010/main" val="12294693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D4A4E-96D9-D821-B16F-C0535B6C99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B. 		Draft Resolution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787E5C-FDA7-36A4-892E-B8648FD416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930401"/>
            <a:ext cx="8596668" cy="4110962"/>
          </a:xfrm>
        </p:spPr>
        <p:txBody>
          <a:bodyPr>
            <a:normAutofit fontScale="92500" lnSpcReduction="20000"/>
          </a:bodyPr>
          <a:lstStyle/>
          <a:p>
            <a:r>
              <a:rPr lang="en-IN" dirty="0"/>
              <a:t>It’s essentially a Draft of the Resolution. It becomes a resolution after it has passed the voting of a simple majority</a:t>
            </a:r>
          </a:p>
          <a:p>
            <a:r>
              <a:rPr lang="en-IN" dirty="0"/>
              <a:t>It contains all the issues the committee discussed bout during the entire conference and a solution to it ( could be one or more)</a:t>
            </a:r>
          </a:p>
          <a:p>
            <a:r>
              <a:rPr lang="en-IN" dirty="0"/>
              <a:t>It follows a specific format. (</a:t>
            </a:r>
            <a:r>
              <a:rPr lang="en-IN" i="1" dirty="0"/>
              <a:t>Attached</a:t>
            </a:r>
            <a:r>
              <a:rPr lang="en-IN" dirty="0"/>
              <a:t>) </a:t>
            </a:r>
          </a:p>
          <a:p>
            <a:r>
              <a:rPr lang="en-IN" dirty="0"/>
              <a:t>There could be multiple authors of the Draft Resolution but only one sponsor. And anyone could be the sponsor. If it’s just one delegate drafting the resolution, he/she is the author, </a:t>
            </a:r>
          </a:p>
          <a:p>
            <a:r>
              <a:rPr lang="en-IN" dirty="0"/>
              <a:t>In certain committees the author could draft a resolution for his specific country as well other than drafting one unanimously with his bloc</a:t>
            </a:r>
          </a:p>
          <a:p>
            <a:r>
              <a:rPr lang="en-IN" dirty="0"/>
              <a:t>In your committee, you along with other party members shall draft it together. Although look out for an opportunity to be the sponsor of the draft and/or share/handover the draft resolution to the EB.</a:t>
            </a:r>
          </a:p>
          <a:p>
            <a:r>
              <a:rPr lang="en-IN" dirty="0"/>
              <a:t>Every author needs to sign on the draft resolution.</a:t>
            </a:r>
          </a:p>
          <a:p>
            <a:r>
              <a:rPr lang="en-IN" sz="1800" kern="1200" dirty="0">
                <a:solidFill>
                  <a:srgbClr val="0D0D0D"/>
                </a:solidFill>
                <a:effectLst/>
                <a:latin typeface="Gill Sans MT" panose="020B0502020104020203" pitchFamily="34" charset="0"/>
                <a:ea typeface="+mn-ea"/>
                <a:cs typeface="+mn-cs"/>
              </a:rPr>
              <a:t>That draft resolution needs to be printed or submitted through an email.</a:t>
            </a:r>
            <a:endParaRPr lang="en-IN" sz="1800" dirty="0">
              <a:effectLst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923522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22C20AF-9D96-B75F-11C8-96B859252BE4}"/>
              </a:ext>
            </a:extLst>
          </p:cNvPr>
          <p:cNvSpPr/>
          <p:nvPr/>
        </p:nvSpPr>
        <p:spPr>
          <a:xfrm>
            <a:off x="-508820" y="-1132360"/>
            <a:ext cx="13209640" cy="8937524"/>
          </a:xfrm>
          <a:prstGeom prst="rect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54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4400" dirty="0">
              <a:latin typeface="+mj-lt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B80503B-06AE-7C9C-A7EA-6C9CCCA356A3}"/>
              </a:ext>
            </a:extLst>
          </p:cNvPr>
          <p:cNvSpPr/>
          <p:nvPr/>
        </p:nvSpPr>
        <p:spPr>
          <a:xfrm>
            <a:off x="316775" y="1812908"/>
            <a:ext cx="11558450" cy="3046988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9600" b="1" spc="50" dirty="0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</a:rPr>
              <a:t>ITEMS TO BE TAKEN</a:t>
            </a:r>
            <a:endParaRPr lang="en-US" sz="9600" b="1" cap="none" spc="50" dirty="0">
              <a:ln w="9525" cmpd="sng">
                <a:solidFill>
                  <a:schemeClr val="accent1"/>
                </a:solidFill>
                <a:prstDash val="solid"/>
              </a:ln>
              <a:solidFill>
                <a:srgbClr val="70AD47">
                  <a:tint val="1000"/>
                </a:srgbClr>
              </a:solidFill>
              <a:effectLst>
                <a:glow rad="38100">
                  <a:schemeClr val="accent1">
                    <a:alpha val="40000"/>
                  </a:schemeClr>
                </a:glo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6658777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 advTm="0">
        <p:fade/>
      </p:transition>
    </mc:Choice>
    <mc:Fallback xmlns="">
      <p:transition spd="med" advClick="0" advTm="0">
        <p:fade/>
      </p:transition>
    </mc:Fallback>
  </mc:AlternateContent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22C20AF-9D96-B75F-11C8-96B859252BE4}"/>
              </a:ext>
            </a:extLst>
          </p:cNvPr>
          <p:cNvSpPr/>
          <p:nvPr/>
        </p:nvSpPr>
        <p:spPr>
          <a:xfrm>
            <a:off x="-508820" y="-1132360"/>
            <a:ext cx="13209640" cy="8937524"/>
          </a:xfrm>
          <a:prstGeom prst="rect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54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4400" dirty="0">
              <a:latin typeface="+mj-lt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B80503B-06AE-7C9C-A7EA-6C9CCCA356A3}"/>
              </a:ext>
            </a:extLst>
          </p:cNvPr>
          <p:cNvSpPr/>
          <p:nvPr/>
        </p:nvSpPr>
        <p:spPr>
          <a:xfrm>
            <a:off x="316775" y="2644170"/>
            <a:ext cx="11558450" cy="156966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9600" b="1" spc="50" dirty="0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</a:rPr>
              <a:t>BONUS</a:t>
            </a:r>
            <a:endParaRPr lang="en-US" sz="9600" b="1" cap="none" spc="50" dirty="0">
              <a:ln w="9525" cmpd="sng">
                <a:solidFill>
                  <a:schemeClr val="accent1"/>
                </a:solidFill>
                <a:prstDash val="solid"/>
              </a:ln>
              <a:solidFill>
                <a:srgbClr val="70AD47">
                  <a:tint val="1000"/>
                </a:srgbClr>
              </a:solidFill>
              <a:effectLst>
                <a:glow rad="38100">
                  <a:schemeClr val="accent1">
                    <a:alpha val="40000"/>
                  </a:schemeClr>
                </a:glo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3162052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 advTm="0">
        <p:fade/>
      </p:transition>
    </mc:Choice>
    <mc:Fallback xmlns="">
      <p:transition spd="med" advClick="0" advTm="0">
        <p:fade/>
      </p:transition>
    </mc:Fallback>
  </mc:AlternateContent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22C20AF-9D96-B75F-11C8-96B859252BE4}"/>
              </a:ext>
            </a:extLst>
          </p:cNvPr>
          <p:cNvSpPr/>
          <p:nvPr/>
        </p:nvSpPr>
        <p:spPr>
          <a:xfrm>
            <a:off x="-508820" y="-1039762"/>
            <a:ext cx="13209640" cy="8937524"/>
          </a:xfrm>
          <a:prstGeom prst="rect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54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4400" dirty="0">
              <a:latin typeface="+mj-lt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B80503B-06AE-7C9C-A7EA-6C9CCCA356A3}"/>
              </a:ext>
            </a:extLst>
          </p:cNvPr>
          <p:cNvSpPr/>
          <p:nvPr/>
        </p:nvSpPr>
        <p:spPr>
          <a:xfrm>
            <a:off x="367331" y="1905506"/>
            <a:ext cx="11457337" cy="3046988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9600" b="1" cap="none" spc="50" dirty="0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</a:rPr>
              <a:t>GENERAL</a:t>
            </a:r>
          </a:p>
          <a:p>
            <a:pPr algn="ctr"/>
            <a:r>
              <a:rPr lang="en-US" sz="9600" b="1" spc="50" dirty="0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</a:rPr>
              <a:t>TERMINOLOGIES</a:t>
            </a:r>
            <a:endParaRPr lang="en-US" sz="9600" b="1" cap="none" spc="50" dirty="0">
              <a:ln w="9525" cmpd="sng">
                <a:solidFill>
                  <a:schemeClr val="accent1"/>
                </a:solidFill>
                <a:prstDash val="solid"/>
              </a:ln>
              <a:solidFill>
                <a:srgbClr val="70AD47">
                  <a:tint val="1000"/>
                </a:srgbClr>
              </a:solidFill>
              <a:effectLst>
                <a:glow rad="38100">
                  <a:schemeClr val="accent1">
                    <a:alpha val="40000"/>
                  </a:schemeClr>
                </a:glo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5603589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 advTm="0">
        <p:fade/>
      </p:transition>
    </mc:Choice>
    <mc:Fallback xmlns="">
      <p:transition spd="med" advClick="0" advTm="0">
        <p:fade/>
      </p:transition>
    </mc:Fallback>
  </mc:AlternateContent>
</p:sld>
</file>

<file path=ppt/slides/slide3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4C966700-6B50-143B-5B63-70CA8EFBF36A}"/>
              </a:ext>
            </a:extLst>
          </p:cNvPr>
          <p:cNvSpPr/>
          <p:nvPr/>
        </p:nvSpPr>
        <p:spPr>
          <a:xfrm>
            <a:off x="4468271" y="131957"/>
            <a:ext cx="2176261" cy="1070610"/>
          </a:xfrm>
          <a:prstGeom prst="roundRect">
            <a:avLst/>
          </a:prstGeom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4A0E238F-8A71-D6FE-9E78-40311F7B7912}"/>
              </a:ext>
            </a:extLst>
          </p:cNvPr>
          <p:cNvSpPr/>
          <p:nvPr/>
        </p:nvSpPr>
        <p:spPr>
          <a:xfrm>
            <a:off x="1088131" y="596265"/>
            <a:ext cx="2176261" cy="1070610"/>
          </a:xfrm>
          <a:prstGeom prst="roundRect">
            <a:avLst/>
          </a:prstGeom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0E2663F5-8F26-F664-F0EF-4EC46CEF4478}"/>
              </a:ext>
            </a:extLst>
          </p:cNvPr>
          <p:cNvSpPr/>
          <p:nvPr/>
        </p:nvSpPr>
        <p:spPr>
          <a:xfrm>
            <a:off x="7723730" y="3946056"/>
            <a:ext cx="2176261" cy="1070610"/>
          </a:xfrm>
          <a:prstGeom prst="roundRect">
            <a:avLst/>
          </a:prstGeom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8305A84F-DFFA-CE11-1051-6858BDD212DE}"/>
              </a:ext>
            </a:extLst>
          </p:cNvPr>
          <p:cNvSpPr/>
          <p:nvPr/>
        </p:nvSpPr>
        <p:spPr>
          <a:xfrm>
            <a:off x="395952" y="2318028"/>
            <a:ext cx="2176261" cy="1070610"/>
          </a:xfrm>
          <a:prstGeom prst="roundRect">
            <a:avLst/>
          </a:prstGeom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E1E62050-A0A9-C467-008F-EDA8969389D0}"/>
              </a:ext>
            </a:extLst>
          </p:cNvPr>
          <p:cNvSpPr/>
          <p:nvPr/>
        </p:nvSpPr>
        <p:spPr>
          <a:xfrm>
            <a:off x="8811860" y="2303172"/>
            <a:ext cx="2176261" cy="1070610"/>
          </a:xfrm>
          <a:prstGeom prst="roundRect">
            <a:avLst/>
          </a:prstGeom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57FD4B01-4D5C-7FAB-63AA-56464F9C4E5F}"/>
              </a:ext>
            </a:extLst>
          </p:cNvPr>
          <p:cNvSpPr/>
          <p:nvPr/>
        </p:nvSpPr>
        <p:spPr>
          <a:xfrm>
            <a:off x="7723730" y="596265"/>
            <a:ext cx="2176261" cy="1070610"/>
          </a:xfrm>
          <a:prstGeom prst="roundRect">
            <a:avLst/>
          </a:prstGeom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91E91F4A-33DA-2B25-D447-3598ED864B03}"/>
              </a:ext>
            </a:extLst>
          </p:cNvPr>
          <p:cNvSpPr/>
          <p:nvPr/>
        </p:nvSpPr>
        <p:spPr>
          <a:xfrm>
            <a:off x="1014377" y="3966433"/>
            <a:ext cx="2176261" cy="1070610"/>
          </a:xfrm>
          <a:prstGeom prst="roundRect">
            <a:avLst/>
          </a:prstGeom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ABC806F6-0C6D-EEAE-8FB1-17DED92B4ECE}"/>
              </a:ext>
            </a:extLst>
          </p:cNvPr>
          <p:cNvSpPr/>
          <p:nvPr/>
        </p:nvSpPr>
        <p:spPr>
          <a:xfrm>
            <a:off x="2444408" y="5614839"/>
            <a:ext cx="2176261" cy="1070610"/>
          </a:xfrm>
          <a:prstGeom prst="roundRect">
            <a:avLst/>
          </a:prstGeom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E957DE79-551A-91E1-3B28-154686B59563}"/>
              </a:ext>
            </a:extLst>
          </p:cNvPr>
          <p:cNvSpPr/>
          <p:nvPr/>
        </p:nvSpPr>
        <p:spPr>
          <a:xfrm>
            <a:off x="6644532" y="5652963"/>
            <a:ext cx="2176261" cy="1070610"/>
          </a:xfrm>
          <a:prstGeom prst="roundRect">
            <a:avLst/>
          </a:prstGeom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mc:AlternateContent xmlns:mc="http://schemas.openxmlformats.org/markup-compatibility/2006" xmlns:psez="http://schemas.microsoft.com/office/powerpoint/2016/sectionzoom">
        <mc:Choice Requires="psez">
          <p:graphicFrame>
            <p:nvGraphicFramePr>
              <p:cNvPr id="36" name="Section Zoom 35">
                <a:extLst>
                  <a:ext uri="{FF2B5EF4-FFF2-40B4-BE49-F238E27FC236}">
                    <a16:creationId xmlns:a16="http://schemas.microsoft.com/office/drawing/2014/main" id="{AF557E1B-A08C-0F35-0777-E57D2D4589FE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635265049"/>
                  </p:ext>
                </p:extLst>
              </p:nvPr>
            </p:nvGraphicFramePr>
            <p:xfrm>
              <a:off x="4491493" y="102245"/>
              <a:ext cx="2176261" cy="1100322"/>
            </p:xfrm>
            <a:graphic>
              <a:graphicData uri="http://schemas.microsoft.com/office/powerpoint/2016/sectionzoom">
                <psez:sectionZm>
                  <psez:sectionZmObj sectionId="{4EE7DEA6-D017-4EF6-8B05-834394FDF034}">
                    <psez:zmPr id="{79A0D10F-28BE-4FDF-93C8-153CDD7BEA84}" transitionDur="1000">
                      <p166:blipFill xmlns:p166="http://schemas.microsoft.com/office/powerpoint/2016/6/main">
                        <a:blip r:embed="rId2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2176261" cy="1100322"/>
                        </a:xfrm>
                        <a:prstGeom prst="rect">
                          <a:avLst/>
                        </a:prstGeom>
                        <a:ln>
                          <a:noFill/>
                        </a:ln>
                        <a:effectLst>
                          <a:softEdge rad="112500"/>
                        </a:effectLst>
                      </p166:spPr>
                    </psez:zmPr>
                  </psez:sectionZmObj>
                </psez:sectionZm>
              </a:graphicData>
            </a:graphic>
          </p:graphicFrame>
        </mc:Choice>
        <mc:Fallback xmlns="">
          <p:pic>
            <p:nvPicPr>
              <p:cNvPr id="36" name="Section Zoom 35">
                <a:hlinkClick r:id="rId3" action="ppaction://hlinksldjump"/>
                <a:extLst>
                  <a:ext uri="{FF2B5EF4-FFF2-40B4-BE49-F238E27FC236}">
                    <a16:creationId xmlns:a16="http://schemas.microsoft.com/office/drawing/2014/main" id="{AF557E1B-A08C-0F35-0777-E57D2D4589FE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491493" y="102245"/>
                <a:ext cx="2176261" cy="1100322"/>
              </a:xfrm>
              <a:prstGeom prst="rect">
                <a:avLst/>
              </a:prstGeom>
              <a:ln>
                <a:noFill/>
              </a:ln>
              <a:effectLst>
                <a:softEdge rad="112500"/>
              </a:effectLst>
            </p:spPr>
          </p:pic>
        </mc:Fallback>
      </mc:AlternateContent>
      <p:sp>
        <p:nvSpPr>
          <p:cNvPr id="38" name="TextBox 37">
            <a:extLst>
              <a:ext uri="{FF2B5EF4-FFF2-40B4-BE49-F238E27FC236}">
                <a16:creationId xmlns:a16="http://schemas.microsoft.com/office/drawing/2014/main" id="{9F699C65-2804-D1CE-A204-40A5F62F45CA}"/>
              </a:ext>
            </a:extLst>
          </p:cNvPr>
          <p:cNvSpPr txBox="1"/>
          <p:nvPr/>
        </p:nvSpPr>
        <p:spPr>
          <a:xfrm>
            <a:off x="1171177" y="2853333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  </a:t>
            </a:r>
          </a:p>
        </p:txBody>
      </p:sp>
      <mc:AlternateContent xmlns:mc="http://schemas.openxmlformats.org/markup-compatibility/2006" xmlns:psez="http://schemas.microsoft.com/office/powerpoint/2016/sectionzoom">
        <mc:Choice Requires="psez">
          <p:graphicFrame>
            <p:nvGraphicFramePr>
              <p:cNvPr id="41" name="Section Zoom 40">
                <a:extLst>
                  <a:ext uri="{FF2B5EF4-FFF2-40B4-BE49-F238E27FC236}">
                    <a16:creationId xmlns:a16="http://schemas.microsoft.com/office/drawing/2014/main" id="{AAE42F53-A5E3-6328-9FC0-1DA6971605AB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315992525"/>
                  </p:ext>
                </p:extLst>
              </p:nvPr>
            </p:nvGraphicFramePr>
            <p:xfrm>
              <a:off x="1161884" y="613171"/>
              <a:ext cx="2028754" cy="1058201"/>
            </p:xfrm>
            <a:graphic>
              <a:graphicData uri="http://schemas.microsoft.com/office/powerpoint/2016/sectionzoom">
                <psez:sectionZm>
                  <psez:sectionZmObj sectionId="{387287FD-D4C0-4725-83CF-C821A1A50C67}">
                    <psez:zmPr id="{704CC37C-B796-4ACD-BC99-4BE00827B808}" transitionDur="1000" showBg="0">
                      <p166:blipFill xmlns:p166="http://schemas.microsoft.com/office/powerpoint/2016/6/main">
                        <a:blip r:embed="rId5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2028754" cy="1058201"/>
                        </a:xfrm>
                        <a:prstGeom prst="rect">
                          <a:avLst/>
                        </a:prstGeom>
                        <a:ln>
                          <a:noFill/>
                        </a:ln>
                        <a:effectLst>
                          <a:softEdge rad="112500"/>
                        </a:effectLst>
                      </p166:spPr>
                    </psez:zmPr>
                  </psez:sectionZmObj>
                </psez:sectionZm>
              </a:graphicData>
            </a:graphic>
          </p:graphicFrame>
        </mc:Choice>
        <mc:Fallback xmlns="">
          <p:pic>
            <p:nvPicPr>
              <p:cNvPr id="41" name="Section Zoom 40">
                <a:hlinkClick r:id="rId6" action="ppaction://hlinksldjump"/>
                <a:extLst>
                  <a:ext uri="{FF2B5EF4-FFF2-40B4-BE49-F238E27FC236}">
                    <a16:creationId xmlns:a16="http://schemas.microsoft.com/office/drawing/2014/main" id="{AAE42F53-A5E3-6328-9FC0-1DA6971605AB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161884" y="613171"/>
                <a:ext cx="2028754" cy="1058201"/>
              </a:xfrm>
              <a:prstGeom prst="rect">
                <a:avLst/>
              </a:prstGeom>
              <a:ln>
                <a:noFill/>
              </a:ln>
              <a:effectLst>
                <a:softEdge rad="112500"/>
              </a:effectLst>
            </p:spPr>
          </p:pic>
        </mc:Fallback>
      </mc:AlternateContent>
      <mc:AlternateContent xmlns:mc="http://schemas.openxmlformats.org/markup-compatibility/2006" xmlns:psez="http://schemas.microsoft.com/office/powerpoint/2016/sectionzoom">
        <mc:Choice Requires="psez">
          <p:graphicFrame>
            <p:nvGraphicFramePr>
              <p:cNvPr id="43" name="Section Zoom 42">
                <a:extLst>
                  <a:ext uri="{FF2B5EF4-FFF2-40B4-BE49-F238E27FC236}">
                    <a16:creationId xmlns:a16="http://schemas.microsoft.com/office/drawing/2014/main" id="{00BDFDF9-B837-2460-6D80-14206FC112D0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635069077"/>
                  </p:ext>
                </p:extLst>
              </p:nvPr>
            </p:nvGraphicFramePr>
            <p:xfrm>
              <a:off x="454478" y="2250399"/>
              <a:ext cx="2059208" cy="1158304"/>
            </p:xfrm>
            <a:graphic>
              <a:graphicData uri="http://schemas.microsoft.com/office/powerpoint/2016/sectionzoom">
                <psez:sectionZm>
                  <psez:sectionZmObj sectionId="{524D3C45-EF0C-4DBF-992D-E510A52518DC}">
                    <psez:zmPr id="{9EF35893-7A05-4912-BE09-4DDC57F79660}" transitionDur="1000">
                      <p166:blipFill xmlns:p166="http://schemas.microsoft.com/office/powerpoint/2016/6/main">
                        <a:blip r:embed="rId8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2059208" cy="1158304"/>
                        </a:xfrm>
                        <a:prstGeom prst="rect">
                          <a:avLst/>
                        </a:prstGeom>
                        <a:ln>
                          <a:noFill/>
                        </a:ln>
                        <a:effectLst>
                          <a:softEdge rad="112500"/>
                        </a:effectLst>
                      </p166:spPr>
                    </psez:zmPr>
                  </psez:sectionZmObj>
                </psez:sectionZm>
              </a:graphicData>
            </a:graphic>
          </p:graphicFrame>
        </mc:Choice>
        <mc:Fallback xmlns="">
          <p:pic>
            <p:nvPicPr>
              <p:cNvPr id="43" name="Section Zoom 42">
                <a:hlinkClick r:id="rId9" action="ppaction://hlinksldjump"/>
                <a:extLst>
                  <a:ext uri="{FF2B5EF4-FFF2-40B4-BE49-F238E27FC236}">
                    <a16:creationId xmlns:a16="http://schemas.microsoft.com/office/drawing/2014/main" id="{00BDFDF9-B837-2460-6D80-14206FC112D0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454478" y="2250399"/>
                <a:ext cx="2059208" cy="1158304"/>
              </a:xfrm>
              <a:prstGeom prst="rect">
                <a:avLst/>
              </a:prstGeom>
              <a:ln>
                <a:noFill/>
              </a:ln>
              <a:effectLst>
                <a:softEdge rad="112500"/>
              </a:effectLst>
            </p:spPr>
          </p:pic>
        </mc:Fallback>
      </mc:AlternateContent>
      <mc:AlternateContent xmlns:mc="http://schemas.openxmlformats.org/markup-compatibility/2006" xmlns:psez="http://schemas.microsoft.com/office/powerpoint/2016/sectionzoom">
        <mc:Choice Requires="psez">
          <p:graphicFrame>
            <p:nvGraphicFramePr>
              <p:cNvPr id="45" name="Section Zoom 44">
                <a:extLst>
                  <a:ext uri="{FF2B5EF4-FFF2-40B4-BE49-F238E27FC236}">
                    <a16:creationId xmlns:a16="http://schemas.microsoft.com/office/drawing/2014/main" id="{D1D82DF2-6163-319F-DF60-9179AD0FF5BC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742983826"/>
                  </p:ext>
                </p:extLst>
              </p:nvPr>
            </p:nvGraphicFramePr>
            <p:xfrm>
              <a:off x="7788038" y="555670"/>
              <a:ext cx="2047643" cy="1151799"/>
            </p:xfrm>
            <a:graphic>
              <a:graphicData uri="http://schemas.microsoft.com/office/powerpoint/2016/sectionzoom">
                <psez:sectionZm>
                  <psez:sectionZmObj sectionId="{2EB85532-5A60-485A-BB0F-A58A3A45DDF3}">
                    <psez:zmPr id="{F165042A-19C7-4182-A9D7-AE0691979DFD}" transitionDur="1000">
                      <p166:blipFill xmlns:p166="http://schemas.microsoft.com/office/powerpoint/2016/6/main">
                        <a:blip r:embed="rId11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2047643" cy="1151799"/>
                        </a:xfrm>
                        <a:prstGeom prst="rect">
                          <a:avLst/>
                        </a:prstGeom>
                        <a:ln>
                          <a:noFill/>
                        </a:ln>
                        <a:effectLst>
                          <a:softEdge rad="112500"/>
                        </a:effectLst>
                      </p166:spPr>
                    </psez:zmPr>
                  </psez:sectionZmObj>
                </psez:sectionZm>
              </a:graphicData>
            </a:graphic>
          </p:graphicFrame>
        </mc:Choice>
        <mc:Fallback xmlns="">
          <p:pic>
            <p:nvPicPr>
              <p:cNvPr id="45" name="Section Zoom 44">
                <a:hlinkClick r:id="rId12" action="ppaction://hlinksldjump"/>
                <a:extLst>
                  <a:ext uri="{FF2B5EF4-FFF2-40B4-BE49-F238E27FC236}">
                    <a16:creationId xmlns:a16="http://schemas.microsoft.com/office/drawing/2014/main" id="{D1D82DF2-6163-319F-DF60-9179AD0FF5BC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7788038" y="555670"/>
                <a:ext cx="2047643" cy="1151799"/>
              </a:xfrm>
              <a:prstGeom prst="rect">
                <a:avLst/>
              </a:prstGeom>
              <a:ln>
                <a:noFill/>
              </a:ln>
              <a:effectLst>
                <a:softEdge rad="112500"/>
              </a:effectLst>
            </p:spPr>
          </p:pic>
        </mc:Fallback>
      </mc:AlternateContent>
      <mc:AlternateContent xmlns:mc="http://schemas.openxmlformats.org/markup-compatibility/2006" xmlns:psez="http://schemas.microsoft.com/office/powerpoint/2016/sectionzoom">
        <mc:Choice Requires="psez">
          <p:graphicFrame>
            <p:nvGraphicFramePr>
              <p:cNvPr id="47" name="Section Zoom 46">
                <a:extLst>
                  <a:ext uri="{FF2B5EF4-FFF2-40B4-BE49-F238E27FC236}">
                    <a16:creationId xmlns:a16="http://schemas.microsoft.com/office/drawing/2014/main" id="{A094A12E-BC0E-C6A8-41D5-31FB9863492A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146501946"/>
                  </p:ext>
                </p:extLst>
              </p:nvPr>
            </p:nvGraphicFramePr>
            <p:xfrm>
              <a:off x="1072903" y="3922586"/>
              <a:ext cx="2059208" cy="1158304"/>
            </p:xfrm>
            <a:graphic>
              <a:graphicData uri="http://schemas.microsoft.com/office/powerpoint/2016/sectionzoom">
                <psez:sectionZm>
                  <psez:sectionZmObj sectionId="{667ABC28-0843-4D80-987F-8997A50A4879}">
                    <psez:zmPr id="{8F6184B5-D149-491C-B3B9-6178CB2E5A63}" transitionDur="1000">
                      <p166:blipFill xmlns:p166="http://schemas.microsoft.com/office/powerpoint/2016/6/main">
                        <a:blip r:embed="rId14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2059208" cy="1158304"/>
                        </a:xfrm>
                        <a:prstGeom prst="rect">
                          <a:avLst/>
                        </a:prstGeom>
                        <a:ln>
                          <a:noFill/>
                        </a:ln>
                        <a:effectLst>
                          <a:softEdge rad="112500"/>
                        </a:effectLst>
                      </p166:spPr>
                    </psez:zmPr>
                  </psez:sectionZmObj>
                </psez:sectionZm>
              </a:graphicData>
            </a:graphic>
          </p:graphicFrame>
        </mc:Choice>
        <mc:Fallback xmlns="">
          <p:pic>
            <p:nvPicPr>
              <p:cNvPr id="47" name="Section Zoom 46">
                <a:hlinkClick r:id="rId15" action="ppaction://hlinksldjump"/>
                <a:extLst>
                  <a:ext uri="{FF2B5EF4-FFF2-40B4-BE49-F238E27FC236}">
                    <a16:creationId xmlns:a16="http://schemas.microsoft.com/office/drawing/2014/main" id="{A094A12E-BC0E-C6A8-41D5-31FB9863492A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1072903" y="3922586"/>
                <a:ext cx="2059208" cy="1158304"/>
              </a:xfrm>
              <a:prstGeom prst="rect">
                <a:avLst/>
              </a:prstGeom>
              <a:ln>
                <a:noFill/>
              </a:ln>
              <a:effectLst>
                <a:softEdge rad="112500"/>
              </a:effectLst>
            </p:spPr>
          </p:pic>
        </mc:Fallback>
      </mc:AlternateContent>
      <mc:AlternateContent xmlns:mc="http://schemas.openxmlformats.org/markup-compatibility/2006" xmlns:psez="http://schemas.microsoft.com/office/powerpoint/2016/sectionzoom">
        <mc:Choice Requires="psez">
          <p:graphicFrame>
            <p:nvGraphicFramePr>
              <p:cNvPr id="49" name="Section Zoom 48">
                <a:extLst>
                  <a:ext uri="{FF2B5EF4-FFF2-40B4-BE49-F238E27FC236}">
                    <a16:creationId xmlns:a16="http://schemas.microsoft.com/office/drawing/2014/main" id="{AAF1BC78-50D8-5B2F-92EB-92286A620D40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586805815"/>
                  </p:ext>
                </p:extLst>
              </p:nvPr>
            </p:nvGraphicFramePr>
            <p:xfrm>
              <a:off x="7767271" y="3902209"/>
              <a:ext cx="2059205" cy="1158303"/>
            </p:xfrm>
            <a:graphic>
              <a:graphicData uri="http://schemas.microsoft.com/office/powerpoint/2016/sectionzoom">
                <psez:sectionZm>
                  <psez:sectionZmObj sectionId="{AF7124D6-0228-4FE0-A726-FBB1CD48D8F9}">
                    <psez:zmPr id="{F9BCF9D8-A515-4B68-9F1F-1D07B7B25398}" transitionDur="1000">
                      <p166:blipFill xmlns:p166="http://schemas.microsoft.com/office/powerpoint/2016/6/main">
                        <a:blip r:embed="rId17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2059205" cy="1158303"/>
                        </a:xfrm>
                        <a:prstGeom prst="rect">
                          <a:avLst/>
                        </a:prstGeom>
                        <a:ln>
                          <a:noFill/>
                        </a:ln>
                        <a:effectLst>
                          <a:softEdge rad="112500"/>
                        </a:effectLst>
                      </p166:spPr>
                    </psez:zmPr>
                  </psez:sectionZmObj>
                </psez:sectionZm>
              </a:graphicData>
            </a:graphic>
          </p:graphicFrame>
        </mc:Choice>
        <mc:Fallback xmlns="">
          <p:pic>
            <p:nvPicPr>
              <p:cNvPr id="49" name="Section Zoom 48">
                <a:hlinkClick r:id="rId18" action="ppaction://hlinksldjump"/>
                <a:extLst>
                  <a:ext uri="{FF2B5EF4-FFF2-40B4-BE49-F238E27FC236}">
                    <a16:creationId xmlns:a16="http://schemas.microsoft.com/office/drawing/2014/main" id="{AAF1BC78-50D8-5B2F-92EB-92286A620D40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7767271" y="3902209"/>
                <a:ext cx="2059205" cy="1158303"/>
              </a:xfrm>
              <a:prstGeom prst="rect">
                <a:avLst/>
              </a:prstGeom>
              <a:ln>
                <a:noFill/>
              </a:ln>
              <a:effectLst>
                <a:softEdge rad="112500"/>
              </a:effectLst>
            </p:spPr>
          </p:pic>
        </mc:Fallback>
      </mc:AlternateContent>
      <mc:AlternateContent xmlns:mc="http://schemas.openxmlformats.org/markup-compatibility/2006" xmlns:psez="http://schemas.microsoft.com/office/powerpoint/2016/sectionzoom">
        <mc:Choice Requires="psez">
          <p:graphicFrame>
            <p:nvGraphicFramePr>
              <p:cNvPr id="51" name="Section Zoom 50">
                <a:extLst>
                  <a:ext uri="{FF2B5EF4-FFF2-40B4-BE49-F238E27FC236}">
                    <a16:creationId xmlns:a16="http://schemas.microsoft.com/office/drawing/2014/main" id="{6858768A-8DE3-2750-6D88-CBE08125B489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148568243"/>
                  </p:ext>
                </p:extLst>
              </p:nvPr>
            </p:nvGraphicFramePr>
            <p:xfrm>
              <a:off x="8948337" y="2291457"/>
              <a:ext cx="1903306" cy="1070610"/>
            </p:xfrm>
            <a:graphic>
              <a:graphicData uri="http://schemas.microsoft.com/office/powerpoint/2016/sectionzoom">
                <psez:sectionZm>
                  <psez:sectionZmObj sectionId="{401ABBC8-5586-4E90-A2CE-B11A7896F06E}">
                    <psez:zmPr id="{6A3E5D50-A7E6-4F38-AD84-011B21DB8840}" transitionDur="1000">
                      <p166:blipFill xmlns:p166="http://schemas.microsoft.com/office/powerpoint/2016/6/main">
                        <a:blip r:embed="rId20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1903306" cy="1070610"/>
                        </a:xfrm>
                        <a:prstGeom prst="rect">
                          <a:avLst/>
                        </a:prstGeom>
                        <a:ln>
                          <a:noFill/>
                        </a:ln>
                        <a:effectLst>
                          <a:softEdge rad="112500"/>
                        </a:effectLst>
                      </p166:spPr>
                    </psez:zmPr>
                  </psez:sectionZmObj>
                </psez:sectionZm>
              </a:graphicData>
            </a:graphic>
          </p:graphicFrame>
        </mc:Choice>
        <mc:Fallback xmlns="">
          <p:pic>
            <p:nvPicPr>
              <p:cNvPr id="51" name="Section Zoom 50">
                <a:hlinkClick r:id="rId21" action="ppaction://hlinksldjump"/>
                <a:extLst>
                  <a:ext uri="{FF2B5EF4-FFF2-40B4-BE49-F238E27FC236}">
                    <a16:creationId xmlns:a16="http://schemas.microsoft.com/office/drawing/2014/main" id="{6858768A-8DE3-2750-6D88-CBE08125B489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8948337" y="2291457"/>
                <a:ext cx="1903306" cy="1070610"/>
              </a:xfrm>
              <a:prstGeom prst="rect">
                <a:avLst/>
              </a:prstGeom>
              <a:ln>
                <a:noFill/>
              </a:ln>
              <a:effectLst>
                <a:softEdge rad="112500"/>
              </a:effectLst>
            </p:spPr>
          </p:pic>
        </mc:Fallback>
      </mc:AlternateContent>
      <mc:AlternateContent xmlns:mc="http://schemas.openxmlformats.org/markup-compatibility/2006" xmlns:psez="http://schemas.microsoft.com/office/powerpoint/2016/sectionzoom">
        <mc:Choice Requires="psez">
          <p:graphicFrame>
            <p:nvGraphicFramePr>
              <p:cNvPr id="53" name="Section Zoom 52">
                <a:extLst>
                  <a:ext uri="{FF2B5EF4-FFF2-40B4-BE49-F238E27FC236}">
                    <a16:creationId xmlns:a16="http://schemas.microsoft.com/office/drawing/2014/main" id="{7827EA59-4E3B-F3EF-ADDC-3F626CC6C211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159684157"/>
                  </p:ext>
                </p:extLst>
              </p:nvPr>
            </p:nvGraphicFramePr>
            <p:xfrm>
              <a:off x="2572213" y="5607556"/>
              <a:ext cx="1916255" cy="1077893"/>
            </p:xfrm>
            <a:graphic>
              <a:graphicData uri="http://schemas.microsoft.com/office/powerpoint/2016/sectionzoom">
                <psez:sectionZm>
                  <psez:sectionZmObj sectionId="{5AE2CC7A-31E4-44D6-8D4D-B493DE405460}">
                    <psez:zmPr id="{A0753BE4-0E7F-4A30-9305-8057CEC93E70}" transitionDur="1000">
                      <p166:blipFill xmlns:p166="http://schemas.microsoft.com/office/powerpoint/2016/6/main">
                        <a:blip r:embed="rId8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1916255" cy="1077893"/>
                        </a:xfrm>
                        <a:prstGeom prst="rect">
                          <a:avLst/>
                        </a:prstGeom>
                        <a:ln>
                          <a:noFill/>
                        </a:ln>
                        <a:effectLst>
                          <a:softEdge rad="112500"/>
                        </a:effectLst>
                      </p166:spPr>
                    </psez:zmPr>
                  </psez:sectionZmObj>
                </psez:sectionZm>
              </a:graphicData>
            </a:graphic>
          </p:graphicFrame>
        </mc:Choice>
        <mc:Fallback xmlns="">
          <p:pic>
            <p:nvPicPr>
              <p:cNvPr id="53" name="Section Zoom 52">
                <a:hlinkClick r:id="rId24" action="ppaction://hlinksldjump"/>
                <a:extLst>
                  <a:ext uri="{FF2B5EF4-FFF2-40B4-BE49-F238E27FC236}">
                    <a16:creationId xmlns:a16="http://schemas.microsoft.com/office/drawing/2014/main" id="{7827EA59-4E3B-F3EF-ADDC-3F626CC6C211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2572213" y="5607556"/>
                <a:ext cx="1916255" cy="1077893"/>
              </a:xfrm>
              <a:prstGeom prst="rect">
                <a:avLst/>
              </a:prstGeom>
              <a:ln>
                <a:noFill/>
              </a:ln>
              <a:effectLst>
                <a:softEdge rad="112500"/>
              </a:effectLst>
            </p:spPr>
          </p:pic>
        </mc:Fallback>
      </mc:AlternateContent>
      <mc:AlternateContent xmlns:mc="http://schemas.openxmlformats.org/markup-compatibility/2006" xmlns:psez="http://schemas.microsoft.com/office/powerpoint/2016/sectionzoom">
        <mc:Choice Requires="psez">
          <p:graphicFrame>
            <p:nvGraphicFramePr>
              <p:cNvPr id="55" name="Section Zoom 54">
                <a:extLst>
                  <a:ext uri="{FF2B5EF4-FFF2-40B4-BE49-F238E27FC236}">
                    <a16:creationId xmlns:a16="http://schemas.microsoft.com/office/drawing/2014/main" id="{00536D39-16F3-53A4-FA24-0C0A95D9040D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675002169"/>
                  </p:ext>
                </p:extLst>
              </p:nvPr>
            </p:nvGraphicFramePr>
            <p:xfrm>
              <a:off x="6703061" y="5565270"/>
              <a:ext cx="2059205" cy="1158303"/>
            </p:xfrm>
            <a:graphic>
              <a:graphicData uri="http://schemas.microsoft.com/office/powerpoint/2016/sectionzoom">
                <psez:sectionZm>
                  <psez:sectionZmObj sectionId="{8FFA7FEB-2DBE-434B-A1BA-C88D9475BCE4}">
                    <psez:zmPr id="{EA065540-C218-4C44-9295-7DA4A16A31CC}" transitionDur="1000">
                      <p166:blipFill xmlns:p166="http://schemas.microsoft.com/office/powerpoint/2016/6/main">
                        <a:blip r:embed="rId8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2059205" cy="1158303"/>
                        </a:xfrm>
                        <a:prstGeom prst="rect">
                          <a:avLst/>
                        </a:prstGeom>
                        <a:ln>
                          <a:noFill/>
                        </a:ln>
                        <a:effectLst>
                          <a:softEdge rad="112500"/>
                        </a:effectLst>
                      </p166:spPr>
                    </psez:zmPr>
                  </psez:sectionZmObj>
                </psez:sectionZm>
              </a:graphicData>
            </a:graphic>
          </p:graphicFrame>
        </mc:Choice>
        <mc:Fallback xmlns="">
          <p:pic>
            <p:nvPicPr>
              <p:cNvPr id="55" name="Section Zoom 54">
                <a:hlinkClick r:id="rId27" action="ppaction://hlinksldjump"/>
                <a:extLst>
                  <a:ext uri="{FF2B5EF4-FFF2-40B4-BE49-F238E27FC236}">
                    <a16:creationId xmlns:a16="http://schemas.microsoft.com/office/drawing/2014/main" id="{00536D39-16F3-53A4-FA24-0C0A95D9040D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6703061" y="5565270"/>
                <a:ext cx="2059205" cy="1158303"/>
              </a:xfrm>
              <a:prstGeom prst="rect">
                <a:avLst/>
              </a:prstGeom>
              <a:ln>
                <a:noFill/>
              </a:ln>
              <a:effectLst>
                <a:softEdge rad="112500"/>
              </a:effectLst>
            </p:spPr>
          </p:pic>
        </mc:Fallback>
      </mc:AlternateContent>
      <p:sp>
        <p:nvSpPr>
          <p:cNvPr id="56" name="Rectangle 55">
            <a:extLst>
              <a:ext uri="{FF2B5EF4-FFF2-40B4-BE49-F238E27FC236}">
                <a16:creationId xmlns:a16="http://schemas.microsoft.com/office/drawing/2014/main" id="{EFB65ED2-83B4-8A72-9989-C865CE433F59}"/>
              </a:ext>
            </a:extLst>
          </p:cNvPr>
          <p:cNvSpPr/>
          <p:nvPr/>
        </p:nvSpPr>
        <p:spPr>
          <a:xfrm>
            <a:off x="3525394" y="2595552"/>
            <a:ext cx="4349269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>
                <a:ln w="22225">
                  <a:noFill/>
                  <a:prstDash val="solid"/>
                </a:ln>
                <a:solidFill>
                  <a:schemeClr val="accent1">
                    <a:lumMod val="40000"/>
                    <a:lumOff val="60000"/>
                  </a:schemeClr>
                </a:solidFill>
                <a:effectLst/>
              </a:rPr>
              <a:t>CONTENTS</a:t>
            </a:r>
          </a:p>
        </p:txBody>
      </p:sp>
    </p:spTree>
    <p:extLst>
      <p:ext uri="{BB962C8B-B14F-4D97-AF65-F5344CB8AC3E}">
        <p14:creationId xmlns:p14="http://schemas.microsoft.com/office/powerpoint/2010/main" val="272856170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>
        <p159:morph option="byObject"/>
      </p:transition>
    </mc:Choice>
    <mc:Fallback xmlns="">
      <p:transition spd="slow" advClick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/>
    </p:bldLst>
  </p:timing>
</p:sld>
</file>

<file path=ppt/theme/theme1.xml><?xml version="1.0" encoding="utf-8"?>
<a:theme xmlns:a="http://schemas.openxmlformats.org/drawingml/2006/main" name="Wisp">
  <a:themeElements>
    <a:clrScheme name="Blue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4F34B87B-9C7A-41AE-A6CB-48536223DFF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0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Gill Sans MT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3781</TotalTime>
  <Words>1596</Words>
  <Application>Microsoft Office PowerPoint</Application>
  <PresentationFormat>Widescreen</PresentationFormat>
  <Paragraphs>110</Paragraphs>
  <Slides>44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44</vt:i4>
      </vt:variant>
    </vt:vector>
  </HeadingPairs>
  <TitlesOfParts>
    <vt:vector size="50" baseType="lpstr">
      <vt:lpstr>Arial</vt:lpstr>
      <vt:lpstr>Calibri</vt:lpstr>
      <vt:lpstr>Century Gothic</vt:lpstr>
      <vt:lpstr>Gill Sans MT</vt:lpstr>
      <vt:lpstr>Wingdings 3</vt:lpstr>
      <vt:lpstr>Wisp</vt:lpstr>
      <vt:lpstr>PowerPoint Presentation</vt:lpstr>
      <vt:lpstr>MUN Orientation Program</vt:lpstr>
      <vt:lpstr>PowerPoint Presentation</vt:lpstr>
      <vt:lpstr>PowerPoint Presentation</vt:lpstr>
      <vt:lpstr>PowerPoint Presentation</vt:lpstr>
      <vt:lpstr>PowerPoint Presentation</vt:lpstr>
      <vt:lpstr>BRIEFING </vt:lpstr>
      <vt:lpstr>A Brief About MUN</vt:lpstr>
      <vt:lpstr>PowerPoint Presentation</vt:lpstr>
      <vt:lpstr>PowerPoint Presentation</vt:lpstr>
      <vt:lpstr>MOTIONS </vt:lpstr>
      <vt:lpstr>Types of Motion raising in MUN</vt:lpstr>
      <vt:lpstr>PowerPoint Presentation</vt:lpstr>
      <vt:lpstr>PowerPoint Presentation</vt:lpstr>
      <vt:lpstr>The Rules Of Procedure (ROP)</vt:lpstr>
      <vt:lpstr>     Two Types of ROP</vt:lpstr>
      <vt:lpstr> </vt:lpstr>
      <vt:lpstr>PowerPoint Presentation</vt:lpstr>
      <vt:lpstr>PowerPoint Presentation</vt:lpstr>
      <vt:lpstr>PowerPoint Presentation</vt:lpstr>
      <vt:lpstr>A.  Roll Call </vt:lpstr>
      <vt:lpstr>PowerPoint Presentation</vt:lpstr>
      <vt:lpstr>PowerPoint Presentation</vt:lpstr>
      <vt:lpstr>B1.   The GSL </vt:lpstr>
      <vt:lpstr>PowerPoint Presentation</vt:lpstr>
      <vt:lpstr>PowerPoint Presentation</vt:lpstr>
      <vt:lpstr>B2.1.   The Moderated Caucus   </vt:lpstr>
      <vt:lpstr>B2.2.   The Un-Moderated Caucus  </vt:lpstr>
      <vt:lpstr>PowerPoint Presentation</vt:lpstr>
      <vt:lpstr>PowerPoint Presentation</vt:lpstr>
      <vt:lpstr>C.  Suspension of the Debate</vt:lpstr>
      <vt:lpstr>PowerPoint Presentation</vt:lpstr>
      <vt:lpstr>PowerPoint Presentation</vt:lpstr>
      <vt:lpstr>POINTS &amp; RIGHTS</vt:lpstr>
      <vt:lpstr>Types of points &amp; rights and their usage</vt:lpstr>
      <vt:lpstr>PowerPoint Presentation</vt:lpstr>
      <vt:lpstr>PowerPoint Presentation</vt:lpstr>
      <vt:lpstr>YIELDS </vt:lpstr>
      <vt:lpstr>Types of yields and their usage </vt:lpstr>
      <vt:lpstr>PowerPoint Presentation</vt:lpstr>
      <vt:lpstr>PowerPoint Presentation</vt:lpstr>
      <vt:lpstr>PAPERWORK </vt:lpstr>
      <vt:lpstr>A.  WORKING PAPER</vt:lpstr>
      <vt:lpstr>B.   Draft Resolution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Kudo’s M.U.N Guide</dc:title>
  <dc:creator>Sambuddha Das</dc:creator>
  <cp:lastModifiedBy>Sambuddha Das</cp:lastModifiedBy>
  <cp:revision>7</cp:revision>
  <dcterms:created xsi:type="dcterms:W3CDTF">2024-03-27T04:08:22Z</dcterms:created>
  <dcterms:modified xsi:type="dcterms:W3CDTF">2025-09-18T08:13:04Z</dcterms:modified>
</cp:coreProperties>
</file>